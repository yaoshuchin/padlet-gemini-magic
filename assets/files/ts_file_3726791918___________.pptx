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1129F1-E6F8-4969-98DE-0EC3EC70E11B}">
  <a:tblStyle styleId="{831129F1-E6F8-4969-98DE-0EC3EC70E11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9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9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42.png"/><Relationship Id="rId8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Relationship Id="rId5" Type="http://schemas.openxmlformats.org/officeDocument/2006/relationships/image" Target="../media/image37.png"/><Relationship Id="rId6" Type="http://schemas.openxmlformats.org/officeDocument/2006/relationships/image" Target="../media/image41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0" y="2985789"/>
            <a:ext cx="4762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795587" y="1094184"/>
            <a:ext cx="660082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當功夫大師遇到鋼鐵人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0" y="2189559"/>
            <a:ext cx="6286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—— 西力衝擊下的東亞世界 ——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52750" y="6129039"/>
            <a:ext cx="62865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作者：紅焰教學 | 對象：國中二年級學生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2375" y="3033414"/>
            <a:ext cx="46672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261294"/>
            <a:ext cx="52197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47789"/>
            <a:ext cx="5219700" cy="229344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暖身思考：漂亮的房子誰拆的？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2308919"/>
            <a:ext cx="51244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286500" y="2374403"/>
            <a:ext cx="54806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曾經的「萬園之園」...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286500" y="2879228"/>
            <a:ext cx="5219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這是北京圓明園的斷垣殘壁。這不僅是建築的毀壞，更是歷史的轉折點：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496050" y="4185939"/>
            <a:ext cx="4800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❓ 到底是誰動的手？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496050" y="4734520"/>
            <a:ext cx="4800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❓ 為什麼強大的大清帝國防守不住？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96050" y="5283100"/>
            <a:ext cx="4800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💡 本課重點：落後就要挨打的教訓。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160537"/>
            <a:ext cx="3479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2160537"/>
            <a:ext cx="3479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6300" y="2160537"/>
            <a:ext cx="3479750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核心概念：一句話看懂本章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85800" y="5465712"/>
            <a:ext cx="10820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「鋼鐵人（西方）來敲門，大刀隊（東亞）怎麼辦？」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27237"/>
            <a:ext cx="2946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78841" y="3360687"/>
            <a:ext cx="30936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衝擊 (IMPACT)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094112"/>
            <a:ext cx="2946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工業革命後，西方列強帶著「船堅炮利」打破東亞長期的 </a:t>
            </a:r>
            <a:r>
              <a:rPr b="1" i="0" lang="en-US" sz="15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閉關自守</a:t>
            </a: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2750" y="2427237"/>
            <a:ext cx="2946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549091" y="3360687"/>
            <a:ext cx="30936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回應 (RESPONSE)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622750" y="4094112"/>
            <a:ext cx="2946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中日被迫開港，中國選擇「修修補補」，日本選擇「脫胎換骨」。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3000" y="2427237"/>
            <a:ext cx="2946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219342" y="3360687"/>
            <a:ext cx="30936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分歧 (DIVERGENCE)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293000" y="4094112"/>
            <a:ext cx="2946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不同的改革路徑，最終決定了兩國截然不同的命運。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160537"/>
            <a:ext cx="3479750" cy="4011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6050" y="2160537"/>
            <a:ext cx="3479750" cy="4011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6300" y="2160537"/>
            <a:ext cx="3479750" cy="401166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🔑 關鍵術語：翻譯蒟蒻 (1)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427237"/>
            <a:ext cx="2946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78841" y="3360687"/>
            <a:ext cx="30936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朝貢體制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52500" y="4094112"/>
            <a:ext cx="2946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「我是老大，你是小弟，想跟我做生意要先磕頭送禮。」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2750" y="2427237"/>
            <a:ext cx="2946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4549091" y="3360687"/>
            <a:ext cx="30936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天朝體制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622750" y="4094112"/>
            <a:ext cx="2946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「世界繞著我轉，我不需要跟你們平等外交。」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93000" y="2427237"/>
            <a:ext cx="29463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8219342" y="3360687"/>
            <a:ext cx="3093667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租界 (CONCESSIONS)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293000" y="4494162"/>
            <a:ext cx="29463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「原本是客房，結果客人把門鎖起來，房東（中國）進不去。」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61294"/>
            <a:ext cx="52197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中國的崩壞三部曲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08919"/>
            <a:ext cx="51244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933450" y="2853957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66800" y="2855862"/>
            <a:ext cx="4838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第一階段：貿易衝突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英國不滿一口通商、跪拜禮節，引爆鴉片戰爭。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33450" y="3684418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66800" y="3686323"/>
            <a:ext cx="48387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第二階段：戰爭與條約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鴉片戰爭 (1840) → 割香港。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英法聯軍 (1857) → 勢力深入內地。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33450" y="4834860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66800" y="4836765"/>
            <a:ext cx="4838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第三階段：喪權辱國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天朝體制崩潰，中國淪為「次殖民地」。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251918"/>
            <a:ext cx="10820400" cy="382875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📢 不平等條約大拍賣！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1009650" y="6042570"/>
            <a:ext cx="101727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今日結帳：主權打到骨折！💸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29640" y="2880568"/>
            <a:ext cx="3360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CA5A5"/>
                </a:solidFill>
                <a:latin typeface="Poppins"/>
                <a:ea typeface="Poppins"/>
                <a:cs typeface="Poppins"/>
                <a:sym typeface="Poppins"/>
              </a:rPr>
              <a:t>領事裁判權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09650" y="3642568"/>
            <a:ext cx="32004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「外國人在你家打人，警察不能抓，要由他爸媽（領事）帶回去罵。」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415790" y="2880568"/>
            <a:ext cx="3360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CA5A5"/>
                </a:solidFill>
                <a:latin typeface="Poppins"/>
                <a:ea typeface="Poppins"/>
                <a:cs typeface="Poppins"/>
                <a:sym typeface="Poppins"/>
              </a:rPr>
              <a:t>協定關稅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495800" y="3642568"/>
            <a:ext cx="32004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「想收過路費保護自家人？不行！外國人說收多少就是多少。」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901940" y="2880568"/>
            <a:ext cx="33604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CA5A5"/>
                </a:solidFill>
                <a:latin typeface="Poppins"/>
                <a:ea typeface="Poppins"/>
                <a:cs typeface="Poppins"/>
                <a:sym typeface="Poppins"/>
              </a:rPr>
              <a:t>片面最惠國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981950" y="3642568"/>
            <a:ext cx="32004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「你有好處都要給我，我有好處不必給你（單向特惠）。」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415290" y="1651545"/>
            <a:ext cx="113614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改革的雙軌並行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85800" y="3426916"/>
            <a:ext cx="10820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被打得鼻青臉腫後，中日兩國怎麼做？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61294"/>
            <a:ext cx="52197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4551610"/>
            <a:ext cx="5219700" cy="15162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🇨🇳 中國：自強運動 (1861-1895)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85800" y="2347763"/>
            <a:ext cx="54806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口號：師夷長技以制夷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85800" y="2852588"/>
            <a:ext cx="5219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學習外國人的長處（技術）來制衡外國人。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308919"/>
            <a:ext cx="51244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933450" y="3399264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066800" y="3401169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AE6FD"/>
                </a:solidFill>
                <a:latin typeface="Lato"/>
                <a:ea typeface="Lato"/>
                <a:cs typeface="Lato"/>
                <a:sym typeface="Lato"/>
              </a:rPr>
              <a:t>軍事：</a:t>
            </a: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買洋槍大砲、建北洋艦隊。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933450" y="3719244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066800" y="3721149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AE6FD"/>
                </a:solidFill>
                <a:latin typeface="Lato"/>
                <a:ea typeface="Lato"/>
                <a:cs typeface="Lato"/>
                <a:sym typeface="Lato"/>
              </a:rPr>
              <a:t>交通：</a:t>
            </a: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鋪鐵路、設電報。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933450" y="4039225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66800" y="4041130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AE6FD"/>
                </a:solidFill>
                <a:latin typeface="Lato"/>
                <a:ea typeface="Lato"/>
                <a:cs typeface="Lato"/>
                <a:sym typeface="Lato"/>
              </a:rPr>
              <a:t>教育：</a:t>
            </a: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派留學生、設翻譯學校。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95350" y="4989760"/>
            <a:ext cx="48006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結局：只改「器物」(手腳)，不改「制度」(大腦)。甲午戰爭證實失敗。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261294"/>
            <a:ext cx="52197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711600"/>
            <a:ext cx="5219700" cy="1196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🇯🇵 日本：明治維新 (1868起)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2308919"/>
            <a:ext cx="51244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6286500" y="2507753"/>
            <a:ext cx="54806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口號：脫亞入歐、富國強兵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286500" y="3012578"/>
            <a:ext cx="5219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拋棄舊傳統，全面擁抱西方文明。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534150" y="3559254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667500" y="3561159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政治：君主立憲（有憲法、有國會）。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534150" y="3879234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667500" y="3881139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教育：</a:t>
            </a:r>
            <a:r>
              <a:rPr b="1" i="0" lang="en-US" sz="18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義務教育</a:t>
            </a: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（人人都要讀書）。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534150" y="4199215"/>
            <a:ext cx="133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667500" y="4201120"/>
            <a:ext cx="48387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社會：穿西服、斷髮令。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496050" y="5149750"/>
            <a:ext cx="48006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結局：全面換血，成為亞洲第一強國。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超級比一比：為什麼日本贏了？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22"/>
          <p:cNvGraphicFramePr/>
          <p:nvPr/>
        </p:nvGraphicFramePr>
        <p:xfrm>
          <a:off x="685800" y="28661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{831129F1-E6F8-4969-98DE-0EC3EC70E11B}</a:tableStyleId>
              </a:tblPr>
              <a:tblGrid>
                <a:gridCol w="1723875"/>
                <a:gridCol w="3666825"/>
                <a:gridCol w="3666825"/>
                <a:gridCol w="1753350"/>
              </a:tblGrid>
              <a:tr h="558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A2E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比較項目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A2E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中國（自強運動）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A2E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日本（明治維新）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A2E1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勝負關鍵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AE6FD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改革範圍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局部：僅限「器物」層面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全面：制度、思想、器物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日本勝 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政治體制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維持專制皇權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君主立憲、推動法治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日本勝 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教育基礎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培養少數菁英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國民義務教育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日本勝 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最終結果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甲午戰爭慘敗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EF08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日俄戰爭獲勝，躋身列強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日本勝 🏆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60537"/>
            <a:ext cx="52197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結論：學習半套 VS 脫胎換骨</a:t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5875287"/>
            <a:ext cx="10820400" cy="71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685800" y="2493019"/>
            <a:ext cx="5219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CA5A5"/>
                </a:solidFill>
                <a:latin typeface="Lato"/>
                <a:ea typeface="Lato"/>
                <a:cs typeface="Lato"/>
                <a:sym typeface="Lato"/>
              </a:rPr>
              <a:t>1894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685800" y="3636019"/>
            <a:ext cx="52197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EF08A"/>
                </a:solidFill>
                <a:latin typeface="Lato"/>
                <a:ea typeface="Lato"/>
                <a:cs typeface="Lato"/>
                <a:sym typeface="Lato"/>
              </a:rPr>
              <a:t>甲午戰爭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685800" y="4293244"/>
            <a:ext cx="52197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一場海戰，戳破了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「修修補補」的自強假象。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208162"/>
            <a:ext cx="512445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5750569"/>
            <a:ext cx="10820400" cy="953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160537"/>
            <a:ext cx="5314950" cy="339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2160537"/>
            <a:ext cx="5314950" cy="33995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🌍 生活應用：課金 VS 練功</a:t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685800" y="6894462"/>
            <a:ext cx="10820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💡 思考：面對挑戰，你是選擇簡單的「外掛」，還是困難的「蛻變」？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5" y="5798194"/>
            <a:ext cx="10725150" cy="8581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2427237"/>
            <a:ext cx="47815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832961" y="3360687"/>
            <a:ext cx="50206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買裝備 (自強運動)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952500" y="4094112"/>
            <a:ext cx="47815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就像手遊「課金」買神裝，雖然瞬間變強，但如果操作技術（制度）沒練好，遇到高手還是會被打爆。</a:t>
            </a:r>
            <a:endParaRPr/>
          </a:p>
        </p:txBody>
      </p:sp>
      <p:pic>
        <p:nvPicPr>
          <p:cNvPr descr="image.png" id="255" name="Google Shape;255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7950" y="2427237"/>
            <a:ext cx="47815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6338411" y="3360687"/>
            <a:ext cx="502062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BF7D0"/>
                </a:solidFill>
                <a:latin typeface="Poppins"/>
                <a:ea typeface="Poppins"/>
                <a:cs typeface="Poppins"/>
                <a:sym typeface="Poppins"/>
              </a:rPr>
              <a:t>練功 (明治維新)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457950" y="4094112"/>
            <a:ext cx="47815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徹底重練等級與技能，過程雖然痛苦且耗時，但能從根本上改變角色體質，成為真強者。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685800" y="2160537"/>
            <a:ext cx="10820400" cy="1595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685800" y="3756124"/>
            <a:ext cx="10820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685800" y="4527649"/>
            <a:ext cx="10820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685800" y="5299174"/>
            <a:ext cx="10820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685800" y="6070699"/>
            <a:ext cx="10820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5"/>
          <p:cNvSpPr/>
          <p:nvPr/>
        </p:nvSpPr>
        <p:spPr>
          <a:xfrm>
            <a:off x="685800" y="3746599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685800" y="3746599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85800" y="4518124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685800" y="4518124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85800" y="5289649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685800" y="5289649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685800" y="6061174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685800" y="6061174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85800" y="6832699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685800" y="6832699"/>
            <a:ext cx="108204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27153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781175" y="2303412"/>
            <a:ext cx="9725025" cy="1039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images-wixmp-ed30a86b8c4ca887773594c2.wixmp.com/f/fb967208-1607-490c-9b6a-63c97a1029b8/d8hkypt-ada3bf71-724c-4b04-8647-7f395ccd41ef.jpg/v1/fill/w_1024,h_1024,q_75,strp/steampunk_soldiers___sincerest_form_of_flattery__by_leadmill_d8hkypt-fullview.jpg?token=eyJ0eXAiOiJKV1QiLCJhbGciOiJIUzI1NiJ9.eyJzdWIiOiJ1cm46YXBwOjdlMGQxODg5ODIyNjQzNzNhNWYwZDQxNWVhMGQyNmUwIiwiaXNzIjoidXJuOmFwcDo3ZTBkMTg4OTgyMjY0MzczYTVmMGQ0MTVlYTBkMjZlMCIsIm9iaiI6W1t7ImhlaWdodCI6Ijw9MTAyNCIsInBhdGgiOiIvZi9mYjk2NzIwOC0xNjA3LTQ5MGMtOWI2YS02M2M5N2ExMDI5YjgvZDhoa3lwdC1hZGEzYmY3MS03MjRjLTRiMDQtODY0Ny03ZjM5NWNjZDQxZWYuanBnIiwid2lkdGgiOiI8PTEwMjQifV1dLCJhdWQiOlsidXJuOnNlcnZpY2U6aW1hZ2Uub3BlcmF0aW9ucyJdfQ.2Jm3CZdaz7mG4bpPXV4lE--MxiHvEFgu-qN55A7ZPwU</a:t>
            </a:r>
            <a:endParaRPr/>
          </a:p>
        </p:txBody>
      </p:sp>
      <p:sp>
        <p:nvSpPr>
          <p:cNvPr id="282" name="Google Shape;282;p25"/>
          <p:cNvSpPr txBox="1"/>
          <p:nvPr/>
        </p:nvSpPr>
        <p:spPr>
          <a:xfrm>
            <a:off x="1781175" y="3390453"/>
            <a:ext cx="9725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www.deviantart.com</a:t>
            </a:r>
            <a:endParaRPr/>
          </a:p>
        </p:txBody>
      </p:sp>
      <p:pic>
        <p:nvPicPr>
          <p:cNvPr descr="image.png" id="283" name="Google Shape;28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89899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5"/>
          <p:cNvSpPr txBox="1"/>
          <p:nvPr/>
        </p:nvSpPr>
        <p:spPr>
          <a:xfrm>
            <a:off x="1781175" y="3919983"/>
            <a:ext cx="97250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https://upload.wikimedia.org/wikipedia/commons/9/9e/20090731_Remains_of_the_Old_Summer_Palace_02.jpg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1781175" y="4140844"/>
            <a:ext cx="9725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467052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1781175" y="4691508"/>
            <a:ext cx="97250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https://collections.rmg.co.uk/media/356/496/0792.jpg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1781175" y="4912369"/>
            <a:ext cx="9725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www.rmg.co.uk</a:t>
            </a:r>
            <a:endParaRPr/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" y="544204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1781175" y="5463033"/>
            <a:ext cx="97250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https://i.ebayimg.com/00/s/MTYwMFgxMzUz/z/gJMAAOSwZBBjdyOf/$_57.JPG?set_id=880000500F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1781175" y="5683894"/>
            <a:ext cx="9725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www.ebay.com</a:t>
            </a:r>
            <a:endParaRPr/>
          </a:p>
        </p:txBody>
      </p:sp>
      <p:pic>
        <p:nvPicPr>
          <p:cNvPr descr="image.png" id="292" name="Google Shape;29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5800" y="621357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5"/>
          <p:cNvSpPr txBox="1"/>
          <p:nvPr/>
        </p:nvSpPr>
        <p:spPr>
          <a:xfrm>
            <a:off x="1781175" y="6234558"/>
            <a:ext cx="97250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https://cyh.rrchnm.org/files/display/72/fullsize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781175" y="6455419"/>
            <a:ext cx="9725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cyh.rrchnm.org</a:t>
            </a:r>
            <a:endParaRPr/>
          </a:p>
        </p:txBody>
      </p:sp>
      <p:pic>
        <p:nvPicPr>
          <p:cNvPr descr="image.png" id="295" name="Google Shape;29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5800" y="698509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1781175" y="7006083"/>
            <a:ext cx="97250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https://upload.wikimedia.org/wikipedia/commons/d/d2/Battle_of_the_Yellow_Sea_by_Korechika.jpg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781175" y="7226944"/>
            <a:ext cx="97250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en.wikipedia.org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685800" y="1065162"/>
            <a:ext cx="1136142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EF0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685800" y="1846212"/>
            <a:ext cx="10820400" cy="285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9281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1781175" y="3949154"/>
            <a:ext cx="97250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https://img.craftpix.net/2022/01/RPG-Buff-Skill-Icons2-720x480.webp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1781175" y="4170015"/>
            <a:ext cx="9725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craftpix.net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