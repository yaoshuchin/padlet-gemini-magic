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可畫妞妞體-繁" charset="1" panose="020B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DBBE"/>
        </a:solidFill>
      </p:bgPr>
    </p:bg>
    <p:spTree>
      <p:nvGrpSpPr>
        <p:cNvPr id="1" name=""/>
        <p:cNvGrpSpPr/>
        <p:nvPr/>
      </p:nvGrpSpPr>
      <p:grpSpPr>
        <a:xfrm>
          <a:off x="0" y="0"/>
          <a:ext cx="0" cy="0"/>
          <a:chOff x="0" y="0"/>
          <a:chExt cx="0" cy="0"/>
        </a:xfrm>
      </p:grpSpPr>
      <p:grpSp>
        <p:nvGrpSpPr>
          <p:cNvPr name="Group 2" id="2"/>
          <p:cNvGrpSpPr/>
          <p:nvPr/>
        </p:nvGrpSpPr>
        <p:grpSpPr>
          <a:xfrm rot="176969">
            <a:off x="3118278" y="1882936"/>
            <a:ext cx="12578661" cy="6400736"/>
            <a:chOff x="0" y="0"/>
            <a:chExt cx="16771548" cy="8534314"/>
          </a:xfrm>
        </p:grpSpPr>
        <p:sp>
          <p:nvSpPr>
            <p:cNvPr name="Freeform 3" id="3"/>
            <p:cNvSpPr/>
            <p:nvPr/>
          </p:nvSpPr>
          <p:spPr>
            <a:xfrm flipH="false" flipV="false" rot="0">
              <a:off x="0" y="0"/>
              <a:ext cx="16771493" cy="8534273"/>
            </a:xfrm>
            <a:custGeom>
              <a:avLst/>
              <a:gdLst/>
              <a:ahLst/>
              <a:cxnLst/>
              <a:rect r="r" b="b" t="t" l="l"/>
              <a:pathLst>
                <a:path h="8534273" w="16771493">
                  <a:moveTo>
                    <a:pt x="0" y="0"/>
                  </a:moveTo>
                  <a:lnTo>
                    <a:pt x="16771493" y="0"/>
                  </a:lnTo>
                  <a:lnTo>
                    <a:pt x="16771493" y="8534273"/>
                  </a:lnTo>
                  <a:lnTo>
                    <a:pt x="0" y="8534273"/>
                  </a:lnTo>
                  <a:close/>
                </a:path>
              </a:pathLst>
            </a:custGeom>
            <a:solidFill>
              <a:srgbClr val="DE6258"/>
            </a:solidFill>
          </p:spPr>
        </p:sp>
      </p:grpSp>
      <p:grpSp>
        <p:nvGrpSpPr>
          <p:cNvPr name="Group 4" id="4"/>
          <p:cNvGrpSpPr/>
          <p:nvPr/>
        </p:nvGrpSpPr>
        <p:grpSpPr>
          <a:xfrm rot="2725">
            <a:off x="3231730" y="1736535"/>
            <a:ext cx="12578661" cy="6400736"/>
            <a:chOff x="0" y="0"/>
            <a:chExt cx="16771548" cy="8534314"/>
          </a:xfrm>
        </p:grpSpPr>
        <p:sp>
          <p:nvSpPr>
            <p:cNvPr name="Freeform 5" id="5"/>
            <p:cNvSpPr/>
            <p:nvPr/>
          </p:nvSpPr>
          <p:spPr>
            <a:xfrm flipH="false" flipV="false" rot="0">
              <a:off x="0" y="0"/>
              <a:ext cx="16771493" cy="8534274"/>
            </a:xfrm>
            <a:custGeom>
              <a:avLst/>
              <a:gdLst/>
              <a:ahLst/>
              <a:cxnLst/>
              <a:rect r="r" b="b" t="t" l="l"/>
              <a:pathLst>
                <a:path h="8534274" w="16771493">
                  <a:moveTo>
                    <a:pt x="0" y="0"/>
                  </a:moveTo>
                  <a:lnTo>
                    <a:pt x="16771493" y="0"/>
                  </a:lnTo>
                  <a:lnTo>
                    <a:pt x="16771493" y="6247003"/>
                  </a:lnTo>
                  <a:lnTo>
                    <a:pt x="14484223" y="8534274"/>
                  </a:lnTo>
                  <a:lnTo>
                    <a:pt x="0" y="8534274"/>
                  </a:lnTo>
                  <a:close/>
                </a:path>
              </a:pathLst>
            </a:custGeom>
            <a:solidFill>
              <a:srgbClr val="F2CA9E"/>
            </a:solidFill>
          </p:spPr>
        </p:sp>
        <p:sp>
          <p:nvSpPr>
            <p:cNvPr name="Freeform 6" id="6"/>
            <p:cNvSpPr/>
            <p:nvPr/>
          </p:nvSpPr>
          <p:spPr>
            <a:xfrm flipH="false" flipV="false" rot="0">
              <a:off x="14484223" y="6247003"/>
              <a:ext cx="2287270" cy="2287270"/>
            </a:xfrm>
            <a:custGeom>
              <a:avLst/>
              <a:gdLst/>
              <a:ahLst/>
              <a:cxnLst/>
              <a:rect r="r" b="b" t="t" l="l"/>
              <a:pathLst>
                <a:path h="2287270" w="2287270">
                  <a:moveTo>
                    <a:pt x="0" y="2287270"/>
                  </a:moveTo>
                  <a:lnTo>
                    <a:pt x="457454" y="457454"/>
                  </a:lnTo>
                  <a:lnTo>
                    <a:pt x="2287270" y="0"/>
                  </a:lnTo>
                  <a:close/>
                </a:path>
              </a:pathLst>
            </a:custGeom>
            <a:solidFill>
              <a:srgbClr val="C1A17E"/>
            </a:solidFill>
          </p:spPr>
        </p:sp>
        <p:sp>
          <p:nvSpPr>
            <p:cNvPr name="Freeform 7" id="7"/>
            <p:cNvSpPr/>
            <p:nvPr/>
          </p:nvSpPr>
          <p:spPr>
            <a:xfrm flipH="false" flipV="false" rot="0">
              <a:off x="0" y="0"/>
              <a:ext cx="16771493" cy="8534273"/>
            </a:xfrm>
            <a:custGeom>
              <a:avLst/>
              <a:gdLst/>
              <a:ahLst/>
              <a:cxnLst/>
              <a:rect r="r" b="b" t="t" l="l"/>
              <a:pathLst>
                <a:path h="8534273" w="16771493">
                  <a:moveTo>
                    <a:pt x="14484223" y="8534273"/>
                  </a:moveTo>
                  <a:lnTo>
                    <a:pt x="14941677" y="6704457"/>
                  </a:lnTo>
                  <a:lnTo>
                    <a:pt x="16771493" y="6247003"/>
                  </a:lnTo>
                  <a:lnTo>
                    <a:pt x="14484223" y="8534273"/>
                  </a:lnTo>
                  <a:lnTo>
                    <a:pt x="0" y="8534273"/>
                  </a:lnTo>
                  <a:lnTo>
                    <a:pt x="0" y="0"/>
                  </a:lnTo>
                  <a:lnTo>
                    <a:pt x="16771493" y="0"/>
                  </a:lnTo>
                  <a:lnTo>
                    <a:pt x="16771493" y="6247003"/>
                  </a:lnTo>
                </a:path>
              </a:pathLst>
            </a:custGeom>
            <a:solidFill>
              <a:srgbClr val="000000">
                <a:alpha val="0"/>
              </a:srgbClr>
            </a:solidFill>
          </p:spPr>
        </p:sp>
      </p:grpSp>
      <p:grpSp>
        <p:nvGrpSpPr>
          <p:cNvPr name="Group 8" id="8"/>
          <p:cNvGrpSpPr/>
          <p:nvPr/>
        </p:nvGrpSpPr>
        <p:grpSpPr>
          <a:xfrm rot="-447427">
            <a:off x="3416526" y="1909875"/>
            <a:ext cx="263322" cy="263322"/>
            <a:chOff x="0" y="0"/>
            <a:chExt cx="351096" cy="351096"/>
          </a:xfrm>
        </p:grpSpPr>
        <p:sp>
          <p:nvSpPr>
            <p:cNvPr name="Freeform 9" id="9"/>
            <p:cNvSpPr/>
            <p:nvPr/>
          </p:nvSpPr>
          <p:spPr>
            <a:xfrm flipH="false" flipV="false" rot="0">
              <a:off x="0" y="0"/>
              <a:ext cx="351155" cy="351155"/>
            </a:xfrm>
            <a:custGeom>
              <a:avLst/>
              <a:gdLst/>
              <a:ahLst/>
              <a:cxnLst/>
              <a:rect r="r" b="b" t="t" l="l"/>
              <a:pathLst>
                <a:path h="351155" w="351155">
                  <a:moveTo>
                    <a:pt x="0" y="175514"/>
                  </a:moveTo>
                  <a:cubicBezTo>
                    <a:pt x="0" y="78613"/>
                    <a:pt x="78613" y="0"/>
                    <a:pt x="175514" y="0"/>
                  </a:cubicBezTo>
                  <a:cubicBezTo>
                    <a:pt x="272415" y="0"/>
                    <a:pt x="351155" y="78613"/>
                    <a:pt x="351155" y="175514"/>
                  </a:cubicBezTo>
                  <a:cubicBezTo>
                    <a:pt x="351155" y="272415"/>
                    <a:pt x="272542" y="351155"/>
                    <a:pt x="175514" y="351155"/>
                  </a:cubicBezTo>
                  <a:cubicBezTo>
                    <a:pt x="78486" y="351155"/>
                    <a:pt x="0" y="272542"/>
                    <a:pt x="0" y="175514"/>
                  </a:cubicBezTo>
                  <a:close/>
                </a:path>
              </a:pathLst>
            </a:custGeom>
            <a:solidFill>
              <a:srgbClr val="D77E1D"/>
            </a:solidFill>
          </p:spPr>
        </p:sp>
      </p:grpSp>
      <p:sp>
        <p:nvSpPr>
          <p:cNvPr name="TextBox 10" id="10"/>
          <p:cNvSpPr txBox="true"/>
          <p:nvPr/>
        </p:nvSpPr>
        <p:spPr>
          <a:xfrm rot="0">
            <a:off x="3585814" y="3116848"/>
            <a:ext cx="11870490" cy="2105025"/>
          </a:xfrm>
          <a:prstGeom prst="rect">
            <a:avLst/>
          </a:prstGeom>
        </p:spPr>
        <p:txBody>
          <a:bodyPr anchor="t" rtlCol="false" tIns="0" lIns="0" bIns="0" rIns="0">
            <a:spAutoFit/>
          </a:bodyPr>
          <a:lstStyle/>
          <a:p>
            <a:pPr algn="ctr" marL="0" indent="0" lvl="0">
              <a:lnSpc>
                <a:spcPts val="8280"/>
              </a:lnSpc>
              <a:spcBef>
                <a:spcPct val="0"/>
              </a:spcBef>
            </a:pPr>
            <a:r>
              <a:rPr lang="en-US" sz="6900" strike="noStrike" u="none">
                <a:solidFill>
                  <a:srgbClr val="000000"/>
                </a:solidFill>
                <a:latin typeface="可畫妞妞體-繁"/>
                <a:ea typeface="可畫妞妞體-繁"/>
                <a:cs typeface="可畫妞妞體-繁"/>
                <a:sym typeface="可畫妞妞體-繁"/>
              </a:rPr>
              <a:t>人工智慧時代的假訊息和媒體素養的重要性</a:t>
            </a:r>
          </a:p>
        </p:txBody>
      </p:sp>
      <p:sp>
        <p:nvSpPr>
          <p:cNvPr name="TextBox 11" id="11"/>
          <p:cNvSpPr txBox="true"/>
          <p:nvPr/>
        </p:nvSpPr>
        <p:spPr>
          <a:xfrm rot="0">
            <a:off x="5499219" y="6321763"/>
            <a:ext cx="7289562" cy="276225"/>
          </a:xfrm>
          <a:prstGeom prst="rect">
            <a:avLst/>
          </a:prstGeom>
        </p:spPr>
        <p:txBody>
          <a:bodyPr anchor="t" rtlCol="false" tIns="0" lIns="0" bIns="0" rIns="0">
            <a:spAutoFit/>
          </a:bodyPr>
          <a:lstStyle/>
          <a:p>
            <a:pPr algn="ctr" marL="0" indent="0" lvl="0">
              <a:lnSpc>
                <a:spcPts val="2160"/>
              </a:lnSpc>
              <a:spcBef>
                <a:spcPct val="0"/>
              </a:spcBef>
            </a:pPr>
            <a:r>
              <a:rPr lang="en-US" sz="1800" strike="noStrike" u="none">
                <a:solidFill>
                  <a:srgbClr val="000000"/>
                </a:solidFill>
                <a:latin typeface="可畫妞妞體-繁"/>
                <a:ea typeface="可畫妞妞體-繁"/>
                <a:cs typeface="可畫妞妞體-繁"/>
                <a:sym typeface="可畫妞妞體-繁"/>
              </a:rPr>
              <a:t>您的演示從這裡開始</a:t>
            </a:r>
          </a:p>
        </p:txBody>
      </p:sp>
      <p:sp>
        <p:nvSpPr>
          <p:cNvPr name="Freeform 12" id="12"/>
          <p:cNvSpPr/>
          <p:nvPr/>
        </p:nvSpPr>
        <p:spPr>
          <a:xfrm flipH="false" flipV="false" rot="0">
            <a:off x="361796" y="4419322"/>
            <a:ext cx="8251135" cy="6215142"/>
          </a:xfrm>
          <a:custGeom>
            <a:avLst/>
            <a:gdLst/>
            <a:ahLst/>
            <a:cxnLst/>
            <a:rect r="r" b="b" t="t" l="l"/>
            <a:pathLst>
              <a:path h="6215142" w="8251135">
                <a:moveTo>
                  <a:pt x="0" y="0"/>
                </a:moveTo>
                <a:lnTo>
                  <a:pt x="8251135" y="0"/>
                </a:lnTo>
                <a:lnTo>
                  <a:pt x="8251135" y="6215142"/>
                </a:lnTo>
                <a:lnTo>
                  <a:pt x="0" y="6215142"/>
                </a:lnTo>
                <a:lnTo>
                  <a:pt x="0" y="0"/>
                </a:lnTo>
                <a:close/>
              </a:path>
            </a:pathLst>
          </a:custGeom>
          <a:blipFill>
            <a:blip r:embed="rId2"/>
            <a:stretch>
              <a:fillRect l="0" t="0" r="0" b="0"/>
            </a:stretch>
          </a:blipFill>
        </p:spPr>
      </p:sp>
      <p:sp>
        <p:nvSpPr>
          <p:cNvPr name="Freeform 13" id="13"/>
          <p:cNvSpPr/>
          <p:nvPr/>
        </p:nvSpPr>
        <p:spPr>
          <a:xfrm flipH="false" flipV="false" rot="0">
            <a:off x="366632" y="9370885"/>
            <a:ext cx="723219" cy="332974"/>
          </a:xfrm>
          <a:custGeom>
            <a:avLst/>
            <a:gdLst/>
            <a:ahLst/>
            <a:cxnLst/>
            <a:rect r="r" b="b" t="t" l="l"/>
            <a:pathLst>
              <a:path h="332974" w="723219">
                <a:moveTo>
                  <a:pt x="0" y="0"/>
                </a:moveTo>
                <a:lnTo>
                  <a:pt x="723218" y="0"/>
                </a:lnTo>
                <a:lnTo>
                  <a:pt x="723218" y="332974"/>
                </a:lnTo>
                <a:lnTo>
                  <a:pt x="0" y="3329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5"/>
            <a:stretch>
              <a:fillRect l="10265" t="3623" r="-2" b="8293"/>
            </a:stretch>
          </a:blipFill>
        </p:spPr>
      </p:sp>
      <p:sp>
        <p:nvSpPr>
          <p:cNvPr name="Freeform 15" id="15"/>
          <p:cNvSpPr/>
          <p:nvPr/>
        </p:nvSpPr>
        <p:spPr>
          <a:xfrm flipH="false" flipV="false" rot="1800000">
            <a:off x="16766488" y="2995848"/>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6"/>
            <a:stretch>
              <a:fillRect l="525" t="15594" r="10373" b="966"/>
            </a:stretch>
          </a:blipFill>
        </p:spPr>
      </p:sp>
      <p:sp>
        <p:nvSpPr>
          <p:cNvPr name="Freeform 16" id="16"/>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7"/>
            <a:stretch>
              <a:fillRect l="3912" t="13374" r="23842" b="0"/>
            </a:stretch>
          </a:blipFill>
        </p:spPr>
      </p:sp>
      <p:sp>
        <p:nvSpPr>
          <p:cNvPr name="Freeform 17" id="17"/>
          <p:cNvSpPr/>
          <p:nvPr/>
        </p:nvSpPr>
        <p:spPr>
          <a:xfrm flipH="false" flipV="false" rot="3600000">
            <a:off x="14086644" y="195992"/>
            <a:ext cx="3022517" cy="2503563"/>
          </a:xfrm>
          <a:custGeom>
            <a:avLst/>
            <a:gdLst/>
            <a:ahLst/>
            <a:cxnLst/>
            <a:rect r="r" b="b" t="t" l="l"/>
            <a:pathLst>
              <a:path h="2503563" w="3022517">
                <a:moveTo>
                  <a:pt x="0" y="0"/>
                </a:moveTo>
                <a:lnTo>
                  <a:pt x="3022517" y="0"/>
                </a:lnTo>
                <a:lnTo>
                  <a:pt x="3022517" y="2503563"/>
                </a:lnTo>
                <a:lnTo>
                  <a:pt x="0" y="2503563"/>
                </a:lnTo>
                <a:lnTo>
                  <a:pt x="0" y="0"/>
                </a:lnTo>
                <a:close/>
              </a:path>
            </a:pathLst>
          </a:custGeom>
          <a:blipFill>
            <a:blip r:embed="rId8"/>
            <a:stretch>
              <a:fillRect l="-1041" t="0" r="-1041" b="0"/>
            </a:stretch>
          </a:blipFill>
        </p:spPr>
      </p:sp>
      <p:sp>
        <p:nvSpPr>
          <p:cNvPr name="Freeform 18" id="18"/>
          <p:cNvSpPr/>
          <p:nvPr/>
        </p:nvSpPr>
        <p:spPr>
          <a:xfrm flipH="false" flipV="false" rot="0">
            <a:off x="13971762" y="6153741"/>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9"/>
            <a:stretch>
              <a:fillRect l="0" t="0" r="0" b="0"/>
            </a:stretch>
          </a:blipFill>
        </p:spPr>
      </p:sp>
      <p:sp>
        <p:nvSpPr>
          <p:cNvPr name="Freeform 19" id="19"/>
          <p:cNvSpPr/>
          <p:nvPr/>
        </p:nvSpPr>
        <p:spPr>
          <a:xfrm flipH="false" flipV="false" rot="0">
            <a:off x="12457181" y="1179021"/>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0"/>
            <a:stretch>
              <a:fillRect l="14395" t="21072" r="15182" b="20634"/>
            </a:stretch>
          </a:blipFill>
        </p:spPr>
      </p:sp>
      <p:sp>
        <p:nvSpPr>
          <p:cNvPr name="Freeform 20" id="20"/>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1"/>
            <a:stretch>
              <a:fillRect l="20526" t="10668" r="10720" b="6217"/>
            </a:stretch>
          </a:blipFill>
        </p:spPr>
      </p:sp>
      <p:grpSp>
        <p:nvGrpSpPr>
          <p:cNvPr name="Group 21" id="21"/>
          <p:cNvGrpSpPr/>
          <p:nvPr/>
        </p:nvGrpSpPr>
        <p:grpSpPr>
          <a:xfrm rot="0">
            <a:off x="7710825" y="6805620"/>
            <a:ext cx="2866351" cy="469638"/>
            <a:chOff x="0" y="0"/>
            <a:chExt cx="3821802" cy="626184"/>
          </a:xfrm>
        </p:grpSpPr>
        <p:sp>
          <p:nvSpPr>
            <p:cNvPr name="Freeform 22" id="22"/>
            <p:cNvSpPr/>
            <p:nvPr/>
          </p:nvSpPr>
          <p:spPr>
            <a:xfrm flipH="false" flipV="false" rot="0">
              <a:off x="0" y="0"/>
              <a:ext cx="3821811" cy="626237"/>
            </a:xfrm>
            <a:custGeom>
              <a:avLst/>
              <a:gdLst/>
              <a:ahLst/>
              <a:cxnLst/>
              <a:rect r="r" b="b" t="t" l="l"/>
              <a:pathLst>
                <a:path h="626237" w="3821811">
                  <a:moveTo>
                    <a:pt x="284734" y="0"/>
                  </a:moveTo>
                  <a:lnTo>
                    <a:pt x="1846580" y="0"/>
                  </a:lnTo>
                  <a:lnTo>
                    <a:pt x="1975231" y="0"/>
                  </a:lnTo>
                  <a:lnTo>
                    <a:pt x="3537077" y="0"/>
                  </a:lnTo>
                  <a:cubicBezTo>
                    <a:pt x="3694303" y="0"/>
                    <a:pt x="3821811" y="117856"/>
                    <a:pt x="3821811" y="263017"/>
                  </a:cubicBezTo>
                  <a:lnTo>
                    <a:pt x="3821811" y="363220"/>
                  </a:lnTo>
                  <a:cubicBezTo>
                    <a:pt x="3821811" y="508381"/>
                    <a:pt x="3694176" y="626237"/>
                    <a:pt x="3537077" y="626237"/>
                  </a:cubicBezTo>
                  <a:lnTo>
                    <a:pt x="1975231" y="626237"/>
                  </a:lnTo>
                  <a:lnTo>
                    <a:pt x="1846580" y="626237"/>
                  </a:lnTo>
                  <a:lnTo>
                    <a:pt x="284734" y="626237"/>
                  </a:lnTo>
                  <a:cubicBezTo>
                    <a:pt x="127635" y="626237"/>
                    <a:pt x="0" y="508381"/>
                    <a:pt x="0" y="363220"/>
                  </a:cubicBezTo>
                  <a:lnTo>
                    <a:pt x="0" y="263017"/>
                  </a:lnTo>
                  <a:cubicBezTo>
                    <a:pt x="0" y="117856"/>
                    <a:pt x="127635" y="0"/>
                    <a:pt x="284734" y="0"/>
                  </a:cubicBezTo>
                  <a:close/>
                </a:path>
              </a:pathLst>
            </a:custGeom>
            <a:solidFill>
              <a:srgbClr val="81211A"/>
            </a:solidFill>
          </p:spPr>
        </p:sp>
      </p:grpSp>
      <p:sp>
        <p:nvSpPr>
          <p:cNvPr name="TextBox 23" id="23"/>
          <p:cNvSpPr txBox="true"/>
          <p:nvPr/>
        </p:nvSpPr>
        <p:spPr>
          <a:xfrm rot="0">
            <a:off x="7951772" y="6849354"/>
            <a:ext cx="2384458" cy="323850"/>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FFFFFF"/>
                </a:solidFill>
                <a:latin typeface="可畫妞妞體-繁"/>
                <a:ea typeface="可畫妞妞體-繁"/>
                <a:cs typeface="可畫妞妞體-繁"/>
                <a:sym typeface="可畫妞妞體-繁"/>
              </a:rPr>
              <a:t>20XX年XX月XX日</a:t>
            </a:r>
          </a:p>
        </p:txBody>
      </p:sp>
      <p:sp>
        <p:nvSpPr>
          <p:cNvPr name="Freeform 24" id="24"/>
          <p:cNvSpPr/>
          <p:nvPr/>
        </p:nvSpPr>
        <p:spPr>
          <a:xfrm flipH="false" flipV="false" rot="0">
            <a:off x="1208008" y="630687"/>
            <a:ext cx="1819600" cy="225956"/>
          </a:xfrm>
          <a:custGeom>
            <a:avLst/>
            <a:gdLst/>
            <a:ahLst/>
            <a:cxnLst/>
            <a:rect r="r" b="b" t="t" l="l"/>
            <a:pathLst>
              <a:path h="225956" w="1819600">
                <a:moveTo>
                  <a:pt x="0" y="0"/>
                </a:moveTo>
                <a:lnTo>
                  <a:pt x="1819601" y="0"/>
                </a:lnTo>
                <a:lnTo>
                  <a:pt x="1819601" y="225955"/>
                </a:lnTo>
                <a:lnTo>
                  <a:pt x="0" y="2259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606219" y="503781"/>
            <a:ext cx="479769" cy="479769"/>
          </a:xfrm>
          <a:custGeom>
            <a:avLst/>
            <a:gdLst/>
            <a:ahLst/>
            <a:cxnLst/>
            <a:rect r="r" b="b" t="t" l="l"/>
            <a:pathLst>
              <a:path h="479769" w="479769">
                <a:moveTo>
                  <a:pt x="0" y="0"/>
                </a:moveTo>
                <a:lnTo>
                  <a:pt x="479769" y="0"/>
                </a:lnTo>
                <a:lnTo>
                  <a:pt x="479769" y="479769"/>
                </a:lnTo>
                <a:lnTo>
                  <a:pt x="0" y="479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TextBox 4" id="4"/>
          <p:cNvSpPr txBox="true"/>
          <p:nvPr/>
        </p:nvSpPr>
        <p:spPr>
          <a:xfrm rot="0">
            <a:off x="5869719" y="4375842"/>
            <a:ext cx="11404050" cy="419100"/>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可畫妞妞體-繁"/>
                <a:ea typeface="可畫妞妞體-繁"/>
                <a:cs typeface="可畫妞妞體-繁"/>
                <a:sym typeface="可畫妞妞體-繁"/>
              </a:rPr>
              <a:t>媒介素養的重要性</a:t>
            </a:r>
          </a:p>
        </p:txBody>
      </p:sp>
      <p:sp>
        <p:nvSpPr>
          <p:cNvPr name="TextBox 5" id="5"/>
          <p:cNvSpPr txBox="true"/>
          <p:nvPr/>
        </p:nvSpPr>
        <p:spPr>
          <a:xfrm rot="0">
            <a:off x="5210560" y="4346140"/>
            <a:ext cx="648000" cy="552450"/>
          </a:xfrm>
          <a:prstGeom prst="rect">
            <a:avLst/>
          </a:prstGeom>
        </p:spPr>
        <p:txBody>
          <a:bodyPr anchor="t" rtlCol="false" tIns="0" lIns="0" bIns="0" rIns="0">
            <a:spAutoFit/>
          </a:bodyPr>
          <a:lstStyle/>
          <a:p>
            <a:pPr algn="l" marL="0" indent="0" lvl="0">
              <a:lnSpc>
                <a:spcPts val="4320"/>
              </a:lnSpc>
              <a:spcBef>
                <a:spcPct val="0"/>
              </a:spcBef>
            </a:pPr>
            <a:r>
              <a:rPr lang="en-US" sz="3600" strike="noStrike" u="none">
                <a:solidFill>
                  <a:srgbClr val="E9A65D"/>
                </a:solidFill>
                <a:latin typeface="可畫妞妞體-繁"/>
                <a:ea typeface="可畫妞妞體-繁"/>
                <a:cs typeface="可畫妞妞體-繁"/>
                <a:sym typeface="可畫妞妞體-繁"/>
              </a:rPr>
              <a:t>2.</a:t>
            </a:r>
          </a:p>
        </p:txBody>
      </p:sp>
      <p:sp>
        <p:nvSpPr>
          <p:cNvPr name="TextBox 6" id="6"/>
          <p:cNvSpPr txBox="true"/>
          <p:nvPr/>
        </p:nvSpPr>
        <p:spPr>
          <a:xfrm rot="0">
            <a:off x="5210560" y="2905737"/>
            <a:ext cx="648000" cy="552450"/>
          </a:xfrm>
          <a:prstGeom prst="rect">
            <a:avLst/>
          </a:prstGeom>
        </p:spPr>
        <p:txBody>
          <a:bodyPr anchor="t" rtlCol="false" tIns="0" lIns="0" bIns="0" rIns="0">
            <a:spAutoFit/>
          </a:bodyPr>
          <a:lstStyle/>
          <a:p>
            <a:pPr algn="l" marL="0" indent="0" lvl="0">
              <a:lnSpc>
                <a:spcPts val="4320"/>
              </a:lnSpc>
              <a:spcBef>
                <a:spcPct val="0"/>
              </a:spcBef>
            </a:pPr>
            <a:r>
              <a:rPr lang="en-US" sz="3600" strike="noStrike" u="none">
                <a:solidFill>
                  <a:srgbClr val="E9A65D"/>
                </a:solidFill>
                <a:latin typeface="可畫妞妞體-繁"/>
                <a:ea typeface="可畫妞妞體-繁"/>
                <a:cs typeface="可畫妞妞體-繁"/>
                <a:sym typeface="可畫妞妞體-繁"/>
              </a:rPr>
              <a:t>1.</a:t>
            </a:r>
          </a:p>
        </p:txBody>
      </p:sp>
      <p:sp>
        <p:nvSpPr>
          <p:cNvPr name="TextBox 7" id="7"/>
          <p:cNvSpPr txBox="true"/>
          <p:nvPr/>
        </p:nvSpPr>
        <p:spPr>
          <a:xfrm rot="0">
            <a:off x="5874300" y="2935439"/>
            <a:ext cx="11404050" cy="419100"/>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可畫妞妞體-繁"/>
                <a:ea typeface="可畫妞妞體-繁"/>
                <a:cs typeface="可畫妞妞體-繁"/>
                <a:sym typeface="可畫妞妞體-繁"/>
              </a:rPr>
              <a:t>人工智慧技術如何促進假訊息的產生和傳播</a:t>
            </a:r>
          </a:p>
        </p:txBody>
      </p:sp>
      <p:grpSp>
        <p:nvGrpSpPr>
          <p:cNvPr name="Group 8" id="8"/>
          <p:cNvGrpSpPr/>
          <p:nvPr/>
        </p:nvGrpSpPr>
        <p:grpSpPr>
          <a:xfrm rot="-5400000">
            <a:off x="1004587" y="660814"/>
            <a:ext cx="3780000" cy="3780000"/>
            <a:chOff x="0" y="0"/>
            <a:chExt cx="5040000" cy="5040000"/>
          </a:xfrm>
        </p:grpSpPr>
        <p:sp>
          <p:nvSpPr>
            <p:cNvPr name="Freeform 9" id="9"/>
            <p:cNvSpPr/>
            <p:nvPr/>
          </p:nvSpPr>
          <p:spPr>
            <a:xfrm flipH="false" flipV="false" rot="0">
              <a:off x="0" y="0"/>
              <a:ext cx="5040122" cy="5040122"/>
            </a:xfrm>
            <a:custGeom>
              <a:avLst/>
              <a:gdLst/>
              <a:ahLst/>
              <a:cxnLst/>
              <a:rect r="r" b="b" t="t" l="l"/>
              <a:pathLst>
                <a:path h="5040122" w="5040122">
                  <a:moveTo>
                    <a:pt x="0" y="2520061"/>
                  </a:moveTo>
                  <a:cubicBezTo>
                    <a:pt x="0" y="1128268"/>
                    <a:pt x="1128268" y="0"/>
                    <a:pt x="2520061" y="0"/>
                  </a:cubicBezTo>
                  <a:cubicBezTo>
                    <a:pt x="3360039" y="0"/>
                    <a:pt x="4200017" y="0"/>
                    <a:pt x="5040122" y="0"/>
                  </a:cubicBezTo>
                  <a:cubicBezTo>
                    <a:pt x="5040122" y="839978"/>
                    <a:pt x="5040122" y="1679956"/>
                    <a:pt x="5040122" y="2520061"/>
                  </a:cubicBezTo>
                  <a:cubicBezTo>
                    <a:pt x="5040122" y="3911854"/>
                    <a:pt x="3911854" y="5040122"/>
                    <a:pt x="2520061" y="5040122"/>
                  </a:cubicBezTo>
                  <a:cubicBezTo>
                    <a:pt x="1128268" y="5040122"/>
                    <a:pt x="0" y="3911727"/>
                    <a:pt x="0" y="2520061"/>
                  </a:cubicBezTo>
                  <a:close/>
                </a:path>
              </a:pathLst>
            </a:custGeom>
            <a:solidFill>
              <a:srgbClr val="E9A65D"/>
            </a:solidFill>
          </p:spPr>
        </p:sp>
      </p:grpSp>
      <p:sp>
        <p:nvSpPr>
          <p:cNvPr name="TextBox 10" id="10"/>
          <p:cNvSpPr txBox="true"/>
          <p:nvPr/>
        </p:nvSpPr>
        <p:spPr>
          <a:xfrm rot="0">
            <a:off x="1288023" y="1965302"/>
            <a:ext cx="3496565" cy="828675"/>
          </a:xfrm>
          <a:prstGeom prst="rect">
            <a:avLst/>
          </a:prstGeom>
        </p:spPr>
        <p:txBody>
          <a:bodyPr anchor="t" rtlCol="false" tIns="0" lIns="0" bIns="0" rIns="0">
            <a:spAutoFit/>
          </a:bodyPr>
          <a:lstStyle/>
          <a:p>
            <a:pPr algn="l" marL="0" indent="0" lvl="0">
              <a:lnSpc>
                <a:spcPts val="6480"/>
              </a:lnSpc>
              <a:spcBef>
                <a:spcPct val="0"/>
              </a:spcBef>
            </a:pPr>
            <a:r>
              <a:rPr lang="en-US" sz="5400" strike="noStrike" u="none">
                <a:solidFill>
                  <a:srgbClr val="FFFFFF"/>
                </a:solidFill>
                <a:latin typeface="可畫妞妞體-繁"/>
                <a:ea typeface="可畫妞妞體-繁"/>
                <a:cs typeface="可畫妞妞體-繁"/>
                <a:sym typeface="可畫妞妞體-繁"/>
              </a:rPr>
              <a:t>內容</a:t>
            </a:r>
          </a:p>
        </p:txBody>
      </p:sp>
      <p:sp>
        <p:nvSpPr>
          <p:cNvPr name="AutoShape 11" id="11"/>
          <p:cNvSpPr/>
          <p:nvPr/>
        </p:nvSpPr>
        <p:spPr>
          <a:xfrm rot="10784069">
            <a:off x="1258263" y="2906864"/>
            <a:ext cx="4110923" cy="0"/>
          </a:xfrm>
          <a:prstGeom prst="line">
            <a:avLst/>
          </a:prstGeom>
          <a:ln cap="rnd" w="9525">
            <a:solidFill>
              <a:srgbClr val="FFFFFF"/>
            </a:solidFill>
            <a:prstDash val="solid"/>
            <a:headEnd type="none" len="sm" w="sm"/>
            <a:tailEnd type="none" len="sm" w="sm"/>
          </a:ln>
        </p:spPr>
      </p:sp>
      <p:sp>
        <p:nvSpPr>
          <p:cNvPr name="TextBox 12" id="12"/>
          <p:cNvSpPr txBox="true"/>
          <p:nvPr/>
        </p:nvSpPr>
        <p:spPr>
          <a:xfrm rot="0">
            <a:off x="5869719" y="5816245"/>
            <a:ext cx="11404050" cy="419100"/>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可畫妞妞體-繁"/>
                <a:ea typeface="可畫妞妞體-繁"/>
                <a:cs typeface="可畫妞妞體-繁"/>
                <a:sym typeface="可畫妞妞體-繁"/>
              </a:rPr>
              <a:t>假訊息對策</a:t>
            </a:r>
          </a:p>
        </p:txBody>
      </p:sp>
      <p:sp>
        <p:nvSpPr>
          <p:cNvPr name="TextBox 13" id="13"/>
          <p:cNvSpPr txBox="true"/>
          <p:nvPr/>
        </p:nvSpPr>
        <p:spPr>
          <a:xfrm rot="0">
            <a:off x="5210560" y="5786544"/>
            <a:ext cx="648000" cy="552450"/>
          </a:xfrm>
          <a:prstGeom prst="rect">
            <a:avLst/>
          </a:prstGeom>
        </p:spPr>
        <p:txBody>
          <a:bodyPr anchor="t" rtlCol="false" tIns="0" lIns="0" bIns="0" rIns="0">
            <a:spAutoFit/>
          </a:bodyPr>
          <a:lstStyle/>
          <a:p>
            <a:pPr algn="l" marL="0" indent="0" lvl="0">
              <a:lnSpc>
                <a:spcPts val="4320"/>
              </a:lnSpc>
              <a:spcBef>
                <a:spcPct val="0"/>
              </a:spcBef>
            </a:pPr>
            <a:r>
              <a:rPr lang="en-US" sz="3600" strike="noStrike" u="none">
                <a:solidFill>
                  <a:srgbClr val="E9A65D"/>
                </a:solidFill>
                <a:latin typeface="可畫妞妞體-繁"/>
                <a:ea typeface="可畫妞妞體-繁"/>
                <a:cs typeface="可畫妞妞體-繁"/>
                <a:sym typeface="可畫妞妞體-繁"/>
              </a:rPr>
              <a:t>3.</a:t>
            </a:r>
          </a:p>
        </p:txBody>
      </p:sp>
      <p:sp>
        <p:nvSpPr>
          <p:cNvPr name="TextBox 14" id="14"/>
          <p:cNvSpPr txBox="true"/>
          <p:nvPr/>
        </p:nvSpPr>
        <p:spPr>
          <a:xfrm rot="0">
            <a:off x="5869719" y="7256650"/>
            <a:ext cx="11404050" cy="419100"/>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可畫妞妞體-繁"/>
                <a:ea typeface="可畫妞妞體-繁"/>
                <a:cs typeface="可畫妞妞體-繁"/>
                <a:sym typeface="可畫妞妞體-繁"/>
              </a:rPr>
              <a:t>結論</a:t>
            </a:r>
          </a:p>
        </p:txBody>
      </p:sp>
      <p:sp>
        <p:nvSpPr>
          <p:cNvPr name="TextBox 15" id="15"/>
          <p:cNvSpPr txBox="true"/>
          <p:nvPr/>
        </p:nvSpPr>
        <p:spPr>
          <a:xfrm rot="0">
            <a:off x="5210560" y="7226949"/>
            <a:ext cx="648000" cy="552450"/>
          </a:xfrm>
          <a:prstGeom prst="rect">
            <a:avLst/>
          </a:prstGeom>
        </p:spPr>
        <p:txBody>
          <a:bodyPr anchor="t" rtlCol="false" tIns="0" lIns="0" bIns="0" rIns="0">
            <a:spAutoFit/>
          </a:bodyPr>
          <a:lstStyle/>
          <a:p>
            <a:pPr algn="l" marL="0" indent="0" lvl="0">
              <a:lnSpc>
                <a:spcPts val="4320"/>
              </a:lnSpc>
              <a:spcBef>
                <a:spcPct val="0"/>
              </a:spcBef>
            </a:pPr>
            <a:r>
              <a:rPr lang="en-US" sz="3600" strike="noStrike" u="none">
                <a:solidFill>
                  <a:srgbClr val="E9A65D"/>
                </a:solidFill>
                <a:latin typeface="可畫妞妞體-繁"/>
                <a:ea typeface="可畫妞妞體-繁"/>
                <a:cs typeface="可畫妞妞體-繁"/>
                <a:sym typeface="可畫妞妞體-繁"/>
              </a:rPr>
              <a:t>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95798"/>
            <a:ext cx="10344081" cy="164782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可畫妞妞體-繁"/>
                <a:ea typeface="可畫妞妞體-繁"/>
                <a:cs typeface="可畫妞妞體-繁"/>
                <a:sym typeface="可畫妞妞體-繁"/>
              </a:rPr>
              <a:t>人工智慧技術如何促進假訊息的產生和傳播</a:t>
            </a:r>
          </a:p>
        </p:txBody>
      </p:sp>
      <p:sp>
        <p:nvSpPr>
          <p:cNvPr name="TextBox 13" id="13"/>
          <p:cNvSpPr txBox="true"/>
          <p:nvPr/>
        </p:nvSpPr>
        <p:spPr>
          <a:xfrm rot="0">
            <a:off x="6738512" y="1786197"/>
            <a:ext cx="4810978" cy="27527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可畫妞妞體-繁"/>
                <a:ea typeface="可畫妞妞體-繁"/>
                <a:cs typeface="可畫妞妞體-繁"/>
                <a:sym typeface="可畫妞妞體-繁"/>
              </a:rPr>
              <a:t>01</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6620932" y="2708152"/>
            <a:ext cx="810000" cy="810000"/>
            <a:chOff x="0" y="0"/>
            <a:chExt cx="1080000" cy="1080000"/>
          </a:xfrm>
        </p:grpSpPr>
        <p:sp>
          <p:nvSpPr>
            <p:cNvPr name="Freeform 5" id="5"/>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solidFill>
              <a:srgbClr val="DE6258"/>
            </a:solidFill>
          </p:spPr>
        </p:sp>
        <p:sp>
          <p:nvSpPr>
            <p:cNvPr name="TextBox 6" id="6"/>
            <p:cNvSpPr txBox="true"/>
            <p:nvPr/>
          </p:nvSpPr>
          <p:spPr>
            <a:xfrm>
              <a:off x="0" y="-19050"/>
              <a:ext cx="1080000" cy="1099050"/>
            </a:xfrm>
            <a:prstGeom prst="rect">
              <a:avLst/>
            </a:prstGeom>
          </p:spPr>
          <p:txBody>
            <a:bodyPr anchor="ctr" rtlCol="false" tIns="50800" lIns="50800" bIns="50800" rIns="50800"/>
            <a:lstStyle/>
            <a:p>
              <a:pPr algn="ctr" marL="0" indent="0" lvl="0">
                <a:lnSpc>
                  <a:spcPts val="3600"/>
                </a:lnSpc>
                <a:spcBef>
                  <a:spcPct val="0"/>
                </a:spcBef>
              </a:pPr>
              <a:r>
                <a:rPr lang="en-US" sz="3000" strike="noStrike" u="none">
                  <a:solidFill>
                    <a:srgbClr val="FFFFFF"/>
                  </a:solidFill>
                  <a:latin typeface="可畫妞妞體-繁"/>
                  <a:ea typeface="可畫妞妞體-繁"/>
                  <a:cs typeface="可畫妞妞體-繁"/>
                  <a:sym typeface="可畫妞妞體-繁"/>
                </a:rPr>
                <a:t>02</a:t>
              </a:r>
            </a:p>
          </p:txBody>
        </p:sp>
      </p:grpSp>
      <p:grpSp>
        <p:nvGrpSpPr>
          <p:cNvPr name="Group 7" id="7"/>
          <p:cNvGrpSpPr/>
          <p:nvPr/>
        </p:nvGrpSpPr>
        <p:grpSpPr>
          <a:xfrm rot="0">
            <a:off x="1672590" y="2708152"/>
            <a:ext cx="810000" cy="810000"/>
            <a:chOff x="0" y="0"/>
            <a:chExt cx="1080000" cy="1080000"/>
          </a:xfrm>
        </p:grpSpPr>
        <p:sp>
          <p:nvSpPr>
            <p:cNvPr name="Freeform 8" id="8"/>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solidFill>
              <a:srgbClr val="E9A65D"/>
            </a:solidFill>
          </p:spPr>
        </p:sp>
        <p:sp>
          <p:nvSpPr>
            <p:cNvPr name="TextBox 9" id="9"/>
            <p:cNvSpPr txBox="true"/>
            <p:nvPr/>
          </p:nvSpPr>
          <p:spPr>
            <a:xfrm>
              <a:off x="0" y="-19050"/>
              <a:ext cx="1080000" cy="1099050"/>
            </a:xfrm>
            <a:prstGeom prst="rect">
              <a:avLst/>
            </a:prstGeom>
          </p:spPr>
          <p:txBody>
            <a:bodyPr anchor="ctr" rtlCol="false" tIns="50800" lIns="50800" bIns="50800" rIns="50800"/>
            <a:lstStyle/>
            <a:p>
              <a:pPr algn="ctr" marL="0" indent="0" lvl="0">
                <a:lnSpc>
                  <a:spcPts val="3600"/>
                </a:lnSpc>
                <a:spcBef>
                  <a:spcPct val="0"/>
                </a:spcBef>
              </a:pPr>
              <a:r>
                <a:rPr lang="en-US" sz="3000" strike="noStrike" u="none">
                  <a:solidFill>
                    <a:srgbClr val="FFFFFF"/>
                  </a:solidFill>
                  <a:latin typeface="可畫妞妞體-繁"/>
                  <a:ea typeface="可畫妞妞體-繁"/>
                  <a:cs typeface="可畫妞妞體-繁"/>
                  <a:sym typeface="可畫妞妞體-繁"/>
                </a:rPr>
                <a:t>01</a:t>
              </a:r>
            </a:p>
          </p:txBody>
        </p:sp>
      </p:grpSp>
      <p:grpSp>
        <p:nvGrpSpPr>
          <p:cNvPr name="Group 10" id="10"/>
          <p:cNvGrpSpPr/>
          <p:nvPr/>
        </p:nvGrpSpPr>
        <p:grpSpPr>
          <a:xfrm rot="0">
            <a:off x="11496676" y="2010539"/>
            <a:ext cx="5194934" cy="7247763"/>
            <a:chOff x="0" y="0"/>
            <a:chExt cx="6926578" cy="9663684"/>
          </a:xfrm>
        </p:grpSpPr>
        <p:sp>
          <p:nvSpPr>
            <p:cNvPr name="Freeform 11" id="11"/>
            <p:cNvSpPr/>
            <p:nvPr/>
          </p:nvSpPr>
          <p:spPr>
            <a:xfrm flipH="false" flipV="false" rot="0">
              <a:off x="0" y="0"/>
              <a:ext cx="6926580" cy="9663684"/>
            </a:xfrm>
            <a:custGeom>
              <a:avLst/>
              <a:gdLst/>
              <a:ahLst/>
              <a:cxnLst/>
              <a:rect r="r" b="b" t="t" l="l"/>
              <a:pathLst>
                <a:path h="9663684" w="6926580">
                  <a:moveTo>
                    <a:pt x="0" y="496824"/>
                  </a:moveTo>
                  <a:cubicBezTo>
                    <a:pt x="0" y="222377"/>
                    <a:pt x="222377" y="0"/>
                    <a:pt x="496824" y="0"/>
                  </a:cubicBezTo>
                  <a:lnTo>
                    <a:pt x="6429756" y="0"/>
                  </a:lnTo>
                  <a:cubicBezTo>
                    <a:pt x="6704076" y="0"/>
                    <a:pt x="6926580" y="222377"/>
                    <a:pt x="6926580" y="496824"/>
                  </a:cubicBezTo>
                  <a:lnTo>
                    <a:pt x="6926580" y="9166860"/>
                  </a:lnTo>
                  <a:cubicBezTo>
                    <a:pt x="6926580" y="9441180"/>
                    <a:pt x="6704203" y="9663684"/>
                    <a:pt x="6429756" y="9663684"/>
                  </a:cubicBezTo>
                  <a:lnTo>
                    <a:pt x="496824" y="9663684"/>
                  </a:lnTo>
                  <a:cubicBezTo>
                    <a:pt x="222377" y="9663684"/>
                    <a:pt x="0" y="9441307"/>
                    <a:pt x="0" y="9166860"/>
                  </a:cubicBezTo>
                  <a:close/>
                </a:path>
              </a:pathLst>
            </a:custGeom>
            <a:blipFill>
              <a:blip r:embed="rId2"/>
              <a:stretch>
                <a:fillRect l="0" t="0" r="-76017" b="29033"/>
              </a:stretch>
            </a:blipFill>
          </p:spPr>
        </p:sp>
      </p:grpSp>
      <p:sp>
        <p:nvSpPr>
          <p:cNvPr name="Freeform 12" id="12"/>
          <p:cNvSpPr/>
          <p:nvPr/>
        </p:nvSpPr>
        <p:spPr>
          <a:xfrm flipH="false" flipV="false" rot="0">
            <a:off x="1744002" y="8388345"/>
            <a:ext cx="638175" cy="105318"/>
          </a:xfrm>
          <a:custGeom>
            <a:avLst/>
            <a:gdLst/>
            <a:ahLst/>
            <a:cxnLst/>
            <a:rect r="r" b="b" t="t" l="l"/>
            <a:pathLst>
              <a:path h="105318" w="638175">
                <a:moveTo>
                  <a:pt x="0" y="0"/>
                </a:moveTo>
                <a:lnTo>
                  <a:pt x="638175" y="0"/>
                </a:lnTo>
                <a:lnTo>
                  <a:pt x="638175" y="105318"/>
                </a:lnTo>
                <a:lnTo>
                  <a:pt x="0" y="105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598071" y="3921676"/>
            <a:ext cx="4302339"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404040"/>
                </a:solidFill>
                <a:latin typeface="可畫妞妞體-繁"/>
                <a:ea typeface="可畫妞妞體-繁"/>
                <a:cs typeface="可畫妞妞體-繁"/>
                <a:sym typeface="可畫妞妞體-繁"/>
              </a:rPr>
              <a:t>對選舉的影響和社會關注</a:t>
            </a:r>
          </a:p>
        </p:txBody>
      </p:sp>
      <p:sp>
        <p:nvSpPr>
          <p:cNvPr name="TextBox 14" id="14"/>
          <p:cNvSpPr txBox="true"/>
          <p:nvPr/>
        </p:nvSpPr>
        <p:spPr>
          <a:xfrm rot="0">
            <a:off x="6598071" y="4570670"/>
            <a:ext cx="4302339" cy="1400175"/>
          </a:xfrm>
          <a:prstGeom prst="rect">
            <a:avLst/>
          </a:prstGeom>
        </p:spPr>
        <p:txBody>
          <a:bodyPr anchor="t" rtlCol="false" tIns="0" lIns="0" bIns="0" rIns="0">
            <a:spAutoFit/>
          </a:bodyPr>
          <a:lstStyle/>
          <a:p>
            <a:pPr algn="l" marL="0" indent="0" lvl="0">
              <a:lnSpc>
                <a:spcPts val="2226"/>
              </a:lnSpc>
              <a:spcBef>
                <a:spcPct val="0"/>
              </a:spcBef>
            </a:pPr>
            <a:r>
              <a:rPr lang="en-US" sz="1855" strike="noStrike" u="none">
                <a:solidFill>
                  <a:srgbClr val="404040"/>
                </a:solidFill>
                <a:latin typeface="可畫妞妞體-繁"/>
                <a:ea typeface="可畫妞妞體-繁"/>
                <a:cs typeface="可畫妞妞體-繁"/>
                <a:sym typeface="可畫妞妞體-繁"/>
              </a:rPr>
              <a:t>使用深度欺騙技術的虛假資訊可能對選舉產生嚴重影響。例如，虛假視訊和音訊可能會造成對候選人的誤解並扭曲投票結果。此外，此類錯誤訊息的傳播會引起社交焦慮和猜疑，從而增加破壞社會穩定的風險。</a:t>
            </a:r>
          </a:p>
        </p:txBody>
      </p:sp>
      <p:sp>
        <p:nvSpPr>
          <p:cNvPr name="TextBox 15" id="15"/>
          <p:cNvSpPr txBox="true"/>
          <p:nvPr/>
        </p:nvSpPr>
        <p:spPr>
          <a:xfrm rot="0">
            <a:off x="1649728" y="3959776"/>
            <a:ext cx="4297682" cy="304800"/>
          </a:xfrm>
          <a:prstGeom prst="rect">
            <a:avLst/>
          </a:prstGeom>
        </p:spPr>
        <p:txBody>
          <a:bodyPr anchor="t" rtlCol="false" tIns="0" lIns="0" bIns="0" rIns="0">
            <a:spAutoFit/>
          </a:bodyPr>
          <a:lstStyle/>
          <a:p>
            <a:pPr algn="l" marL="0" indent="0" lvl="0">
              <a:lnSpc>
                <a:spcPts val="2437"/>
              </a:lnSpc>
              <a:spcBef>
                <a:spcPct val="0"/>
              </a:spcBef>
            </a:pPr>
            <a:r>
              <a:rPr lang="en-US" sz="2030" strike="noStrike" u="none">
                <a:solidFill>
                  <a:srgbClr val="404040"/>
                </a:solidFill>
                <a:latin typeface="可畫妞妞體-繁"/>
                <a:ea typeface="可畫妞妞體-繁"/>
                <a:cs typeface="可畫妞妞體-繁"/>
                <a:sym typeface="可畫妞妞體-繁"/>
              </a:rPr>
              <a:t>利用人工智慧技術產生高精度假視頻</a:t>
            </a:r>
          </a:p>
        </p:txBody>
      </p:sp>
      <p:sp>
        <p:nvSpPr>
          <p:cNvPr name="TextBox 16" id="16"/>
          <p:cNvSpPr txBox="true"/>
          <p:nvPr/>
        </p:nvSpPr>
        <p:spPr>
          <a:xfrm rot="0">
            <a:off x="1649728" y="4570671"/>
            <a:ext cx="4297682" cy="1123950"/>
          </a:xfrm>
          <a:prstGeom prst="rect">
            <a:avLst/>
          </a:prstGeom>
        </p:spPr>
        <p:txBody>
          <a:bodyPr anchor="t" rtlCol="false" tIns="0" lIns="0" bIns="0" rIns="0">
            <a:spAutoFit/>
          </a:bodyPr>
          <a:lstStyle/>
          <a:p>
            <a:pPr algn="l" marL="0" indent="0" lvl="0">
              <a:lnSpc>
                <a:spcPts val="2226"/>
              </a:lnSpc>
              <a:spcBef>
                <a:spcPct val="0"/>
              </a:spcBef>
            </a:pPr>
            <a:r>
              <a:rPr lang="en-US" sz="1855" strike="noStrike" u="none">
                <a:solidFill>
                  <a:srgbClr val="404040"/>
                </a:solidFill>
                <a:latin typeface="可畫妞妞體-繁"/>
                <a:ea typeface="可畫妞妞體-繁"/>
                <a:cs typeface="可畫妞妞體-繁"/>
                <a:sym typeface="可畫妞妞體-繁"/>
              </a:rPr>
              <a:t>Deepfake技術利用AI技術產生高度逼真的影像、音訊和視訊。這使得虛假資訊非常有說服力。具體來說，有可能產生虛假的政治演講和名人聲明，這也可能影響選舉期間的選民決定。</a:t>
            </a:r>
          </a:p>
        </p:txBody>
      </p:sp>
      <p:grpSp>
        <p:nvGrpSpPr>
          <p:cNvPr name="Group 17" id="17"/>
          <p:cNvGrpSpPr/>
          <p:nvPr/>
        </p:nvGrpSpPr>
        <p:grpSpPr>
          <a:xfrm rot="0">
            <a:off x="679317" y="501705"/>
            <a:ext cx="12256770" cy="982980"/>
            <a:chOff x="0" y="0"/>
            <a:chExt cx="16342360" cy="1310640"/>
          </a:xfrm>
        </p:grpSpPr>
        <p:sp>
          <p:nvSpPr>
            <p:cNvPr name="Freeform 18" id="18"/>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9" id="19"/>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深偽技術（Deepfake）</a:t>
            </a:r>
          </a:p>
        </p:txBody>
      </p:sp>
      <p:sp>
        <p:nvSpPr>
          <p:cNvPr name="Freeform 20" id="20"/>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4315312" y="3018993"/>
            <a:ext cx="1296000" cy="810000"/>
            <a:chOff x="0" y="0"/>
            <a:chExt cx="1728000" cy="1080000"/>
          </a:xfrm>
        </p:grpSpPr>
        <p:sp>
          <p:nvSpPr>
            <p:cNvPr name="Freeform 5" id="5"/>
            <p:cNvSpPr/>
            <p:nvPr/>
          </p:nvSpPr>
          <p:spPr>
            <a:xfrm flipH="false" flipV="false" rot="0">
              <a:off x="0" y="0"/>
              <a:ext cx="1727962" cy="1080008"/>
            </a:xfrm>
            <a:custGeom>
              <a:avLst/>
              <a:gdLst/>
              <a:ahLst/>
              <a:cxnLst/>
              <a:rect r="r" b="b" t="t" l="l"/>
              <a:pathLst>
                <a:path h="1080008" w="1727962">
                  <a:moveTo>
                    <a:pt x="0" y="0"/>
                  </a:moveTo>
                  <a:lnTo>
                    <a:pt x="1727962" y="0"/>
                  </a:lnTo>
                  <a:lnTo>
                    <a:pt x="1727962" y="1080008"/>
                  </a:lnTo>
                  <a:lnTo>
                    <a:pt x="0" y="1080008"/>
                  </a:lnTo>
                  <a:close/>
                </a:path>
              </a:pathLst>
            </a:custGeom>
            <a:solidFill>
              <a:srgbClr val="E9A65D"/>
            </a:solidFill>
          </p:spPr>
        </p:sp>
        <p:sp>
          <p:nvSpPr>
            <p:cNvPr name="TextBox 6" id="6"/>
            <p:cNvSpPr txBox="true"/>
            <p:nvPr/>
          </p:nvSpPr>
          <p:spPr>
            <a:xfrm>
              <a:off x="0" y="-9525"/>
              <a:ext cx="1728000" cy="1089525"/>
            </a:xfrm>
            <a:prstGeom prst="rect">
              <a:avLst/>
            </a:prstGeom>
          </p:spPr>
          <p:txBody>
            <a:bodyPr anchor="ctr" rtlCol="false" tIns="50800" lIns="50800" bIns="50800" rIns="50800"/>
            <a:lstStyle/>
            <a:p>
              <a:pPr algn="ctr" marL="0" indent="0" lvl="0">
                <a:lnSpc>
                  <a:spcPts val="4320"/>
                </a:lnSpc>
                <a:spcBef>
                  <a:spcPct val="0"/>
                </a:spcBef>
              </a:pPr>
              <a:r>
                <a:rPr lang="en-US" sz="3600" strike="noStrike" u="none">
                  <a:solidFill>
                    <a:srgbClr val="FFFFFF"/>
                  </a:solidFill>
                  <a:latin typeface="可畫妞妞體-繁"/>
                  <a:ea typeface="可畫妞妞體-繁"/>
                  <a:cs typeface="可畫妞妞體-繁"/>
                  <a:sym typeface="可畫妞妞體-繁"/>
                </a:rPr>
                <a:t>01</a:t>
              </a:r>
            </a:p>
          </p:txBody>
        </p:sp>
      </p:grpSp>
      <p:grpSp>
        <p:nvGrpSpPr>
          <p:cNvPr name="Group 7" id="7"/>
          <p:cNvGrpSpPr/>
          <p:nvPr/>
        </p:nvGrpSpPr>
        <p:grpSpPr>
          <a:xfrm rot="0">
            <a:off x="12657636" y="3018993"/>
            <a:ext cx="1296000" cy="810000"/>
            <a:chOff x="0" y="0"/>
            <a:chExt cx="1728000" cy="1080000"/>
          </a:xfrm>
        </p:grpSpPr>
        <p:sp>
          <p:nvSpPr>
            <p:cNvPr name="Freeform 8" id="8"/>
            <p:cNvSpPr/>
            <p:nvPr/>
          </p:nvSpPr>
          <p:spPr>
            <a:xfrm flipH="false" flipV="false" rot="0">
              <a:off x="0" y="0"/>
              <a:ext cx="1727962" cy="1080008"/>
            </a:xfrm>
            <a:custGeom>
              <a:avLst/>
              <a:gdLst/>
              <a:ahLst/>
              <a:cxnLst/>
              <a:rect r="r" b="b" t="t" l="l"/>
              <a:pathLst>
                <a:path h="1080008" w="1727962">
                  <a:moveTo>
                    <a:pt x="0" y="0"/>
                  </a:moveTo>
                  <a:lnTo>
                    <a:pt x="1727962" y="0"/>
                  </a:lnTo>
                  <a:lnTo>
                    <a:pt x="1727962" y="1080008"/>
                  </a:lnTo>
                  <a:lnTo>
                    <a:pt x="0" y="1080008"/>
                  </a:lnTo>
                  <a:close/>
                </a:path>
              </a:pathLst>
            </a:custGeom>
            <a:solidFill>
              <a:srgbClr val="E9A65D"/>
            </a:solidFill>
          </p:spPr>
        </p:sp>
        <p:sp>
          <p:nvSpPr>
            <p:cNvPr name="TextBox 9" id="9"/>
            <p:cNvSpPr txBox="true"/>
            <p:nvPr/>
          </p:nvSpPr>
          <p:spPr>
            <a:xfrm>
              <a:off x="0" y="-9525"/>
              <a:ext cx="1728000" cy="1089525"/>
            </a:xfrm>
            <a:prstGeom prst="rect">
              <a:avLst/>
            </a:prstGeom>
          </p:spPr>
          <p:txBody>
            <a:bodyPr anchor="ctr" rtlCol="false" tIns="50800" lIns="50800" bIns="50800" rIns="50800"/>
            <a:lstStyle/>
            <a:p>
              <a:pPr algn="ctr" marL="0" indent="0" lvl="0">
                <a:lnSpc>
                  <a:spcPts val="4320"/>
                </a:lnSpc>
                <a:spcBef>
                  <a:spcPct val="0"/>
                </a:spcBef>
              </a:pPr>
              <a:r>
                <a:rPr lang="en-US" sz="3600" strike="noStrike" u="none">
                  <a:solidFill>
                    <a:srgbClr val="FFFFFF"/>
                  </a:solidFill>
                  <a:latin typeface="可畫妞妞體-繁"/>
                  <a:ea typeface="可畫妞妞體-繁"/>
                  <a:cs typeface="可畫妞妞體-繁"/>
                  <a:sym typeface="可畫妞妞體-繁"/>
                </a:rPr>
                <a:t>02</a:t>
              </a:r>
            </a:p>
          </p:txBody>
        </p:sp>
      </p:grpSp>
      <p:sp>
        <p:nvSpPr>
          <p:cNvPr name="TextBox 10" id="10"/>
          <p:cNvSpPr txBox="true"/>
          <p:nvPr/>
        </p:nvSpPr>
        <p:spPr>
          <a:xfrm rot="0">
            <a:off x="1322313" y="4407743"/>
            <a:ext cx="7281999"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使用人工智慧工具大規模產生內容</a:t>
            </a:r>
          </a:p>
        </p:txBody>
      </p:sp>
      <p:sp>
        <p:nvSpPr>
          <p:cNvPr name="TextBox 11" id="11"/>
          <p:cNvSpPr txBox="true"/>
          <p:nvPr/>
        </p:nvSpPr>
        <p:spPr>
          <a:xfrm rot="0">
            <a:off x="1322313" y="5285675"/>
            <a:ext cx="7281999" cy="952500"/>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ChatGPT 等人工智慧工具使虛假資訊的產生和傳播變得極其高效。這些工具可以快速產生大量內容，透過社群媒體平台自動分享內容，並假裝真實用戶與之互動。</a:t>
            </a:r>
          </a:p>
        </p:txBody>
      </p:sp>
      <p:sp>
        <p:nvSpPr>
          <p:cNvPr name="TextBox 12" id="12"/>
          <p:cNvSpPr txBox="true"/>
          <p:nvPr/>
        </p:nvSpPr>
        <p:spPr>
          <a:xfrm rot="0">
            <a:off x="9664638" y="4407743"/>
            <a:ext cx="7281999"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社群媒體自動化的風險</a:t>
            </a:r>
          </a:p>
        </p:txBody>
      </p:sp>
      <p:sp>
        <p:nvSpPr>
          <p:cNvPr name="TextBox 13" id="13"/>
          <p:cNvSpPr txBox="true"/>
          <p:nvPr/>
        </p:nvSpPr>
        <p:spPr>
          <a:xfrm rot="0">
            <a:off x="9664638" y="5285675"/>
            <a:ext cx="7281999" cy="952500"/>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社群媒體上錯誤訊息的自動傳播可能會模糊真相與謊言之間的界線。即使這些資訊來自原本被認為可靠的帳戶，但也有可能是由人工智慧產生的，因此要求用戶有能力辨別該資訊的真假。</a:t>
            </a:r>
          </a:p>
        </p:txBody>
      </p:sp>
      <p:grpSp>
        <p:nvGrpSpPr>
          <p:cNvPr name="Group 14" id="14"/>
          <p:cNvGrpSpPr/>
          <p:nvPr/>
        </p:nvGrpSpPr>
        <p:grpSpPr>
          <a:xfrm rot="0">
            <a:off x="679317" y="501705"/>
            <a:ext cx="12256770" cy="982980"/>
            <a:chOff x="0" y="0"/>
            <a:chExt cx="16342360" cy="1310640"/>
          </a:xfrm>
        </p:grpSpPr>
        <p:sp>
          <p:nvSpPr>
            <p:cNvPr name="Freeform 15" id="15"/>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6" id="16"/>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自動產生和傳播</a:t>
            </a:r>
          </a:p>
        </p:txBody>
      </p:sp>
      <p:sp>
        <p:nvSpPr>
          <p:cNvPr name="Freeform 17" id="17"/>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6130282" y="2821293"/>
            <a:ext cx="6027432" cy="6027432"/>
            <a:chOff x="0" y="0"/>
            <a:chExt cx="8036576" cy="8036576"/>
          </a:xfrm>
        </p:grpSpPr>
        <p:sp>
          <p:nvSpPr>
            <p:cNvPr name="Freeform 5" id="5"/>
            <p:cNvSpPr/>
            <p:nvPr/>
          </p:nvSpPr>
          <p:spPr>
            <a:xfrm flipH="false" flipV="false" rot="0">
              <a:off x="3992118" y="268986"/>
              <a:ext cx="4459732" cy="4874514"/>
            </a:xfrm>
            <a:custGeom>
              <a:avLst/>
              <a:gdLst/>
              <a:ahLst/>
              <a:cxnLst/>
              <a:rect r="r" b="b" t="t" l="l"/>
              <a:pathLst>
                <a:path h="4874514" w="4459732">
                  <a:moveTo>
                    <a:pt x="1484884" y="5080"/>
                  </a:moveTo>
                  <a:cubicBezTo>
                    <a:pt x="3417697" y="758190"/>
                    <a:pt x="4459732" y="2858643"/>
                    <a:pt x="3889883" y="4853178"/>
                  </a:cubicBezTo>
                  <a:cubicBezTo>
                    <a:pt x="3886073" y="4866640"/>
                    <a:pt x="3871976" y="4874514"/>
                    <a:pt x="3858514" y="4870577"/>
                  </a:cubicBezTo>
                  <a:lnTo>
                    <a:pt x="19304" y="3773678"/>
                  </a:lnTo>
                  <a:cubicBezTo>
                    <a:pt x="12446" y="3771773"/>
                    <a:pt x="6731" y="3766947"/>
                    <a:pt x="3556" y="3760597"/>
                  </a:cubicBezTo>
                  <a:cubicBezTo>
                    <a:pt x="381" y="3754247"/>
                    <a:pt x="0" y="3746754"/>
                    <a:pt x="2667" y="3740150"/>
                  </a:cubicBezTo>
                  <a:lnTo>
                    <a:pt x="1451991" y="19558"/>
                  </a:lnTo>
                  <a:cubicBezTo>
                    <a:pt x="1457071" y="6477"/>
                    <a:pt x="1471803" y="0"/>
                    <a:pt x="1484884" y="5080"/>
                  </a:cubicBezTo>
                  <a:moveTo>
                    <a:pt x="1466469" y="52451"/>
                  </a:moveTo>
                  <a:lnTo>
                    <a:pt x="1475740" y="28829"/>
                  </a:lnTo>
                  <a:lnTo>
                    <a:pt x="1499362" y="38100"/>
                  </a:lnTo>
                  <a:lnTo>
                    <a:pt x="49784" y="3758565"/>
                  </a:lnTo>
                  <a:lnTo>
                    <a:pt x="26162" y="3749294"/>
                  </a:lnTo>
                  <a:lnTo>
                    <a:pt x="33147" y="3724910"/>
                  </a:lnTo>
                  <a:lnTo>
                    <a:pt x="3872357" y="4821809"/>
                  </a:lnTo>
                  <a:lnTo>
                    <a:pt x="3865372" y="4846193"/>
                  </a:lnTo>
                  <a:lnTo>
                    <a:pt x="3840988" y="4839208"/>
                  </a:lnTo>
                  <a:cubicBezTo>
                    <a:pt x="4403598" y="2869946"/>
                    <a:pt x="3374771" y="796036"/>
                    <a:pt x="1466469" y="52451"/>
                  </a:cubicBezTo>
                  <a:close/>
                </a:path>
              </a:pathLst>
            </a:custGeom>
            <a:solidFill>
              <a:srgbClr val="F2CA9E"/>
            </a:solidFill>
          </p:spPr>
        </p:sp>
        <p:sp>
          <p:nvSpPr>
            <p:cNvPr name="Freeform 6" id="6"/>
            <p:cNvSpPr/>
            <p:nvPr/>
          </p:nvSpPr>
          <p:spPr>
            <a:xfrm flipH="false" flipV="false" rot="0">
              <a:off x="5434965" y="264795"/>
              <a:ext cx="3016885" cy="4881753"/>
            </a:xfrm>
            <a:custGeom>
              <a:avLst/>
              <a:gdLst/>
              <a:ahLst/>
              <a:cxnLst/>
              <a:rect r="r" b="b" t="t" l="l"/>
              <a:pathLst>
                <a:path h="4881753" w="3016885">
                  <a:moveTo>
                    <a:pt x="42037" y="9271"/>
                  </a:moveTo>
                  <a:cubicBezTo>
                    <a:pt x="1974850" y="762381"/>
                    <a:pt x="3016885" y="2862834"/>
                    <a:pt x="2447036" y="4857369"/>
                  </a:cubicBezTo>
                  <a:lnTo>
                    <a:pt x="2440051" y="4881753"/>
                  </a:lnTo>
                  <a:lnTo>
                    <a:pt x="2391156" y="4867783"/>
                  </a:lnTo>
                  <a:lnTo>
                    <a:pt x="2398141" y="4843399"/>
                  </a:lnTo>
                  <a:cubicBezTo>
                    <a:pt x="2960751" y="2874137"/>
                    <a:pt x="1931924" y="800227"/>
                    <a:pt x="23622" y="56642"/>
                  </a:cubicBezTo>
                  <a:lnTo>
                    <a:pt x="0" y="47371"/>
                  </a:lnTo>
                  <a:lnTo>
                    <a:pt x="18415" y="0"/>
                  </a:lnTo>
                  <a:close/>
                </a:path>
              </a:pathLst>
            </a:custGeom>
            <a:solidFill>
              <a:srgbClr val="F2CA9E"/>
            </a:solidFill>
          </p:spPr>
        </p:sp>
      </p:grpSp>
      <p:grpSp>
        <p:nvGrpSpPr>
          <p:cNvPr name="Group 7" id="7"/>
          <p:cNvGrpSpPr/>
          <p:nvPr/>
        </p:nvGrpSpPr>
        <p:grpSpPr>
          <a:xfrm rot="0">
            <a:off x="6130282" y="2821293"/>
            <a:ext cx="6027432" cy="6027432"/>
            <a:chOff x="0" y="0"/>
            <a:chExt cx="8036576" cy="8036576"/>
          </a:xfrm>
        </p:grpSpPr>
        <p:sp>
          <p:nvSpPr>
            <p:cNvPr name="Freeform 8" id="8"/>
            <p:cNvSpPr/>
            <p:nvPr/>
          </p:nvSpPr>
          <p:spPr>
            <a:xfrm flipH="false" flipV="false" rot="0">
              <a:off x="1181481" y="3992880"/>
              <a:ext cx="5661788" cy="4431792"/>
            </a:xfrm>
            <a:custGeom>
              <a:avLst/>
              <a:gdLst/>
              <a:ahLst/>
              <a:cxnLst/>
              <a:rect r="r" b="b" t="t" l="l"/>
              <a:pathLst>
                <a:path h="4431792" w="5661788">
                  <a:moveTo>
                    <a:pt x="5651754" y="2892933"/>
                  </a:moveTo>
                  <a:cubicBezTo>
                    <a:pt x="4084193" y="4431792"/>
                    <a:pt x="1571244" y="4426585"/>
                    <a:pt x="10033" y="2881249"/>
                  </a:cubicBezTo>
                  <a:cubicBezTo>
                    <a:pt x="0" y="2871343"/>
                    <a:pt x="0" y="2855341"/>
                    <a:pt x="9906" y="2845308"/>
                  </a:cubicBezTo>
                  <a:lnTo>
                    <a:pt x="2818765" y="7493"/>
                  </a:lnTo>
                  <a:cubicBezTo>
                    <a:pt x="2823591" y="2667"/>
                    <a:pt x="2830068" y="0"/>
                    <a:pt x="2836926" y="0"/>
                  </a:cubicBezTo>
                  <a:cubicBezTo>
                    <a:pt x="2843784" y="0"/>
                    <a:pt x="2850261" y="2794"/>
                    <a:pt x="2854960" y="7620"/>
                  </a:cubicBezTo>
                  <a:lnTo>
                    <a:pt x="5652008" y="2856992"/>
                  </a:lnTo>
                  <a:cubicBezTo>
                    <a:pt x="5661787" y="2867025"/>
                    <a:pt x="5661660" y="2883027"/>
                    <a:pt x="5651627" y="2892933"/>
                  </a:cubicBezTo>
                  <a:moveTo>
                    <a:pt x="5616067" y="2856738"/>
                  </a:moveTo>
                  <a:lnTo>
                    <a:pt x="5633847" y="2874898"/>
                  </a:lnTo>
                  <a:lnTo>
                    <a:pt x="5615686" y="2892679"/>
                  </a:lnTo>
                  <a:lnTo>
                    <a:pt x="2818638" y="43180"/>
                  </a:lnTo>
                  <a:lnTo>
                    <a:pt x="2836799" y="25400"/>
                  </a:lnTo>
                  <a:lnTo>
                    <a:pt x="2854833" y="43307"/>
                  </a:lnTo>
                  <a:lnTo>
                    <a:pt x="45974" y="2881122"/>
                  </a:lnTo>
                  <a:lnTo>
                    <a:pt x="27940" y="2863215"/>
                  </a:lnTo>
                  <a:lnTo>
                    <a:pt x="45847" y="2845181"/>
                  </a:lnTo>
                  <a:cubicBezTo>
                    <a:pt x="1587373" y="4370959"/>
                    <a:pt x="4068445" y="4376167"/>
                    <a:pt x="5616194" y="2856738"/>
                  </a:cubicBezTo>
                  <a:close/>
                </a:path>
              </a:pathLst>
            </a:custGeom>
            <a:solidFill>
              <a:srgbClr val="F2CA9E"/>
            </a:solidFill>
          </p:spPr>
        </p:sp>
        <p:sp>
          <p:nvSpPr>
            <p:cNvPr name="Freeform 9" id="9"/>
            <p:cNvSpPr/>
            <p:nvPr/>
          </p:nvSpPr>
          <p:spPr>
            <a:xfrm flipH="false" flipV="false" rot="0">
              <a:off x="1173480" y="6820154"/>
              <a:ext cx="5677789" cy="1604518"/>
            </a:xfrm>
            <a:custGeom>
              <a:avLst/>
              <a:gdLst/>
              <a:ahLst/>
              <a:cxnLst/>
              <a:rect r="r" b="b" t="t" l="l"/>
              <a:pathLst>
                <a:path h="1604518" w="5677789">
                  <a:moveTo>
                    <a:pt x="5659755" y="65659"/>
                  </a:moveTo>
                  <a:cubicBezTo>
                    <a:pt x="4092194" y="1604518"/>
                    <a:pt x="1579245" y="1599311"/>
                    <a:pt x="18034" y="53975"/>
                  </a:cubicBezTo>
                  <a:lnTo>
                    <a:pt x="0" y="36068"/>
                  </a:lnTo>
                  <a:lnTo>
                    <a:pt x="35687" y="0"/>
                  </a:lnTo>
                  <a:lnTo>
                    <a:pt x="53721" y="17907"/>
                  </a:lnTo>
                  <a:cubicBezTo>
                    <a:pt x="1595247" y="1543685"/>
                    <a:pt x="4076319" y="1548892"/>
                    <a:pt x="5624068" y="29464"/>
                  </a:cubicBezTo>
                  <a:lnTo>
                    <a:pt x="5642229" y="11684"/>
                  </a:lnTo>
                  <a:lnTo>
                    <a:pt x="5677789" y="47879"/>
                  </a:lnTo>
                  <a:close/>
                </a:path>
              </a:pathLst>
            </a:custGeom>
            <a:solidFill>
              <a:srgbClr val="F2CA9E"/>
            </a:solidFill>
          </p:spPr>
        </p:sp>
      </p:grpSp>
      <p:grpSp>
        <p:nvGrpSpPr>
          <p:cNvPr name="Group 10" id="10"/>
          <p:cNvGrpSpPr/>
          <p:nvPr/>
        </p:nvGrpSpPr>
        <p:grpSpPr>
          <a:xfrm rot="0">
            <a:off x="6130282" y="2821293"/>
            <a:ext cx="6027432" cy="6027432"/>
            <a:chOff x="0" y="0"/>
            <a:chExt cx="8036576" cy="8036576"/>
          </a:xfrm>
        </p:grpSpPr>
        <p:sp>
          <p:nvSpPr>
            <p:cNvPr name="Freeform 11" id="11"/>
            <p:cNvSpPr/>
            <p:nvPr/>
          </p:nvSpPr>
          <p:spPr>
            <a:xfrm flipH="false" flipV="false" rot="0">
              <a:off x="-402971" y="275717"/>
              <a:ext cx="4447540" cy="4835779"/>
            </a:xfrm>
            <a:custGeom>
              <a:avLst/>
              <a:gdLst/>
              <a:ahLst/>
              <a:cxnLst/>
              <a:rect r="r" b="b" t="t" l="l"/>
              <a:pathLst>
                <a:path h="4835779" w="4447540">
                  <a:moveTo>
                    <a:pt x="549021" y="4816094"/>
                  </a:moveTo>
                  <a:cubicBezTo>
                    <a:pt x="0" y="2835656"/>
                    <a:pt x="1033780" y="760095"/>
                    <a:pt x="2945257" y="5207"/>
                  </a:cubicBezTo>
                  <a:cubicBezTo>
                    <a:pt x="2958338" y="0"/>
                    <a:pt x="2973070" y="6477"/>
                    <a:pt x="2978150" y="19558"/>
                  </a:cubicBezTo>
                  <a:lnTo>
                    <a:pt x="4444873" y="3733292"/>
                  </a:lnTo>
                  <a:cubicBezTo>
                    <a:pt x="4447540" y="3740023"/>
                    <a:pt x="4447159" y="3747516"/>
                    <a:pt x="4443984" y="3753993"/>
                  </a:cubicBezTo>
                  <a:cubicBezTo>
                    <a:pt x="4440809" y="3760470"/>
                    <a:pt x="4434967" y="3765169"/>
                    <a:pt x="4427982" y="3767201"/>
                  </a:cubicBezTo>
                  <a:lnTo>
                    <a:pt x="580263" y="4834001"/>
                  </a:lnTo>
                  <a:cubicBezTo>
                    <a:pt x="573786" y="4835779"/>
                    <a:pt x="566801" y="4834890"/>
                    <a:pt x="560959" y="4831588"/>
                  </a:cubicBezTo>
                  <a:cubicBezTo>
                    <a:pt x="555117" y="4828286"/>
                    <a:pt x="550799" y="4822698"/>
                    <a:pt x="549021" y="4816221"/>
                  </a:cubicBezTo>
                  <a:moveTo>
                    <a:pt x="597916" y="4802632"/>
                  </a:moveTo>
                  <a:lnTo>
                    <a:pt x="573405" y="4809363"/>
                  </a:lnTo>
                  <a:lnTo>
                    <a:pt x="566674" y="4784852"/>
                  </a:lnTo>
                  <a:lnTo>
                    <a:pt x="4414393" y="3718052"/>
                  </a:lnTo>
                  <a:lnTo>
                    <a:pt x="4421124" y="3742563"/>
                  </a:lnTo>
                  <a:lnTo>
                    <a:pt x="4397502" y="3751834"/>
                  </a:lnTo>
                  <a:lnTo>
                    <a:pt x="2931033" y="38100"/>
                  </a:lnTo>
                  <a:lnTo>
                    <a:pt x="2954655" y="28829"/>
                  </a:lnTo>
                  <a:lnTo>
                    <a:pt x="2963926" y="52451"/>
                  </a:lnTo>
                  <a:cubicBezTo>
                    <a:pt x="1076579" y="797814"/>
                    <a:pt x="55880" y="2847086"/>
                    <a:pt x="598043" y="4802505"/>
                  </a:cubicBezTo>
                  <a:close/>
                </a:path>
              </a:pathLst>
            </a:custGeom>
            <a:solidFill>
              <a:srgbClr val="F2CA9E"/>
            </a:solidFill>
          </p:spPr>
        </p:sp>
        <p:sp>
          <p:nvSpPr>
            <p:cNvPr name="Freeform 12" id="12"/>
            <p:cNvSpPr/>
            <p:nvPr/>
          </p:nvSpPr>
          <p:spPr>
            <a:xfrm flipH="false" flipV="false" rot="0">
              <a:off x="-402971" y="271653"/>
              <a:ext cx="2987548" cy="4844669"/>
            </a:xfrm>
            <a:custGeom>
              <a:avLst/>
              <a:gdLst/>
              <a:ahLst/>
              <a:cxnLst/>
              <a:rect r="r" b="b" t="t" l="l"/>
              <a:pathLst>
                <a:path h="4844669" w="2987548">
                  <a:moveTo>
                    <a:pt x="549021" y="4820158"/>
                  </a:moveTo>
                  <a:cubicBezTo>
                    <a:pt x="0" y="2839720"/>
                    <a:pt x="1033780" y="764159"/>
                    <a:pt x="2945257" y="9271"/>
                  </a:cubicBezTo>
                  <a:lnTo>
                    <a:pt x="2968879" y="0"/>
                  </a:lnTo>
                  <a:lnTo>
                    <a:pt x="2987548" y="47244"/>
                  </a:lnTo>
                  <a:lnTo>
                    <a:pt x="2963926" y="56515"/>
                  </a:lnTo>
                  <a:cubicBezTo>
                    <a:pt x="1076579" y="801878"/>
                    <a:pt x="55880" y="2851150"/>
                    <a:pt x="598043" y="4806569"/>
                  </a:cubicBezTo>
                  <a:lnTo>
                    <a:pt x="604774" y="4831080"/>
                  </a:lnTo>
                  <a:lnTo>
                    <a:pt x="555879" y="4844669"/>
                  </a:lnTo>
                  <a:close/>
                </a:path>
              </a:pathLst>
            </a:custGeom>
            <a:solidFill>
              <a:srgbClr val="F2CA9E"/>
            </a:solidFill>
          </p:spPr>
        </p:sp>
      </p:grpSp>
      <p:sp>
        <p:nvSpPr>
          <p:cNvPr name="Freeform 13" id="13"/>
          <p:cNvSpPr/>
          <p:nvPr/>
        </p:nvSpPr>
        <p:spPr>
          <a:xfrm flipH="false" flipV="false" rot="0">
            <a:off x="7115972" y="3578979"/>
            <a:ext cx="4066390" cy="4280217"/>
          </a:xfrm>
          <a:custGeom>
            <a:avLst/>
            <a:gdLst/>
            <a:ahLst/>
            <a:cxnLst/>
            <a:rect r="r" b="b" t="t" l="l"/>
            <a:pathLst>
              <a:path h="4280217" w="4066390">
                <a:moveTo>
                  <a:pt x="0" y="0"/>
                </a:moveTo>
                <a:lnTo>
                  <a:pt x="4066390" y="0"/>
                </a:lnTo>
                <a:lnTo>
                  <a:pt x="4066390" y="4280217"/>
                </a:lnTo>
                <a:lnTo>
                  <a:pt x="0" y="4280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8592357" y="2283534"/>
            <a:ext cx="1113618" cy="1113618"/>
            <a:chOff x="0" y="0"/>
            <a:chExt cx="1484824" cy="1484824"/>
          </a:xfrm>
        </p:grpSpPr>
        <p:sp>
          <p:nvSpPr>
            <p:cNvPr name="Freeform 15" id="15"/>
            <p:cNvSpPr/>
            <p:nvPr/>
          </p:nvSpPr>
          <p:spPr>
            <a:xfrm flipH="false" flipV="false" rot="0">
              <a:off x="0" y="0"/>
              <a:ext cx="1484884" cy="1484884"/>
            </a:xfrm>
            <a:custGeom>
              <a:avLst/>
              <a:gdLst/>
              <a:ahLst/>
              <a:cxnLst/>
              <a:rect r="r" b="b" t="t" l="l"/>
              <a:pathLst>
                <a:path h="1484884" w="1484884">
                  <a:moveTo>
                    <a:pt x="0" y="742442"/>
                  </a:moveTo>
                  <a:cubicBezTo>
                    <a:pt x="0" y="332359"/>
                    <a:pt x="332359" y="0"/>
                    <a:pt x="742442" y="0"/>
                  </a:cubicBezTo>
                  <a:cubicBezTo>
                    <a:pt x="1152525" y="0"/>
                    <a:pt x="1484884" y="332359"/>
                    <a:pt x="1484884" y="742442"/>
                  </a:cubicBezTo>
                  <a:cubicBezTo>
                    <a:pt x="1484884" y="1152525"/>
                    <a:pt x="1152525" y="1484884"/>
                    <a:pt x="742442" y="1484884"/>
                  </a:cubicBezTo>
                  <a:cubicBezTo>
                    <a:pt x="332359" y="1484884"/>
                    <a:pt x="0" y="1152398"/>
                    <a:pt x="0" y="742442"/>
                  </a:cubicBezTo>
                  <a:close/>
                </a:path>
              </a:pathLst>
            </a:custGeom>
            <a:solidFill>
              <a:srgbClr val="E9A65D"/>
            </a:solidFill>
          </p:spPr>
        </p:sp>
      </p:grpSp>
      <p:grpSp>
        <p:nvGrpSpPr>
          <p:cNvPr name="Group 16" id="16"/>
          <p:cNvGrpSpPr/>
          <p:nvPr/>
        </p:nvGrpSpPr>
        <p:grpSpPr>
          <a:xfrm rot="0">
            <a:off x="6022604" y="6770274"/>
            <a:ext cx="1113618" cy="1113618"/>
            <a:chOff x="0" y="0"/>
            <a:chExt cx="1484824" cy="1484824"/>
          </a:xfrm>
        </p:grpSpPr>
        <p:sp>
          <p:nvSpPr>
            <p:cNvPr name="Freeform 17" id="17"/>
            <p:cNvSpPr/>
            <p:nvPr/>
          </p:nvSpPr>
          <p:spPr>
            <a:xfrm flipH="false" flipV="false" rot="0">
              <a:off x="0" y="0"/>
              <a:ext cx="1484884" cy="1484884"/>
            </a:xfrm>
            <a:custGeom>
              <a:avLst/>
              <a:gdLst/>
              <a:ahLst/>
              <a:cxnLst/>
              <a:rect r="r" b="b" t="t" l="l"/>
              <a:pathLst>
                <a:path h="1484884" w="1484884">
                  <a:moveTo>
                    <a:pt x="0" y="742442"/>
                  </a:moveTo>
                  <a:cubicBezTo>
                    <a:pt x="0" y="332359"/>
                    <a:pt x="332359" y="0"/>
                    <a:pt x="742442" y="0"/>
                  </a:cubicBezTo>
                  <a:cubicBezTo>
                    <a:pt x="1152525" y="0"/>
                    <a:pt x="1484884" y="332359"/>
                    <a:pt x="1484884" y="742442"/>
                  </a:cubicBezTo>
                  <a:cubicBezTo>
                    <a:pt x="1484884" y="1152525"/>
                    <a:pt x="1152525" y="1484884"/>
                    <a:pt x="742442" y="1484884"/>
                  </a:cubicBezTo>
                  <a:cubicBezTo>
                    <a:pt x="332359" y="1484884"/>
                    <a:pt x="0" y="1152398"/>
                    <a:pt x="0" y="742442"/>
                  </a:cubicBezTo>
                  <a:close/>
                </a:path>
              </a:pathLst>
            </a:custGeom>
            <a:solidFill>
              <a:srgbClr val="E9A65D"/>
            </a:solidFill>
          </p:spPr>
        </p:sp>
      </p:grpSp>
      <p:grpSp>
        <p:nvGrpSpPr>
          <p:cNvPr name="Group 18" id="18"/>
          <p:cNvGrpSpPr/>
          <p:nvPr/>
        </p:nvGrpSpPr>
        <p:grpSpPr>
          <a:xfrm rot="0">
            <a:off x="11150678" y="6770274"/>
            <a:ext cx="1113618" cy="1113618"/>
            <a:chOff x="0" y="0"/>
            <a:chExt cx="1484824" cy="1484824"/>
          </a:xfrm>
        </p:grpSpPr>
        <p:sp>
          <p:nvSpPr>
            <p:cNvPr name="Freeform 19" id="19"/>
            <p:cNvSpPr/>
            <p:nvPr/>
          </p:nvSpPr>
          <p:spPr>
            <a:xfrm flipH="false" flipV="false" rot="0">
              <a:off x="0" y="0"/>
              <a:ext cx="1484884" cy="1484884"/>
            </a:xfrm>
            <a:custGeom>
              <a:avLst/>
              <a:gdLst/>
              <a:ahLst/>
              <a:cxnLst/>
              <a:rect r="r" b="b" t="t" l="l"/>
              <a:pathLst>
                <a:path h="1484884" w="1484884">
                  <a:moveTo>
                    <a:pt x="0" y="742442"/>
                  </a:moveTo>
                  <a:cubicBezTo>
                    <a:pt x="0" y="332359"/>
                    <a:pt x="332359" y="0"/>
                    <a:pt x="742442" y="0"/>
                  </a:cubicBezTo>
                  <a:cubicBezTo>
                    <a:pt x="1152525" y="0"/>
                    <a:pt x="1484884" y="332359"/>
                    <a:pt x="1484884" y="742442"/>
                  </a:cubicBezTo>
                  <a:cubicBezTo>
                    <a:pt x="1484884" y="1152525"/>
                    <a:pt x="1152525" y="1484884"/>
                    <a:pt x="742442" y="1484884"/>
                  </a:cubicBezTo>
                  <a:cubicBezTo>
                    <a:pt x="332359" y="1484884"/>
                    <a:pt x="0" y="1152398"/>
                    <a:pt x="0" y="742442"/>
                  </a:cubicBezTo>
                  <a:close/>
                </a:path>
              </a:pathLst>
            </a:custGeom>
            <a:solidFill>
              <a:srgbClr val="E9A65D"/>
            </a:solidFill>
          </p:spPr>
        </p:sp>
      </p:grpSp>
      <p:grpSp>
        <p:nvGrpSpPr>
          <p:cNvPr name="Group 20" id="20"/>
          <p:cNvGrpSpPr/>
          <p:nvPr/>
        </p:nvGrpSpPr>
        <p:grpSpPr>
          <a:xfrm rot="0">
            <a:off x="8813088" y="2504265"/>
            <a:ext cx="672156" cy="672156"/>
            <a:chOff x="0" y="0"/>
            <a:chExt cx="896208" cy="896208"/>
          </a:xfrm>
        </p:grpSpPr>
        <p:sp>
          <p:nvSpPr>
            <p:cNvPr name="Freeform 21" id="21"/>
            <p:cNvSpPr/>
            <p:nvPr/>
          </p:nvSpPr>
          <p:spPr>
            <a:xfrm flipH="false" flipV="false" rot="0">
              <a:off x="0" y="0"/>
              <a:ext cx="896239" cy="896112"/>
            </a:xfrm>
            <a:custGeom>
              <a:avLst/>
              <a:gdLst/>
              <a:ahLst/>
              <a:cxnLst/>
              <a:rect r="r" b="b" t="t" l="l"/>
              <a:pathLst>
                <a:path h="896112" w="896239">
                  <a:moveTo>
                    <a:pt x="568960" y="71120"/>
                  </a:moveTo>
                  <a:lnTo>
                    <a:pt x="568960" y="327406"/>
                  </a:lnTo>
                  <a:lnTo>
                    <a:pt x="825119" y="327406"/>
                  </a:lnTo>
                  <a:cubicBezTo>
                    <a:pt x="820801" y="305943"/>
                    <a:pt x="814324" y="285115"/>
                    <a:pt x="805815" y="264795"/>
                  </a:cubicBezTo>
                  <a:cubicBezTo>
                    <a:pt x="789305" y="225806"/>
                    <a:pt x="765810" y="190881"/>
                    <a:pt x="735584" y="160655"/>
                  </a:cubicBezTo>
                  <a:cubicBezTo>
                    <a:pt x="705358" y="130429"/>
                    <a:pt x="670433" y="106934"/>
                    <a:pt x="631444" y="90424"/>
                  </a:cubicBezTo>
                  <a:cubicBezTo>
                    <a:pt x="611124" y="81788"/>
                    <a:pt x="590169" y="75438"/>
                    <a:pt x="568833" y="71120"/>
                  </a:cubicBezTo>
                  <a:close/>
                  <a:moveTo>
                    <a:pt x="504190" y="0"/>
                  </a:moveTo>
                  <a:cubicBezTo>
                    <a:pt x="720598" y="0"/>
                    <a:pt x="896239" y="175514"/>
                    <a:pt x="896239" y="392049"/>
                  </a:cubicBezTo>
                  <a:lnTo>
                    <a:pt x="504190" y="392049"/>
                  </a:lnTo>
                  <a:close/>
                  <a:moveTo>
                    <a:pt x="448056" y="0"/>
                  </a:moveTo>
                  <a:lnTo>
                    <a:pt x="448056" y="448056"/>
                  </a:lnTo>
                  <a:lnTo>
                    <a:pt x="896239" y="448056"/>
                  </a:lnTo>
                  <a:cubicBezTo>
                    <a:pt x="896239" y="695579"/>
                    <a:pt x="695579" y="896112"/>
                    <a:pt x="448183" y="896112"/>
                  </a:cubicBezTo>
                  <a:cubicBezTo>
                    <a:pt x="200787" y="896112"/>
                    <a:pt x="0" y="695579"/>
                    <a:pt x="0" y="448056"/>
                  </a:cubicBezTo>
                  <a:cubicBezTo>
                    <a:pt x="0" y="200533"/>
                    <a:pt x="200660" y="0"/>
                    <a:pt x="448056" y="0"/>
                  </a:cubicBezTo>
                  <a:close/>
                </a:path>
              </a:pathLst>
            </a:custGeom>
            <a:solidFill>
              <a:srgbClr val="FFFFFF"/>
            </a:solidFill>
          </p:spPr>
        </p:sp>
      </p:grpSp>
      <p:sp>
        <p:nvSpPr>
          <p:cNvPr name="Freeform 22" id="22"/>
          <p:cNvSpPr/>
          <p:nvPr/>
        </p:nvSpPr>
        <p:spPr>
          <a:xfrm flipH="false" flipV="false" rot="0">
            <a:off x="11345121" y="6983196"/>
            <a:ext cx="724731" cy="687776"/>
          </a:xfrm>
          <a:custGeom>
            <a:avLst/>
            <a:gdLst/>
            <a:ahLst/>
            <a:cxnLst/>
            <a:rect r="r" b="b" t="t" l="l"/>
            <a:pathLst>
              <a:path h="687776" w="724731">
                <a:moveTo>
                  <a:pt x="0" y="0"/>
                </a:moveTo>
                <a:lnTo>
                  <a:pt x="724731" y="0"/>
                </a:lnTo>
                <a:lnTo>
                  <a:pt x="724731" y="687776"/>
                </a:lnTo>
                <a:lnTo>
                  <a:pt x="0" y="6877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6243335" y="7022390"/>
            <a:ext cx="672156" cy="609387"/>
          </a:xfrm>
          <a:custGeom>
            <a:avLst/>
            <a:gdLst/>
            <a:ahLst/>
            <a:cxnLst/>
            <a:rect r="r" b="b" t="t" l="l"/>
            <a:pathLst>
              <a:path h="609387" w="672156">
                <a:moveTo>
                  <a:pt x="0" y="0"/>
                </a:moveTo>
                <a:lnTo>
                  <a:pt x="672155" y="0"/>
                </a:lnTo>
                <a:lnTo>
                  <a:pt x="672155" y="609386"/>
                </a:lnTo>
                <a:lnTo>
                  <a:pt x="0" y="6093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000125" y="4245639"/>
            <a:ext cx="4321648" cy="1581150"/>
          </a:xfrm>
          <a:prstGeom prst="rect">
            <a:avLst/>
          </a:prstGeom>
        </p:spPr>
        <p:txBody>
          <a:bodyPr anchor="t" rtlCol="false" tIns="0" lIns="0" bIns="0" rIns="0">
            <a:spAutoFit/>
          </a:bodyPr>
          <a:lstStyle/>
          <a:p>
            <a:pPr algn="just"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假訊息經常被用作感知行動的一部分，可能影響選舉結果或煽動公眾情緒。例如，在烏克蘭與俄羅斯的衝突中，假訊息加劇了烏克蘭政府的不滿，引發了國際社會的強烈抗議。</a:t>
            </a:r>
          </a:p>
        </p:txBody>
      </p:sp>
      <p:grpSp>
        <p:nvGrpSpPr>
          <p:cNvPr name="Group 25" id="25"/>
          <p:cNvGrpSpPr/>
          <p:nvPr/>
        </p:nvGrpSpPr>
        <p:grpSpPr>
          <a:xfrm rot="0">
            <a:off x="1000125" y="2952750"/>
            <a:ext cx="4321648" cy="1114266"/>
            <a:chOff x="0" y="0"/>
            <a:chExt cx="5762198" cy="1485688"/>
          </a:xfrm>
        </p:grpSpPr>
        <p:sp>
          <p:nvSpPr>
            <p:cNvPr name="Freeform 26" id="26"/>
            <p:cNvSpPr/>
            <p:nvPr/>
          </p:nvSpPr>
          <p:spPr>
            <a:xfrm flipH="false" flipV="false" rot="0">
              <a:off x="0" y="0"/>
              <a:ext cx="5762244" cy="1485646"/>
            </a:xfrm>
            <a:custGeom>
              <a:avLst/>
              <a:gdLst/>
              <a:ahLst/>
              <a:cxnLst/>
              <a:rect r="r" b="b" t="t" l="l"/>
              <a:pathLst>
                <a:path h="1485646" w="5762244">
                  <a:moveTo>
                    <a:pt x="0" y="0"/>
                  </a:moveTo>
                  <a:lnTo>
                    <a:pt x="5762244" y="0"/>
                  </a:lnTo>
                  <a:lnTo>
                    <a:pt x="5762244" y="1485646"/>
                  </a:lnTo>
                  <a:lnTo>
                    <a:pt x="0" y="1485646"/>
                  </a:lnTo>
                  <a:close/>
                </a:path>
              </a:pathLst>
            </a:custGeom>
            <a:solidFill>
              <a:srgbClr val="E9A65D"/>
            </a:solidFill>
          </p:spPr>
        </p:sp>
      </p:grpSp>
      <p:sp>
        <p:nvSpPr>
          <p:cNvPr name="TextBox 27" id="27"/>
          <p:cNvSpPr txBox="true"/>
          <p:nvPr/>
        </p:nvSpPr>
        <p:spPr>
          <a:xfrm rot="0">
            <a:off x="1233135" y="3309858"/>
            <a:ext cx="382905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FFFFFF"/>
                </a:solidFill>
                <a:latin typeface="可畫妞妞體-繁"/>
                <a:ea typeface="可畫妞妞體-繁"/>
                <a:cs typeface="可畫妞妞體-繁"/>
                <a:sym typeface="可畫妞妞體-繁"/>
              </a:rPr>
              <a:t>對政治和社會穩定的威脅</a:t>
            </a:r>
          </a:p>
        </p:txBody>
      </p:sp>
      <p:sp>
        <p:nvSpPr>
          <p:cNvPr name="TextBox 28" id="28"/>
          <p:cNvSpPr txBox="true"/>
          <p:nvPr/>
        </p:nvSpPr>
        <p:spPr>
          <a:xfrm rot="0">
            <a:off x="12956702" y="4245639"/>
            <a:ext cx="4321648" cy="1266825"/>
          </a:xfrm>
          <a:prstGeom prst="rect">
            <a:avLst/>
          </a:prstGeom>
        </p:spPr>
        <p:txBody>
          <a:bodyPr anchor="t" rtlCol="false" tIns="0" lIns="0" bIns="0" rIns="0">
            <a:spAutoFit/>
          </a:bodyPr>
          <a:lstStyle/>
          <a:p>
            <a:pPr algn="just"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假資訊還會對公共衛生造成嚴重後果。疫情期間，「疫苗會產生嚴重副作用」等錯誤訊息傳播，導致疫苗接種率下降。此類錯誤資訊對公共健康構成嚴重風險。</a:t>
            </a:r>
          </a:p>
        </p:txBody>
      </p:sp>
      <p:grpSp>
        <p:nvGrpSpPr>
          <p:cNvPr name="Group 29" id="29"/>
          <p:cNvGrpSpPr/>
          <p:nvPr/>
        </p:nvGrpSpPr>
        <p:grpSpPr>
          <a:xfrm rot="0">
            <a:off x="12956702" y="2952750"/>
            <a:ext cx="4321648" cy="1114266"/>
            <a:chOff x="0" y="0"/>
            <a:chExt cx="5762198" cy="1485688"/>
          </a:xfrm>
        </p:grpSpPr>
        <p:sp>
          <p:nvSpPr>
            <p:cNvPr name="Freeform 30" id="30"/>
            <p:cNvSpPr/>
            <p:nvPr/>
          </p:nvSpPr>
          <p:spPr>
            <a:xfrm flipH="false" flipV="false" rot="0">
              <a:off x="0" y="0"/>
              <a:ext cx="5762244" cy="1485646"/>
            </a:xfrm>
            <a:custGeom>
              <a:avLst/>
              <a:gdLst/>
              <a:ahLst/>
              <a:cxnLst/>
              <a:rect r="r" b="b" t="t" l="l"/>
              <a:pathLst>
                <a:path h="1485646" w="5762244">
                  <a:moveTo>
                    <a:pt x="0" y="0"/>
                  </a:moveTo>
                  <a:lnTo>
                    <a:pt x="5762244" y="0"/>
                  </a:lnTo>
                  <a:lnTo>
                    <a:pt x="5762244" y="1485646"/>
                  </a:lnTo>
                  <a:lnTo>
                    <a:pt x="0" y="1485646"/>
                  </a:lnTo>
                  <a:close/>
                </a:path>
              </a:pathLst>
            </a:custGeom>
            <a:solidFill>
              <a:srgbClr val="E9A65D"/>
            </a:solidFill>
          </p:spPr>
        </p:sp>
      </p:grpSp>
      <p:sp>
        <p:nvSpPr>
          <p:cNvPr name="TextBox 31" id="31"/>
          <p:cNvSpPr txBox="true"/>
          <p:nvPr/>
        </p:nvSpPr>
        <p:spPr>
          <a:xfrm rot="0">
            <a:off x="13162808" y="3309858"/>
            <a:ext cx="390525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FFFFFF"/>
                </a:solidFill>
                <a:latin typeface="可畫妞妞體-繁"/>
                <a:ea typeface="可畫妞妞體-繁"/>
                <a:cs typeface="可畫妞妞體-繁"/>
                <a:sym typeface="可畫妞妞體-繁"/>
              </a:rPr>
              <a:t>對公共衛生危機的影響</a:t>
            </a:r>
          </a:p>
        </p:txBody>
      </p:sp>
      <p:grpSp>
        <p:nvGrpSpPr>
          <p:cNvPr name="Group 32" id="32"/>
          <p:cNvGrpSpPr/>
          <p:nvPr/>
        </p:nvGrpSpPr>
        <p:grpSpPr>
          <a:xfrm rot="0">
            <a:off x="7811307" y="4514850"/>
            <a:ext cx="2656668" cy="2616102"/>
            <a:chOff x="0" y="0"/>
            <a:chExt cx="3542224" cy="3488136"/>
          </a:xfrm>
        </p:grpSpPr>
        <p:sp>
          <p:nvSpPr>
            <p:cNvPr name="Freeform 33" id="33"/>
            <p:cNvSpPr/>
            <p:nvPr/>
          </p:nvSpPr>
          <p:spPr>
            <a:xfrm flipH="false" flipV="false" rot="0">
              <a:off x="0" y="0"/>
              <a:ext cx="3542284" cy="3488182"/>
            </a:xfrm>
            <a:custGeom>
              <a:avLst/>
              <a:gdLst/>
              <a:ahLst/>
              <a:cxnLst/>
              <a:rect r="r" b="b" t="t" l="l"/>
              <a:pathLst>
                <a:path h="3488182" w="3542284">
                  <a:moveTo>
                    <a:pt x="0" y="1744091"/>
                  </a:moveTo>
                  <a:cubicBezTo>
                    <a:pt x="0" y="780796"/>
                    <a:pt x="792988" y="0"/>
                    <a:pt x="1771142" y="0"/>
                  </a:cubicBezTo>
                  <a:cubicBezTo>
                    <a:pt x="2749296" y="0"/>
                    <a:pt x="3542284" y="780796"/>
                    <a:pt x="3542284" y="1744091"/>
                  </a:cubicBezTo>
                  <a:cubicBezTo>
                    <a:pt x="3542284" y="2707386"/>
                    <a:pt x="2749296" y="3488182"/>
                    <a:pt x="1771142" y="3488182"/>
                  </a:cubicBezTo>
                  <a:cubicBezTo>
                    <a:pt x="792988" y="3488182"/>
                    <a:pt x="0" y="2707259"/>
                    <a:pt x="0" y="1744091"/>
                  </a:cubicBezTo>
                  <a:close/>
                </a:path>
              </a:pathLst>
            </a:custGeom>
            <a:solidFill>
              <a:srgbClr val="E9A65D"/>
            </a:solidFill>
          </p:spPr>
        </p:sp>
      </p:grpSp>
      <p:sp>
        <p:nvSpPr>
          <p:cNvPr name="Freeform 34" id="34"/>
          <p:cNvSpPr/>
          <p:nvPr/>
        </p:nvSpPr>
        <p:spPr>
          <a:xfrm flipH="false" flipV="false" rot="0">
            <a:off x="8518886" y="5210454"/>
            <a:ext cx="1241511" cy="1224894"/>
          </a:xfrm>
          <a:custGeom>
            <a:avLst/>
            <a:gdLst/>
            <a:ahLst/>
            <a:cxnLst/>
            <a:rect r="r" b="b" t="t" l="l"/>
            <a:pathLst>
              <a:path h="1224894" w="1241511">
                <a:moveTo>
                  <a:pt x="0" y="0"/>
                </a:moveTo>
                <a:lnTo>
                  <a:pt x="1241510" y="0"/>
                </a:lnTo>
                <a:lnTo>
                  <a:pt x="1241510" y="1224894"/>
                </a:lnTo>
                <a:lnTo>
                  <a:pt x="0" y="12248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5" id="35"/>
          <p:cNvGrpSpPr/>
          <p:nvPr/>
        </p:nvGrpSpPr>
        <p:grpSpPr>
          <a:xfrm rot="0">
            <a:off x="679317" y="501705"/>
            <a:ext cx="12256770" cy="982980"/>
            <a:chOff x="0" y="0"/>
            <a:chExt cx="16342360" cy="1310640"/>
          </a:xfrm>
        </p:grpSpPr>
        <p:sp>
          <p:nvSpPr>
            <p:cNvPr name="Freeform 36" id="36"/>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37" id="37"/>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社会的影響</a:t>
            </a:r>
          </a:p>
        </p:txBody>
      </p:sp>
      <p:sp>
        <p:nvSpPr>
          <p:cNvPr name="Freeform 38" id="38"/>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9884751" y="-19050"/>
            <a:ext cx="8403249" cy="10287000"/>
            <a:chOff x="0" y="0"/>
            <a:chExt cx="11204332" cy="13716000"/>
          </a:xfrm>
        </p:grpSpPr>
        <p:sp>
          <p:nvSpPr>
            <p:cNvPr name="Freeform 5" id="5"/>
            <p:cNvSpPr/>
            <p:nvPr/>
          </p:nvSpPr>
          <p:spPr>
            <a:xfrm flipH="true" flipV="false" rot="0">
              <a:off x="381" y="0"/>
              <a:ext cx="11205464" cy="13715873"/>
            </a:xfrm>
            <a:custGeom>
              <a:avLst/>
              <a:gdLst/>
              <a:ahLst/>
              <a:cxnLst/>
              <a:rect r="r" b="b" t="t" l="l"/>
              <a:pathLst>
                <a:path h="13715873" w="11205464">
                  <a:moveTo>
                    <a:pt x="10496296" y="9540621"/>
                  </a:moveTo>
                  <a:lnTo>
                    <a:pt x="10501503" y="9541383"/>
                  </a:lnTo>
                  <a:lnTo>
                    <a:pt x="10507472" y="9541383"/>
                  </a:lnTo>
                  <a:lnTo>
                    <a:pt x="10516489" y="9541383"/>
                  </a:lnTo>
                  <a:lnTo>
                    <a:pt x="10526268" y="9540621"/>
                  </a:lnTo>
                  <a:lnTo>
                    <a:pt x="10539857" y="9542145"/>
                  </a:lnTo>
                  <a:lnTo>
                    <a:pt x="10554970" y="9542145"/>
                  </a:lnTo>
                  <a:lnTo>
                    <a:pt x="10569956" y="9543669"/>
                  </a:lnTo>
                  <a:lnTo>
                    <a:pt x="10586466" y="9545193"/>
                  </a:lnTo>
                  <a:lnTo>
                    <a:pt x="10602214" y="9547478"/>
                  </a:lnTo>
                  <a:lnTo>
                    <a:pt x="10618724" y="9550527"/>
                  </a:lnTo>
                  <a:lnTo>
                    <a:pt x="10635234" y="9552051"/>
                  </a:lnTo>
                  <a:lnTo>
                    <a:pt x="10651744" y="9556623"/>
                  </a:lnTo>
                  <a:lnTo>
                    <a:pt x="10669016" y="9560433"/>
                  </a:lnTo>
                  <a:lnTo>
                    <a:pt x="10685526" y="9563481"/>
                  </a:lnTo>
                  <a:lnTo>
                    <a:pt x="10705084" y="9569450"/>
                  </a:lnTo>
                  <a:lnTo>
                    <a:pt x="10723118" y="9575419"/>
                  </a:lnTo>
                  <a:lnTo>
                    <a:pt x="10741152" y="9581388"/>
                  </a:lnTo>
                  <a:lnTo>
                    <a:pt x="10762234" y="9588881"/>
                  </a:lnTo>
                  <a:lnTo>
                    <a:pt x="10771251" y="9593452"/>
                  </a:lnTo>
                  <a:lnTo>
                    <a:pt x="10781792" y="9598025"/>
                  </a:lnTo>
                  <a:lnTo>
                    <a:pt x="10792333" y="9602597"/>
                  </a:lnTo>
                  <a:lnTo>
                    <a:pt x="10802874" y="9607169"/>
                  </a:lnTo>
                  <a:lnTo>
                    <a:pt x="10814939" y="9611740"/>
                  </a:lnTo>
                  <a:lnTo>
                    <a:pt x="10825480" y="9617710"/>
                  </a:lnTo>
                  <a:lnTo>
                    <a:pt x="10837545" y="9625202"/>
                  </a:lnTo>
                  <a:lnTo>
                    <a:pt x="10848848" y="9630410"/>
                  </a:lnTo>
                  <a:lnTo>
                    <a:pt x="10861675" y="9638664"/>
                  </a:lnTo>
                  <a:lnTo>
                    <a:pt x="10874502" y="9645396"/>
                  </a:lnTo>
                  <a:lnTo>
                    <a:pt x="10887329" y="9653651"/>
                  </a:lnTo>
                  <a:lnTo>
                    <a:pt x="10900156" y="9661906"/>
                  </a:lnTo>
                  <a:lnTo>
                    <a:pt x="10916666" y="9673971"/>
                  </a:lnTo>
                  <a:lnTo>
                    <a:pt x="10931652" y="9686036"/>
                  </a:lnTo>
                  <a:lnTo>
                    <a:pt x="10948162" y="9698101"/>
                  </a:lnTo>
                  <a:lnTo>
                    <a:pt x="10963148" y="9711689"/>
                  </a:lnTo>
                  <a:lnTo>
                    <a:pt x="10994771" y="9738740"/>
                  </a:lnTo>
                  <a:lnTo>
                    <a:pt x="11023346" y="9770364"/>
                  </a:lnTo>
                  <a:lnTo>
                    <a:pt x="11051921" y="9801987"/>
                  </a:lnTo>
                  <a:lnTo>
                    <a:pt x="11077448" y="9836658"/>
                  </a:lnTo>
                  <a:lnTo>
                    <a:pt x="11100054" y="9871328"/>
                  </a:lnTo>
                  <a:lnTo>
                    <a:pt x="11121136" y="9908921"/>
                  </a:lnTo>
                  <a:lnTo>
                    <a:pt x="11132439" y="9927717"/>
                  </a:lnTo>
                  <a:lnTo>
                    <a:pt x="11140694" y="9948037"/>
                  </a:lnTo>
                  <a:lnTo>
                    <a:pt x="11149711" y="9967595"/>
                  </a:lnTo>
                  <a:lnTo>
                    <a:pt x="11157204" y="9987152"/>
                  </a:lnTo>
                  <a:lnTo>
                    <a:pt x="11164697" y="10005187"/>
                  </a:lnTo>
                  <a:lnTo>
                    <a:pt x="11170666" y="10024745"/>
                  </a:lnTo>
                  <a:lnTo>
                    <a:pt x="11175873" y="10043540"/>
                  </a:lnTo>
                  <a:lnTo>
                    <a:pt x="11182604" y="10062337"/>
                  </a:lnTo>
                  <a:lnTo>
                    <a:pt x="11185652" y="10077323"/>
                  </a:lnTo>
                  <a:lnTo>
                    <a:pt x="11188700" y="10090912"/>
                  </a:lnTo>
                  <a:lnTo>
                    <a:pt x="11192510" y="10106660"/>
                  </a:lnTo>
                  <a:lnTo>
                    <a:pt x="11194034" y="10121646"/>
                  </a:lnTo>
                  <a:lnTo>
                    <a:pt x="11197082" y="10133711"/>
                  </a:lnTo>
                  <a:lnTo>
                    <a:pt x="11199368" y="10146538"/>
                  </a:lnTo>
                  <a:lnTo>
                    <a:pt x="11200130" y="10159364"/>
                  </a:lnTo>
                  <a:lnTo>
                    <a:pt x="11202416" y="10172192"/>
                  </a:lnTo>
                  <a:lnTo>
                    <a:pt x="11203178" y="10194036"/>
                  </a:lnTo>
                  <a:lnTo>
                    <a:pt x="11204702" y="10216642"/>
                  </a:lnTo>
                  <a:lnTo>
                    <a:pt x="11205464" y="10227945"/>
                  </a:lnTo>
                  <a:lnTo>
                    <a:pt x="11204702" y="10239248"/>
                  </a:lnTo>
                  <a:lnTo>
                    <a:pt x="11204702" y="10248264"/>
                  </a:lnTo>
                  <a:lnTo>
                    <a:pt x="11205464" y="10258044"/>
                  </a:lnTo>
                  <a:lnTo>
                    <a:pt x="11203940" y="10277602"/>
                  </a:lnTo>
                  <a:lnTo>
                    <a:pt x="11201654" y="10296398"/>
                  </a:lnTo>
                  <a:lnTo>
                    <a:pt x="11201654" y="10314432"/>
                  </a:lnTo>
                  <a:lnTo>
                    <a:pt x="11198606" y="10332465"/>
                  </a:lnTo>
                  <a:lnTo>
                    <a:pt x="11196320" y="10349738"/>
                  </a:lnTo>
                  <a:lnTo>
                    <a:pt x="11193272" y="10364724"/>
                  </a:lnTo>
                  <a:lnTo>
                    <a:pt x="11190224" y="10381234"/>
                  </a:lnTo>
                  <a:lnTo>
                    <a:pt x="11187176" y="10397744"/>
                  </a:lnTo>
                  <a:lnTo>
                    <a:pt x="11182604" y="10412857"/>
                  </a:lnTo>
                  <a:lnTo>
                    <a:pt x="11178032" y="10426446"/>
                  </a:lnTo>
                  <a:lnTo>
                    <a:pt x="11174222" y="10442194"/>
                  </a:lnTo>
                  <a:lnTo>
                    <a:pt x="11170412" y="10455021"/>
                  </a:lnTo>
                  <a:lnTo>
                    <a:pt x="11165840" y="10468610"/>
                  </a:lnTo>
                  <a:lnTo>
                    <a:pt x="11161268" y="10483723"/>
                  </a:lnTo>
                  <a:lnTo>
                    <a:pt x="11156061" y="10496550"/>
                  </a:lnTo>
                  <a:lnTo>
                    <a:pt x="11150092" y="10510139"/>
                  </a:lnTo>
                  <a:lnTo>
                    <a:pt x="11145520" y="10522203"/>
                  </a:lnTo>
                  <a:lnTo>
                    <a:pt x="11138027" y="10534269"/>
                  </a:lnTo>
                  <a:lnTo>
                    <a:pt x="11132820" y="10547096"/>
                  </a:lnTo>
                  <a:lnTo>
                    <a:pt x="11127613" y="10558399"/>
                  </a:lnTo>
                  <a:lnTo>
                    <a:pt x="11120882" y="10571226"/>
                  </a:lnTo>
                  <a:lnTo>
                    <a:pt x="11115675" y="10582528"/>
                  </a:lnTo>
                  <a:lnTo>
                    <a:pt x="11107420" y="10593832"/>
                  </a:lnTo>
                  <a:lnTo>
                    <a:pt x="11102213" y="10605135"/>
                  </a:lnTo>
                  <a:lnTo>
                    <a:pt x="11095482" y="10614914"/>
                  </a:lnTo>
                  <a:lnTo>
                    <a:pt x="11087989" y="10626978"/>
                  </a:lnTo>
                  <a:lnTo>
                    <a:pt x="11080496" y="10635996"/>
                  </a:lnTo>
                  <a:lnTo>
                    <a:pt x="11074527" y="10646537"/>
                  </a:lnTo>
                  <a:lnTo>
                    <a:pt x="11065510" y="10657077"/>
                  </a:lnTo>
                  <a:lnTo>
                    <a:pt x="11058779" y="10666857"/>
                  </a:lnTo>
                  <a:lnTo>
                    <a:pt x="11052048" y="10676636"/>
                  </a:lnTo>
                  <a:lnTo>
                    <a:pt x="11044555" y="10685652"/>
                  </a:lnTo>
                  <a:lnTo>
                    <a:pt x="11035538" y="10694670"/>
                  </a:lnTo>
                  <a:lnTo>
                    <a:pt x="11027283" y="10704449"/>
                  </a:lnTo>
                  <a:lnTo>
                    <a:pt x="11019028" y="10712703"/>
                  </a:lnTo>
                  <a:lnTo>
                    <a:pt x="11010773" y="10722483"/>
                  </a:lnTo>
                  <a:lnTo>
                    <a:pt x="11002518" y="10730738"/>
                  </a:lnTo>
                  <a:lnTo>
                    <a:pt x="10994263" y="10738993"/>
                  </a:lnTo>
                  <a:lnTo>
                    <a:pt x="10986008" y="10747248"/>
                  </a:lnTo>
                  <a:lnTo>
                    <a:pt x="10976229" y="10755502"/>
                  </a:lnTo>
                  <a:lnTo>
                    <a:pt x="10967974" y="10763758"/>
                  </a:lnTo>
                  <a:lnTo>
                    <a:pt x="10958957" y="10771251"/>
                  </a:lnTo>
                  <a:lnTo>
                    <a:pt x="10950702" y="10777982"/>
                  </a:lnTo>
                  <a:lnTo>
                    <a:pt x="10940923" y="10784713"/>
                  </a:lnTo>
                  <a:lnTo>
                    <a:pt x="10931144" y="10792968"/>
                  </a:lnTo>
                  <a:lnTo>
                    <a:pt x="10922127" y="10800461"/>
                  </a:lnTo>
                  <a:lnTo>
                    <a:pt x="10913110" y="10807953"/>
                  </a:lnTo>
                  <a:lnTo>
                    <a:pt x="10902569" y="10813923"/>
                  </a:lnTo>
                  <a:lnTo>
                    <a:pt x="10893552" y="10819892"/>
                  </a:lnTo>
                  <a:lnTo>
                    <a:pt x="10883011" y="10827385"/>
                  </a:lnTo>
                  <a:lnTo>
                    <a:pt x="10873232" y="10834115"/>
                  </a:lnTo>
                  <a:lnTo>
                    <a:pt x="10863453" y="10839323"/>
                  </a:lnTo>
                  <a:lnTo>
                    <a:pt x="10852912" y="10845292"/>
                  </a:lnTo>
                  <a:lnTo>
                    <a:pt x="10842371" y="10851261"/>
                  </a:lnTo>
                  <a:lnTo>
                    <a:pt x="10831830" y="10855833"/>
                  </a:lnTo>
                  <a:lnTo>
                    <a:pt x="10822051" y="10862564"/>
                  </a:lnTo>
                  <a:lnTo>
                    <a:pt x="10811510" y="10867136"/>
                  </a:lnTo>
                  <a:lnTo>
                    <a:pt x="10799445" y="10873105"/>
                  </a:lnTo>
                  <a:lnTo>
                    <a:pt x="10788142" y="10876914"/>
                  </a:lnTo>
                  <a:lnTo>
                    <a:pt x="10777601" y="10882884"/>
                  </a:lnTo>
                  <a:lnTo>
                    <a:pt x="10767060" y="10887456"/>
                  </a:lnTo>
                  <a:lnTo>
                    <a:pt x="10755757" y="10891265"/>
                  </a:lnTo>
                  <a:lnTo>
                    <a:pt x="10743692" y="10895838"/>
                  </a:lnTo>
                  <a:lnTo>
                    <a:pt x="10732389" y="10899648"/>
                  </a:lnTo>
                  <a:lnTo>
                    <a:pt x="10721086" y="10903458"/>
                  </a:lnTo>
                  <a:lnTo>
                    <a:pt x="10708259" y="10907268"/>
                  </a:lnTo>
                  <a:lnTo>
                    <a:pt x="10696956" y="10911077"/>
                  </a:lnTo>
                  <a:lnTo>
                    <a:pt x="10684129" y="10913364"/>
                  </a:lnTo>
                  <a:lnTo>
                    <a:pt x="10672064" y="10916412"/>
                  </a:lnTo>
                  <a:lnTo>
                    <a:pt x="10659999" y="10919460"/>
                  </a:lnTo>
                  <a:lnTo>
                    <a:pt x="10646410" y="10924032"/>
                  </a:lnTo>
                  <a:lnTo>
                    <a:pt x="10634345" y="10927080"/>
                  </a:lnTo>
                  <a:lnTo>
                    <a:pt x="10620756" y="10928603"/>
                  </a:lnTo>
                  <a:lnTo>
                    <a:pt x="10607929" y="10930889"/>
                  </a:lnTo>
                  <a:lnTo>
                    <a:pt x="10594340" y="10932414"/>
                  </a:lnTo>
                  <a:lnTo>
                    <a:pt x="10581513" y="10934700"/>
                  </a:lnTo>
                  <a:lnTo>
                    <a:pt x="10567162" y="10935462"/>
                  </a:lnTo>
                  <a:lnTo>
                    <a:pt x="10554335" y="10934700"/>
                  </a:lnTo>
                  <a:lnTo>
                    <a:pt x="10539984" y="10935462"/>
                  </a:lnTo>
                  <a:lnTo>
                    <a:pt x="10526395" y="10936986"/>
                  </a:lnTo>
                  <a:lnTo>
                    <a:pt x="10515854" y="10936986"/>
                  </a:lnTo>
                  <a:lnTo>
                    <a:pt x="10506837" y="10936986"/>
                  </a:lnTo>
                  <a:lnTo>
                    <a:pt x="10502265" y="10938510"/>
                  </a:lnTo>
                  <a:lnTo>
                    <a:pt x="10497693" y="10936986"/>
                  </a:lnTo>
                  <a:lnTo>
                    <a:pt x="10482707" y="10936986"/>
                  </a:lnTo>
                  <a:lnTo>
                    <a:pt x="10467721" y="10936986"/>
                  </a:lnTo>
                  <a:lnTo>
                    <a:pt x="10452608" y="10935462"/>
                  </a:lnTo>
                  <a:lnTo>
                    <a:pt x="10436098" y="10933938"/>
                  </a:lnTo>
                  <a:lnTo>
                    <a:pt x="10421112" y="10932414"/>
                  </a:lnTo>
                  <a:lnTo>
                    <a:pt x="10406126" y="10929365"/>
                  </a:lnTo>
                  <a:lnTo>
                    <a:pt x="10388854" y="10927080"/>
                  </a:lnTo>
                  <a:lnTo>
                    <a:pt x="10373106" y="10924794"/>
                  </a:lnTo>
                  <a:lnTo>
                    <a:pt x="10355834" y="10920984"/>
                  </a:lnTo>
                  <a:lnTo>
                    <a:pt x="10338562" y="10917174"/>
                  </a:lnTo>
                  <a:lnTo>
                    <a:pt x="10320528" y="10911205"/>
                  </a:lnTo>
                  <a:lnTo>
                    <a:pt x="10302494" y="10906633"/>
                  </a:lnTo>
                  <a:lnTo>
                    <a:pt x="10283698" y="10901426"/>
                  </a:lnTo>
                  <a:lnTo>
                    <a:pt x="10264902" y="10893171"/>
                  </a:lnTo>
                  <a:lnTo>
                    <a:pt x="10254361" y="10890123"/>
                  </a:lnTo>
                  <a:lnTo>
                    <a:pt x="10243820" y="10885551"/>
                  </a:lnTo>
                  <a:lnTo>
                    <a:pt x="10233279" y="10880978"/>
                  </a:lnTo>
                  <a:lnTo>
                    <a:pt x="10224262" y="10877931"/>
                  </a:lnTo>
                  <a:lnTo>
                    <a:pt x="10212959" y="10871200"/>
                  </a:lnTo>
                  <a:lnTo>
                    <a:pt x="10201656" y="10865993"/>
                  </a:lnTo>
                  <a:lnTo>
                    <a:pt x="10191115" y="10861421"/>
                  </a:lnTo>
                  <a:lnTo>
                    <a:pt x="10179812" y="10856214"/>
                  </a:lnTo>
                  <a:lnTo>
                    <a:pt x="10166985" y="10847959"/>
                  </a:lnTo>
                  <a:lnTo>
                    <a:pt x="10154920" y="10841989"/>
                  </a:lnTo>
                  <a:lnTo>
                    <a:pt x="10142093" y="10835259"/>
                  </a:lnTo>
                  <a:lnTo>
                    <a:pt x="10130028" y="10826242"/>
                  </a:lnTo>
                  <a:lnTo>
                    <a:pt x="10115042" y="10817225"/>
                  </a:lnTo>
                  <a:lnTo>
                    <a:pt x="10101453" y="10806684"/>
                  </a:lnTo>
                  <a:lnTo>
                    <a:pt x="10085705" y="10795381"/>
                  </a:lnTo>
                  <a:lnTo>
                    <a:pt x="10072116" y="10784839"/>
                  </a:lnTo>
                  <a:lnTo>
                    <a:pt x="10047986" y="10765282"/>
                  </a:lnTo>
                  <a:lnTo>
                    <a:pt x="10026142" y="10744962"/>
                  </a:lnTo>
                  <a:lnTo>
                    <a:pt x="10004298" y="10723118"/>
                  </a:lnTo>
                  <a:lnTo>
                    <a:pt x="9983216" y="10700512"/>
                  </a:lnTo>
                  <a:lnTo>
                    <a:pt x="9959086" y="10671937"/>
                  </a:lnTo>
                  <a:lnTo>
                    <a:pt x="9936480" y="10640314"/>
                  </a:lnTo>
                  <a:lnTo>
                    <a:pt x="9914636" y="10609452"/>
                  </a:lnTo>
                  <a:lnTo>
                    <a:pt x="9895840" y="10577068"/>
                  </a:lnTo>
                  <a:lnTo>
                    <a:pt x="9881489" y="10550778"/>
                  </a:lnTo>
                  <a:lnTo>
                    <a:pt x="9868662" y="10522965"/>
                  </a:lnTo>
                  <a:lnTo>
                    <a:pt x="9855835" y="10495152"/>
                  </a:lnTo>
                  <a:lnTo>
                    <a:pt x="9846818" y="10466577"/>
                  </a:lnTo>
                  <a:lnTo>
                    <a:pt x="9840849" y="10450068"/>
                  </a:lnTo>
                  <a:lnTo>
                    <a:pt x="9835642" y="10432796"/>
                  </a:lnTo>
                  <a:lnTo>
                    <a:pt x="9831070" y="10414762"/>
                  </a:lnTo>
                  <a:lnTo>
                    <a:pt x="9825863" y="10397489"/>
                  </a:lnTo>
                  <a:lnTo>
                    <a:pt x="9823577" y="10383139"/>
                  </a:lnTo>
                  <a:lnTo>
                    <a:pt x="9819767" y="10368788"/>
                  </a:lnTo>
                  <a:lnTo>
                    <a:pt x="9818243" y="10355199"/>
                  </a:lnTo>
                  <a:lnTo>
                    <a:pt x="9815195" y="10341610"/>
                  </a:lnTo>
                  <a:lnTo>
                    <a:pt x="9812147" y="10316083"/>
                  </a:lnTo>
                  <a:lnTo>
                    <a:pt x="9809861" y="10292714"/>
                  </a:lnTo>
                  <a:lnTo>
                    <a:pt x="9809099" y="10270871"/>
                  </a:lnTo>
                  <a:lnTo>
                    <a:pt x="9809099" y="10248264"/>
                  </a:lnTo>
                  <a:lnTo>
                    <a:pt x="9807575" y="10243693"/>
                  </a:lnTo>
                  <a:lnTo>
                    <a:pt x="9809099" y="10239121"/>
                  </a:lnTo>
                  <a:lnTo>
                    <a:pt x="9809099" y="10224135"/>
                  </a:lnTo>
                  <a:lnTo>
                    <a:pt x="9809099" y="10209149"/>
                  </a:lnTo>
                  <a:lnTo>
                    <a:pt x="9810623" y="10189590"/>
                  </a:lnTo>
                  <a:lnTo>
                    <a:pt x="9810623" y="10171557"/>
                  </a:lnTo>
                  <a:lnTo>
                    <a:pt x="9813671" y="10153523"/>
                  </a:lnTo>
                  <a:lnTo>
                    <a:pt x="9815957" y="10136251"/>
                  </a:lnTo>
                  <a:lnTo>
                    <a:pt x="9819005" y="10119740"/>
                  </a:lnTo>
                  <a:lnTo>
                    <a:pt x="9822053" y="10103231"/>
                  </a:lnTo>
                  <a:lnTo>
                    <a:pt x="9825101" y="10088245"/>
                  </a:lnTo>
                  <a:lnTo>
                    <a:pt x="9828911" y="10072497"/>
                  </a:lnTo>
                  <a:lnTo>
                    <a:pt x="9832721" y="10058146"/>
                  </a:lnTo>
                  <a:lnTo>
                    <a:pt x="9836531" y="10042398"/>
                  </a:lnTo>
                  <a:lnTo>
                    <a:pt x="9841103" y="10028809"/>
                  </a:lnTo>
                  <a:lnTo>
                    <a:pt x="9846310" y="10014458"/>
                  </a:lnTo>
                  <a:lnTo>
                    <a:pt x="9850882" y="10000869"/>
                  </a:lnTo>
                  <a:lnTo>
                    <a:pt x="9856851" y="9987280"/>
                  </a:lnTo>
                  <a:lnTo>
                    <a:pt x="9861423" y="9975214"/>
                  </a:lnTo>
                  <a:lnTo>
                    <a:pt x="9867392" y="9961626"/>
                  </a:lnTo>
                  <a:lnTo>
                    <a:pt x="9872599" y="9948799"/>
                  </a:lnTo>
                  <a:lnTo>
                    <a:pt x="9877171" y="9936734"/>
                  </a:lnTo>
                  <a:lnTo>
                    <a:pt x="9883902" y="9923907"/>
                  </a:lnTo>
                  <a:lnTo>
                    <a:pt x="9889109" y="9912603"/>
                  </a:lnTo>
                  <a:lnTo>
                    <a:pt x="9895840" y="9899777"/>
                  </a:lnTo>
                  <a:lnTo>
                    <a:pt x="9902571" y="9889998"/>
                  </a:lnTo>
                  <a:lnTo>
                    <a:pt x="9908540" y="9877933"/>
                  </a:lnTo>
                  <a:lnTo>
                    <a:pt x="9916033" y="9867392"/>
                  </a:lnTo>
                  <a:lnTo>
                    <a:pt x="9922764" y="9856089"/>
                  </a:lnTo>
                  <a:lnTo>
                    <a:pt x="9929495" y="9846310"/>
                  </a:lnTo>
                  <a:lnTo>
                    <a:pt x="9936226" y="9836531"/>
                  </a:lnTo>
                  <a:lnTo>
                    <a:pt x="9944481" y="9825227"/>
                  </a:lnTo>
                  <a:lnTo>
                    <a:pt x="9951974" y="9816211"/>
                  </a:lnTo>
                  <a:lnTo>
                    <a:pt x="9958705" y="9806432"/>
                  </a:lnTo>
                  <a:lnTo>
                    <a:pt x="9966960" y="9796652"/>
                  </a:lnTo>
                  <a:lnTo>
                    <a:pt x="9974453" y="9787636"/>
                  </a:lnTo>
                  <a:lnTo>
                    <a:pt x="9981946" y="9778619"/>
                  </a:lnTo>
                  <a:lnTo>
                    <a:pt x="9991725" y="9768839"/>
                  </a:lnTo>
                  <a:lnTo>
                    <a:pt x="9998456" y="9759061"/>
                  </a:lnTo>
                  <a:lnTo>
                    <a:pt x="10006711" y="9750806"/>
                  </a:lnTo>
                  <a:lnTo>
                    <a:pt x="10014966" y="9742551"/>
                  </a:lnTo>
                  <a:lnTo>
                    <a:pt x="10023983" y="9733534"/>
                  </a:lnTo>
                  <a:lnTo>
                    <a:pt x="10032238" y="9725278"/>
                  </a:lnTo>
                  <a:lnTo>
                    <a:pt x="10042017" y="9718548"/>
                  </a:lnTo>
                  <a:lnTo>
                    <a:pt x="10051034" y="9711055"/>
                  </a:lnTo>
                  <a:lnTo>
                    <a:pt x="10060051" y="9702038"/>
                  </a:lnTo>
                  <a:lnTo>
                    <a:pt x="10068306" y="9695307"/>
                  </a:lnTo>
                  <a:lnTo>
                    <a:pt x="10077323" y="9687814"/>
                  </a:lnTo>
                  <a:lnTo>
                    <a:pt x="10087102" y="9681083"/>
                  </a:lnTo>
                  <a:lnTo>
                    <a:pt x="10096881" y="9674352"/>
                  </a:lnTo>
                  <a:lnTo>
                    <a:pt x="10106660" y="9666097"/>
                  </a:lnTo>
                  <a:lnTo>
                    <a:pt x="10116439" y="9660889"/>
                  </a:lnTo>
                  <a:lnTo>
                    <a:pt x="10126218" y="9654159"/>
                  </a:lnTo>
                  <a:lnTo>
                    <a:pt x="10135997" y="9647427"/>
                  </a:lnTo>
                  <a:lnTo>
                    <a:pt x="10145776" y="9642221"/>
                  </a:lnTo>
                  <a:lnTo>
                    <a:pt x="10156317" y="9636252"/>
                  </a:lnTo>
                  <a:lnTo>
                    <a:pt x="10166858" y="9628759"/>
                  </a:lnTo>
                  <a:lnTo>
                    <a:pt x="10177399" y="9624187"/>
                  </a:lnTo>
                  <a:lnTo>
                    <a:pt x="10187940" y="9618218"/>
                  </a:lnTo>
                  <a:lnTo>
                    <a:pt x="10197719" y="9613011"/>
                  </a:lnTo>
                  <a:lnTo>
                    <a:pt x="10209022" y="9607803"/>
                  </a:lnTo>
                  <a:lnTo>
                    <a:pt x="10219563" y="9603232"/>
                  </a:lnTo>
                  <a:lnTo>
                    <a:pt x="10231628" y="9598660"/>
                  </a:lnTo>
                  <a:lnTo>
                    <a:pt x="10242169" y="9594088"/>
                  </a:lnTo>
                  <a:lnTo>
                    <a:pt x="10254996" y="9588881"/>
                  </a:lnTo>
                  <a:lnTo>
                    <a:pt x="10264775" y="9583674"/>
                  </a:lnTo>
                  <a:lnTo>
                    <a:pt x="10276078" y="9579864"/>
                  </a:lnTo>
                  <a:lnTo>
                    <a:pt x="10288143" y="9575292"/>
                  </a:lnTo>
                  <a:lnTo>
                    <a:pt x="10300208" y="9572244"/>
                  </a:lnTo>
                  <a:lnTo>
                    <a:pt x="10311511" y="9568434"/>
                  </a:lnTo>
                  <a:lnTo>
                    <a:pt x="10324338" y="9566148"/>
                  </a:lnTo>
                  <a:lnTo>
                    <a:pt x="10337165" y="9562338"/>
                  </a:lnTo>
                  <a:lnTo>
                    <a:pt x="10349230" y="9559289"/>
                  </a:lnTo>
                  <a:lnTo>
                    <a:pt x="10361295" y="9556242"/>
                  </a:lnTo>
                  <a:lnTo>
                    <a:pt x="10374122" y="9553956"/>
                  </a:lnTo>
                  <a:lnTo>
                    <a:pt x="10386949" y="9551670"/>
                  </a:lnTo>
                  <a:lnTo>
                    <a:pt x="10400538" y="9550146"/>
                  </a:lnTo>
                  <a:lnTo>
                    <a:pt x="10412603" y="9547098"/>
                  </a:lnTo>
                  <a:lnTo>
                    <a:pt x="10426954" y="9546336"/>
                  </a:lnTo>
                  <a:lnTo>
                    <a:pt x="10439781" y="9544050"/>
                  </a:lnTo>
                  <a:lnTo>
                    <a:pt x="10454132" y="9543288"/>
                  </a:lnTo>
                  <a:lnTo>
                    <a:pt x="10468483" y="9542526"/>
                  </a:lnTo>
                  <a:lnTo>
                    <a:pt x="10481310" y="9541764"/>
                  </a:lnTo>
                  <a:close/>
                  <a:moveTo>
                    <a:pt x="1524" y="0"/>
                  </a:moveTo>
                  <a:lnTo>
                    <a:pt x="1963038" y="0"/>
                  </a:lnTo>
                  <a:lnTo>
                    <a:pt x="1961007" y="2540"/>
                  </a:lnTo>
                  <a:lnTo>
                    <a:pt x="1942210" y="30480"/>
                  </a:lnTo>
                  <a:lnTo>
                    <a:pt x="1923414" y="58420"/>
                  </a:lnTo>
                  <a:lnTo>
                    <a:pt x="1907539" y="87757"/>
                  </a:lnTo>
                  <a:lnTo>
                    <a:pt x="1892426" y="117856"/>
                  </a:lnTo>
                  <a:lnTo>
                    <a:pt x="1876551" y="153289"/>
                  </a:lnTo>
                  <a:lnTo>
                    <a:pt x="1863724" y="188722"/>
                  </a:lnTo>
                  <a:lnTo>
                    <a:pt x="1851659" y="224917"/>
                  </a:lnTo>
                  <a:lnTo>
                    <a:pt x="1841119" y="261112"/>
                  </a:lnTo>
                  <a:lnTo>
                    <a:pt x="1834387" y="301117"/>
                  </a:lnTo>
                  <a:lnTo>
                    <a:pt x="1828419" y="338836"/>
                  </a:lnTo>
                  <a:lnTo>
                    <a:pt x="1826132" y="378714"/>
                  </a:lnTo>
                  <a:lnTo>
                    <a:pt x="1823846" y="418592"/>
                  </a:lnTo>
                  <a:lnTo>
                    <a:pt x="1824608" y="458597"/>
                  </a:lnTo>
                  <a:lnTo>
                    <a:pt x="1828419" y="498475"/>
                  </a:lnTo>
                  <a:lnTo>
                    <a:pt x="1834387" y="537718"/>
                  </a:lnTo>
                  <a:lnTo>
                    <a:pt x="1841881" y="575437"/>
                  </a:lnTo>
                  <a:lnTo>
                    <a:pt x="1850897" y="613156"/>
                  </a:lnTo>
                  <a:lnTo>
                    <a:pt x="1863724" y="650113"/>
                  </a:lnTo>
                  <a:lnTo>
                    <a:pt x="1876551" y="685546"/>
                  </a:lnTo>
                  <a:lnTo>
                    <a:pt x="1891664" y="720217"/>
                  </a:lnTo>
                  <a:lnTo>
                    <a:pt x="1907539" y="751078"/>
                  </a:lnTo>
                  <a:lnTo>
                    <a:pt x="1923414" y="780415"/>
                  </a:lnTo>
                  <a:lnTo>
                    <a:pt x="1942210" y="808355"/>
                  </a:lnTo>
                  <a:lnTo>
                    <a:pt x="1961007" y="834771"/>
                  </a:lnTo>
                  <a:lnTo>
                    <a:pt x="1976882" y="856615"/>
                  </a:lnTo>
                  <a:lnTo>
                    <a:pt x="1994281" y="876935"/>
                  </a:lnTo>
                  <a:lnTo>
                    <a:pt x="2012314" y="896493"/>
                  </a:lnTo>
                  <a:lnTo>
                    <a:pt x="2031110" y="915289"/>
                  </a:lnTo>
                  <a:lnTo>
                    <a:pt x="2046985" y="931164"/>
                  </a:lnTo>
                  <a:lnTo>
                    <a:pt x="2064257" y="947039"/>
                  </a:lnTo>
                  <a:lnTo>
                    <a:pt x="2082292" y="962152"/>
                  </a:lnTo>
                  <a:lnTo>
                    <a:pt x="2100325" y="975741"/>
                  </a:lnTo>
                  <a:lnTo>
                    <a:pt x="2116200" y="988568"/>
                  </a:lnTo>
                  <a:lnTo>
                    <a:pt x="2134234" y="1000633"/>
                  </a:lnTo>
                  <a:lnTo>
                    <a:pt x="2151507" y="1011936"/>
                  </a:lnTo>
                  <a:lnTo>
                    <a:pt x="2169540" y="1022477"/>
                  </a:lnTo>
                  <a:lnTo>
                    <a:pt x="2186177" y="1031494"/>
                  </a:lnTo>
                  <a:lnTo>
                    <a:pt x="2203576" y="1041273"/>
                  </a:lnTo>
                  <a:lnTo>
                    <a:pt x="2220848" y="1049528"/>
                  </a:lnTo>
                  <a:lnTo>
                    <a:pt x="2238882" y="1058545"/>
                  </a:lnTo>
                  <a:lnTo>
                    <a:pt x="2256155" y="1065276"/>
                  </a:lnTo>
                  <a:lnTo>
                    <a:pt x="2272792" y="1072769"/>
                  </a:lnTo>
                  <a:lnTo>
                    <a:pt x="2289428" y="1078738"/>
                  </a:lnTo>
                  <a:lnTo>
                    <a:pt x="2307462" y="1084707"/>
                  </a:lnTo>
                  <a:lnTo>
                    <a:pt x="2325496" y="1089279"/>
                  </a:lnTo>
                  <a:lnTo>
                    <a:pt x="2342133" y="1095248"/>
                  </a:lnTo>
                  <a:lnTo>
                    <a:pt x="2359406" y="1099058"/>
                  </a:lnTo>
                  <a:lnTo>
                    <a:pt x="2377439" y="1103630"/>
                  </a:lnTo>
                  <a:lnTo>
                    <a:pt x="2395473" y="1106678"/>
                  </a:lnTo>
                  <a:lnTo>
                    <a:pt x="2410586" y="1109726"/>
                  </a:lnTo>
                  <a:lnTo>
                    <a:pt x="2428620" y="1112774"/>
                  </a:lnTo>
                  <a:lnTo>
                    <a:pt x="2446020" y="1115060"/>
                  </a:lnTo>
                  <a:lnTo>
                    <a:pt x="2464435" y="1115060"/>
                  </a:lnTo>
                  <a:lnTo>
                    <a:pt x="2481707" y="1117346"/>
                  </a:lnTo>
                  <a:lnTo>
                    <a:pt x="2498978" y="1118108"/>
                  </a:lnTo>
                  <a:lnTo>
                    <a:pt x="2515616" y="1118108"/>
                  </a:lnTo>
                  <a:lnTo>
                    <a:pt x="2524633" y="1119632"/>
                  </a:lnTo>
                  <a:lnTo>
                    <a:pt x="2585720" y="1118870"/>
                  </a:lnTo>
                  <a:lnTo>
                    <a:pt x="2655824" y="1118108"/>
                  </a:lnTo>
                  <a:lnTo>
                    <a:pt x="2723642" y="1119632"/>
                  </a:lnTo>
                  <a:lnTo>
                    <a:pt x="2793746" y="1118870"/>
                  </a:lnTo>
                  <a:lnTo>
                    <a:pt x="2863850" y="1119632"/>
                  </a:lnTo>
                  <a:lnTo>
                    <a:pt x="2932430" y="1118870"/>
                  </a:lnTo>
                  <a:lnTo>
                    <a:pt x="3001772" y="1118870"/>
                  </a:lnTo>
                  <a:lnTo>
                    <a:pt x="3071876" y="1118108"/>
                  </a:lnTo>
                  <a:lnTo>
                    <a:pt x="3140456" y="1118870"/>
                  </a:lnTo>
                  <a:lnTo>
                    <a:pt x="3210560" y="1119632"/>
                  </a:lnTo>
                  <a:lnTo>
                    <a:pt x="3279902" y="1119632"/>
                  </a:lnTo>
                  <a:lnTo>
                    <a:pt x="3348482" y="1118870"/>
                  </a:lnTo>
                  <a:lnTo>
                    <a:pt x="3418586" y="1118108"/>
                  </a:lnTo>
                  <a:lnTo>
                    <a:pt x="3486403" y="1119632"/>
                  </a:lnTo>
                  <a:lnTo>
                    <a:pt x="3556508" y="1118870"/>
                  </a:lnTo>
                  <a:lnTo>
                    <a:pt x="3626612" y="1119632"/>
                  </a:lnTo>
                  <a:lnTo>
                    <a:pt x="3695953" y="1119632"/>
                  </a:lnTo>
                  <a:lnTo>
                    <a:pt x="3764534" y="1118870"/>
                  </a:lnTo>
                  <a:lnTo>
                    <a:pt x="3834638" y="1118108"/>
                  </a:lnTo>
                  <a:lnTo>
                    <a:pt x="3903218" y="1118870"/>
                  </a:lnTo>
                  <a:lnTo>
                    <a:pt x="3973322" y="1119632"/>
                  </a:lnTo>
                  <a:lnTo>
                    <a:pt x="4042664" y="1119632"/>
                  </a:lnTo>
                  <a:lnTo>
                    <a:pt x="4112006" y="1119632"/>
                  </a:lnTo>
                  <a:lnTo>
                    <a:pt x="4181348" y="1118108"/>
                  </a:lnTo>
                  <a:lnTo>
                    <a:pt x="4250690" y="1118108"/>
                  </a:lnTo>
                  <a:lnTo>
                    <a:pt x="4320032" y="1119632"/>
                  </a:lnTo>
                  <a:lnTo>
                    <a:pt x="4389374" y="1119632"/>
                  </a:lnTo>
                  <a:lnTo>
                    <a:pt x="4458716" y="1119632"/>
                  </a:lnTo>
                  <a:lnTo>
                    <a:pt x="4528058" y="1119632"/>
                  </a:lnTo>
                  <a:lnTo>
                    <a:pt x="4597400" y="1118108"/>
                  </a:lnTo>
                  <a:lnTo>
                    <a:pt x="4667503" y="1118870"/>
                  </a:lnTo>
                  <a:lnTo>
                    <a:pt x="4736084" y="1119632"/>
                  </a:lnTo>
                  <a:lnTo>
                    <a:pt x="4797933" y="1119632"/>
                  </a:lnTo>
                  <a:lnTo>
                    <a:pt x="4805426" y="1119632"/>
                  </a:lnTo>
                  <a:lnTo>
                    <a:pt x="4874768" y="1119632"/>
                  </a:lnTo>
                  <a:lnTo>
                    <a:pt x="4944110" y="1119632"/>
                  </a:lnTo>
                  <a:lnTo>
                    <a:pt x="5013452" y="1118108"/>
                  </a:lnTo>
                  <a:lnTo>
                    <a:pt x="5082794" y="1119632"/>
                  </a:lnTo>
                  <a:lnTo>
                    <a:pt x="5152136" y="1119632"/>
                  </a:lnTo>
                  <a:lnTo>
                    <a:pt x="5221478" y="1119632"/>
                  </a:lnTo>
                  <a:lnTo>
                    <a:pt x="5290820" y="1119632"/>
                  </a:lnTo>
                  <a:lnTo>
                    <a:pt x="5360162" y="1118108"/>
                  </a:lnTo>
                  <a:lnTo>
                    <a:pt x="5430266" y="1118870"/>
                  </a:lnTo>
                  <a:lnTo>
                    <a:pt x="5498846" y="1119632"/>
                  </a:lnTo>
                  <a:lnTo>
                    <a:pt x="5568188" y="1119632"/>
                  </a:lnTo>
                  <a:lnTo>
                    <a:pt x="5637530" y="1119632"/>
                  </a:lnTo>
                  <a:lnTo>
                    <a:pt x="5707634" y="1120394"/>
                  </a:lnTo>
                  <a:lnTo>
                    <a:pt x="5776976" y="1118870"/>
                  </a:lnTo>
                  <a:lnTo>
                    <a:pt x="5846318" y="1118870"/>
                  </a:lnTo>
                  <a:lnTo>
                    <a:pt x="5914898" y="1119632"/>
                  </a:lnTo>
                  <a:lnTo>
                    <a:pt x="5984240" y="1119632"/>
                  </a:lnTo>
                  <a:lnTo>
                    <a:pt x="6054344" y="1120394"/>
                  </a:lnTo>
                  <a:lnTo>
                    <a:pt x="6124448" y="1119632"/>
                  </a:lnTo>
                  <a:lnTo>
                    <a:pt x="6193028" y="1118870"/>
                  </a:lnTo>
                  <a:lnTo>
                    <a:pt x="6262370" y="1118870"/>
                  </a:lnTo>
                  <a:lnTo>
                    <a:pt x="6330950" y="1119632"/>
                  </a:lnTo>
                  <a:lnTo>
                    <a:pt x="6401054" y="1120394"/>
                  </a:lnTo>
                  <a:lnTo>
                    <a:pt x="6470396" y="1120394"/>
                  </a:lnTo>
                  <a:lnTo>
                    <a:pt x="6540500" y="1119632"/>
                  </a:lnTo>
                  <a:lnTo>
                    <a:pt x="6609080" y="1118870"/>
                  </a:lnTo>
                  <a:lnTo>
                    <a:pt x="6678422" y="1118870"/>
                  </a:lnTo>
                  <a:lnTo>
                    <a:pt x="6747002" y="1119632"/>
                  </a:lnTo>
                  <a:lnTo>
                    <a:pt x="6817106" y="1120394"/>
                  </a:lnTo>
                  <a:lnTo>
                    <a:pt x="6887210" y="1119632"/>
                  </a:lnTo>
                  <a:lnTo>
                    <a:pt x="6956552" y="1119632"/>
                  </a:lnTo>
                  <a:lnTo>
                    <a:pt x="7025132" y="1118870"/>
                  </a:lnTo>
                  <a:lnTo>
                    <a:pt x="7093712" y="1119632"/>
                  </a:lnTo>
                  <a:lnTo>
                    <a:pt x="7163816" y="1120394"/>
                  </a:lnTo>
                  <a:lnTo>
                    <a:pt x="7233158" y="1120394"/>
                  </a:lnTo>
                  <a:lnTo>
                    <a:pt x="7303262" y="1119632"/>
                  </a:lnTo>
                  <a:lnTo>
                    <a:pt x="7371842" y="1118870"/>
                  </a:lnTo>
                  <a:lnTo>
                    <a:pt x="7441184" y="1118870"/>
                  </a:lnTo>
                  <a:lnTo>
                    <a:pt x="7510526" y="1120394"/>
                  </a:lnTo>
                  <a:lnTo>
                    <a:pt x="7579868" y="1120394"/>
                  </a:lnTo>
                  <a:lnTo>
                    <a:pt x="7649972" y="1119632"/>
                  </a:lnTo>
                  <a:lnTo>
                    <a:pt x="7719314" y="1119632"/>
                  </a:lnTo>
                  <a:lnTo>
                    <a:pt x="7787894" y="1118870"/>
                  </a:lnTo>
                  <a:lnTo>
                    <a:pt x="7857998" y="1119632"/>
                  </a:lnTo>
                  <a:lnTo>
                    <a:pt x="7926578" y="1120394"/>
                  </a:lnTo>
                  <a:lnTo>
                    <a:pt x="7995920" y="1120394"/>
                  </a:lnTo>
                  <a:lnTo>
                    <a:pt x="8066024" y="1119632"/>
                  </a:lnTo>
                  <a:lnTo>
                    <a:pt x="8136128" y="1120394"/>
                  </a:lnTo>
                  <a:lnTo>
                    <a:pt x="8204708" y="1119632"/>
                  </a:lnTo>
                  <a:lnTo>
                    <a:pt x="8274050" y="1119632"/>
                  </a:lnTo>
                  <a:lnTo>
                    <a:pt x="8342630" y="1120394"/>
                  </a:lnTo>
                  <a:lnTo>
                    <a:pt x="8412734" y="1119632"/>
                  </a:lnTo>
                  <a:lnTo>
                    <a:pt x="8482076" y="1119632"/>
                  </a:lnTo>
                  <a:lnTo>
                    <a:pt x="8552180" y="1120394"/>
                  </a:lnTo>
                  <a:lnTo>
                    <a:pt x="8620760" y="1119632"/>
                  </a:lnTo>
                  <a:lnTo>
                    <a:pt x="8689340" y="1120394"/>
                  </a:lnTo>
                  <a:lnTo>
                    <a:pt x="8758682" y="1120394"/>
                  </a:lnTo>
                  <a:lnTo>
                    <a:pt x="8821928" y="1118870"/>
                  </a:lnTo>
                  <a:lnTo>
                    <a:pt x="8828659" y="1119632"/>
                  </a:lnTo>
                  <a:lnTo>
                    <a:pt x="8845931" y="1120394"/>
                  </a:lnTo>
                  <a:lnTo>
                    <a:pt x="8863203" y="1121156"/>
                  </a:lnTo>
                  <a:lnTo>
                    <a:pt x="8881237" y="1122680"/>
                  </a:lnTo>
                  <a:lnTo>
                    <a:pt x="8897874" y="1124204"/>
                  </a:lnTo>
                  <a:lnTo>
                    <a:pt x="8915146" y="1126490"/>
                  </a:lnTo>
                  <a:lnTo>
                    <a:pt x="8932418" y="1128776"/>
                  </a:lnTo>
                  <a:lnTo>
                    <a:pt x="8949817" y="1132586"/>
                  </a:lnTo>
                  <a:lnTo>
                    <a:pt x="8967851" y="1135634"/>
                  </a:lnTo>
                  <a:lnTo>
                    <a:pt x="8985123" y="1139444"/>
                  </a:lnTo>
                  <a:lnTo>
                    <a:pt x="9003157" y="1144016"/>
                  </a:lnTo>
                  <a:lnTo>
                    <a:pt x="9019032" y="1147826"/>
                  </a:lnTo>
                  <a:lnTo>
                    <a:pt x="9036304" y="1153160"/>
                  </a:lnTo>
                  <a:lnTo>
                    <a:pt x="9054338" y="1160653"/>
                  </a:lnTo>
                  <a:lnTo>
                    <a:pt x="9071610" y="1165987"/>
                  </a:lnTo>
                  <a:lnTo>
                    <a:pt x="9088247" y="1173480"/>
                  </a:lnTo>
                  <a:lnTo>
                    <a:pt x="9106281" y="1179449"/>
                  </a:lnTo>
                  <a:lnTo>
                    <a:pt x="9124315" y="1188466"/>
                  </a:lnTo>
                  <a:lnTo>
                    <a:pt x="9140952" y="1197483"/>
                  </a:lnTo>
                  <a:lnTo>
                    <a:pt x="9158986" y="1206500"/>
                  </a:lnTo>
                  <a:lnTo>
                    <a:pt x="9174861" y="1216279"/>
                  </a:lnTo>
                  <a:lnTo>
                    <a:pt x="9192895" y="1226820"/>
                  </a:lnTo>
                  <a:lnTo>
                    <a:pt x="9210929" y="1237361"/>
                  </a:lnTo>
                  <a:lnTo>
                    <a:pt x="9227566" y="1250950"/>
                  </a:lnTo>
                  <a:lnTo>
                    <a:pt x="9244203" y="1261491"/>
                  </a:lnTo>
                  <a:lnTo>
                    <a:pt x="9262999" y="1275842"/>
                  </a:lnTo>
                  <a:lnTo>
                    <a:pt x="9280271" y="1291717"/>
                  </a:lnTo>
                  <a:lnTo>
                    <a:pt x="9296908" y="1306830"/>
                  </a:lnTo>
                  <a:lnTo>
                    <a:pt x="9314307" y="1322705"/>
                  </a:lnTo>
                  <a:lnTo>
                    <a:pt x="9332341" y="1342263"/>
                  </a:lnTo>
                  <a:lnTo>
                    <a:pt x="9350375" y="1361821"/>
                  </a:lnTo>
                  <a:lnTo>
                    <a:pt x="9367012" y="1379855"/>
                  </a:lnTo>
                  <a:lnTo>
                    <a:pt x="9382887" y="1401699"/>
                  </a:lnTo>
                  <a:lnTo>
                    <a:pt x="9403207" y="1429639"/>
                  </a:lnTo>
                  <a:lnTo>
                    <a:pt x="9419844" y="1458341"/>
                  </a:lnTo>
                  <a:lnTo>
                    <a:pt x="9437878" y="1486916"/>
                  </a:lnTo>
                  <a:lnTo>
                    <a:pt x="9452991" y="1517015"/>
                  </a:lnTo>
                  <a:lnTo>
                    <a:pt x="9468866" y="1552448"/>
                  </a:lnTo>
                  <a:lnTo>
                    <a:pt x="9481693" y="1587881"/>
                  </a:lnTo>
                  <a:lnTo>
                    <a:pt x="9494520" y="1624838"/>
                  </a:lnTo>
                  <a:lnTo>
                    <a:pt x="9503537" y="1662557"/>
                  </a:lnTo>
                  <a:lnTo>
                    <a:pt x="9511792" y="1701038"/>
                  </a:lnTo>
                  <a:lnTo>
                    <a:pt x="9517126" y="1739519"/>
                  </a:lnTo>
                  <a:lnTo>
                    <a:pt x="9520174" y="1778762"/>
                  </a:lnTo>
                  <a:lnTo>
                    <a:pt x="9522460" y="1820164"/>
                  </a:lnTo>
                  <a:lnTo>
                    <a:pt x="9520174" y="1860042"/>
                  </a:lnTo>
                  <a:lnTo>
                    <a:pt x="9517888" y="1899920"/>
                  </a:lnTo>
                  <a:lnTo>
                    <a:pt x="9512554" y="1939925"/>
                  </a:lnTo>
                  <a:lnTo>
                    <a:pt x="9504299" y="1978406"/>
                  </a:lnTo>
                  <a:lnTo>
                    <a:pt x="9493758" y="2016125"/>
                  </a:lnTo>
                  <a:lnTo>
                    <a:pt x="9482455" y="2053082"/>
                  </a:lnTo>
                  <a:lnTo>
                    <a:pt x="9468866" y="2089277"/>
                  </a:lnTo>
                  <a:lnTo>
                    <a:pt x="9452991" y="2123186"/>
                  </a:lnTo>
                  <a:lnTo>
                    <a:pt x="9437878" y="2153285"/>
                  </a:lnTo>
                  <a:lnTo>
                    <a:pt x="9421241" y="2181860"/>
                  </a:lnTo>
                  <a:lnTo>
                    <a:pt x="9402445" y="2211197"/>
                  </a:lnTo>
                  <a:lnTo>
                    <a:pt x="9382887" y="2238375"/>
                  </a:lnTo>
                  <a:lnTo>
                    <a:pt x="9367012" y="2258695"/>
                  </a:lnTo>
                  <a:lnTo>
                    <a:pt x="9349740" y="2279015"/>
                  </a:lnTo>
                  <a:lnTo>
                    <a:pt x="9331706" y="2298573"/>
                  </a:lnTo>
                  <a:lnTo>
                    <a:pt x="9312910" y="2317369"/>
                  </a:lnTo>
                  <a:lnTo>
                    <a:pt x="9297035" y="2333244"/>
                  </a:lnTo>
                  <a:lnTo>
                    <a:pt x="9280398" y="2348357"/>
                  </a:lnTo>
                  <a:lnTo>
                    <a:pt x="9263761" y="2363470"/>
                  </a:lnTo>
                  <a:lnTo>
                    <a:pt x="9243441" y="2377821"/>
                  </a:lnTo>
                  <a:lnTo>
                    <a:pt x="9227566" y="2390648"/>
                  </a:lnTo>
                  <a:lnTo>
                    <a:pt x="9210929" y="2401189"/>
                  </a:lnTo>
                  <a:lnTo>
                    <a:pt x="9192895" y="2413254"/>
                  </a:lnTo>
                  <a:lnTo>
                    <a:pt x="9174861" y="2423795"/>
                  </a:lnTo>
                  <a:lnTo>
                    <a:pt x="9158224" y="2432812"/>
                  </a:lnTo>
                  <a:lnTo>
                    <a:pt x="9140952" y="2442591"/>
                  </a:lnTo>
                  <a:lnTo>
                    <a:pt x="9123680" y="2450846"/>
                  </a:lnTo>
                  <a:lnTo>
                    <a:pt x="9105646" y="2459863"/>
                  </a:lnTo>
                  <a:lnTo>
                    <a:pt x="9088374" y="2466594"/>
                  </a:lnTo>
                  <a:lnTo>
                    <a:pt x="9072499" y="2473325"/>
                  </a:lnTo>
                  <a:lnTo>
                    <a:pt x="9055227" y="2480056"/>
                  </a:lnTo>
                  <a:lnTo>
                    <a:pt x="9036431" y="2486787"/>
                  </a:lnTo>
                  <a:lnTo>
                    <a:pt x="9019794" y="2489835"/>
                  </a:lnTo>
                  <a:lnTo>
                    <a:pt x="9003157" y="2495804"/>
                  </a:lnTo>
                  <a:lnTo>
                    <a:pt x="8985123" y="2500376"/>
                  </a:lnTo>
                  <a:lnTo>
                    <a:pt x="8967851" y="2504186"/>
                  </a:lnTo>
                  <a:lnTo>
                    <a:pt x="8949817" y="2507234"/>
                  </a:lnTo>
                  <a:lnTo>
                    <a:pt x="8933180" y="2511806"/>
                  </a:lnTo>
                  <a:lnTo>
                    <a:pt x="8916543" y="2513330"/>
                  </a:lnTo>
                  <a:lnTo>
                    <a:pt x="8898509" y="2516378"/>
                  </a:lnTo>
                  <a:lnTo>
                    <a:pt x="8880475" y="2516378"/>
                  </a:lnTo>
                  <a:lnTo>
                    <a:pt x="8863203" y="2518664"/>
                  </a:lnTo>
                  <a:lnTo>
                    <a:pt x="8846566" y="2518664"/>
                  </a:lnTo>
                  <a:lnTo>
                    <a:pt x="8828532" y="2520188"/>
                  </a:lnTo>
                  <a:lnTo>
                    <a:pt x="8823198" y="2519426"/>
                  </a:lnTo>
                  <a:lnTo>
                    <a:pt x="8759190" y="2520188"/>
                  </a:lnTo>
                  <a:lnTo>
                    <a:pt x="8689848" y="2520188"/>
                  </a:lnTo>
                  <a:lnTo>
                    <a:pt x="8620506" y="2518664"/>
                  </a:lnTo>
                  <a:lnTo>
                    <a:pt x="8551926" y="2519426"/>
                  </a:lnTo>
                  <a:lnTo>
                    <a:pt x="8482584" y="2519426"/>
                  </a:lnTo>
                  <a:lnTo>
                    <a:pt x="8412480" y="2520188"/>
                  </a:lnTo>
                  <a:lnTo>
                    <a:pt x="8343138" y="2520188"/>
                  </a:lnTo>
                  <a:lnTo>
                    <a:pt x="8273034" y="2519426"/>
                  </a:lnTo>
                  <a:lnTo>
                    <a:pt x="8205216" y="2519426"/>
                  </a:lnTo>
                  <a:lnTo>
                    <a:pt x="8135874" y="2519426"/>
                  </a:lnTo>
                  <a:lnTo>
                    <a:pt x="8065770" y="2520188"/>
                  </a:lnTo>
                  <a:lnTo>
                    <a:pt x="7996428" y="2520188"/>
                  </a:lnTo>
                  <a:lnTo>
                    <a:pt x="7926324" y="2519426"/>
                  </a:lnTo>
                  <a:lnTo>
                    <a:pt x="7856982" y="2519426"/>
                  </a:lnTo>
                  <a:lnTo>
                    <a:pt x="7789164" y="2519426"/>
                  </a:lnTo>
                  <a:lnTo>
                    <a:pt x="7719822" y="2519426"/>
                  </a:lnTo>
                  <a:lnTo>
                    <a:pt x="7649718" y="2520188"/>
                  </a:lnTo>
                  <a:lnTo>
                    <a:pt x="7579614" y="2519426"/>
                  </a:lnTo>
                  <a:lnTo>
                    <a:pt x="7510272" y="2519426"/>
                  </a:lnTo>
                  <a:lnTo>
                    <a:pt x="7441692" y="2518664"/>
                  </a:lnTo>
                  <a:lnTo>
                    <a:pt x="7373112" y="2519426"/>
                  </a:lnTo>
                  <a:lnTo>
                    <a:pt x="7303008" y="2520188"/>
                  </a:lnTo>
                  <a:lnTo>
                    <a:pt x="7232904" y="2519426"/>
                  </a:lnTo>
                  <a:lnTo>
                    <a:pt x="7163562" y="2519426"/>
                  </a:lnTo>
                  <a:lnTo>
                    <a:pt x="7094220" y="2519426"/>
                  </a:lnTo>
                  <a:lnTo>
                    <a:pt x="7073138" y="2519426"/>
                  </a:lnTo>
                  <a:lnTo>
                    <a:pt x="7049008" y="2519426"/>
                  </a:lnTo>
                  <a:lnTo>
                    <a:pt x="7025640" y="2520188"/>
                  </a:lnTo>
                  <a:lnTo>
                    <a:pt x="7008368" y="2522474"/>
                  </a:lnTo>
                  <a:lnTo>
                    <a:pt x="6989572" y="2524760"/>
                  </a:lnTo>
                  <a:lnTo>
                    <a:pt x="6972935" y="2526284"/>
                  </a:lnTo>
                  <a:lnTo>
                    <a:pt x="6956298" y="2529332"/>
                  </a:lnTo>
                  <a:lnTo>
                    <a:pt x="6939026" y="2531618"/>
                  </a:lnTo>
                  <a:lnTo>
                    <a:pt x="6920992" y="2536190"/>
                  </a:lnTo>
                  <a:lnTo>
                    <a:pt x="6904355" y="2540762"/>
                  </a:lnTo>
                  <a:lnTo>
                    <a:pt x="6887083" y="2544572"/>
                  </a:lnTo>
                  <a:lnTo>
                    <a:pt x="6869049" y="2549144"/>
                  </a:lnTo>
                  <a:lnTo>
                    <a:pt x="6851777" y="2555875"/>
                  </a:lnTo>
                  <a:lnTo>
                    <a:pt x="6834505" y="2561209"/>
                  </a:lnTo>
                  <a:lnTo>
                    <a:pt x="6818630" y="2567940"/>
                  </a:lnTo>
                  <a:lnTo>
                    <a:pt x="6799072" y="2575433"/>
                  </a:lnTo>
                  <a:lnTo>
                    <a:pt x="6782435" y="2582926"/>
                  </a:lnTo>
                  <a:lnTo>
                    <a:pt x="6765163" y="2591181"/>
                  </a:lnTo>
                  <a:lnTo>
                    <a:pt x="6748526" y="2600198"/>
                  </a:lnTo>
                  <a:lnTo>
                    <a:pt x="6730492" y="2609215"/>
                  </a:lnTo>
                  <a:lnTo>
                    <a:pt x="6713093" y="2618994"/>
                  </a:lnTo>
                  <a:lnTo>
                    <a:pt x="6695821" y="2630297"/>
                  </a:lnTo>
                  <a:lnTo>
                    <a:pt x="6679184" y="2640838"/>
                  </a:lnTo>
                  <a:lnTo>
                    <a:pt x="6661150" y="2652903"/>
                  </a:lnTo>
                  <a:lnTo>
                    <a:pt x="6643116" y="2668016"/>
                  </a:lnTo>
                  <a:lnTo>
                    <a:pt x="6625844" y="2680843"/>
                  </a:lnTo>
                  <a:lnTo>
                    <a:pt x="6609207" y="2695956"/>
                  </a:lnTo>
                  <a:lnTo>
                    <a:pt x="6591935" y="2711831"/>
                  </a:lnTo>
                  <a:lnTo>
                    <a:pt x="6573901" y="2729865"/>
                  </a:lnTo>
                  <a:lnTo>
                    <a:pt x="6557264" y="2746502"/>
                  </a:lnTo>
                  <a:lnTo>
                    <a:pt x="6539992" y="2765298"/>
                  </a:lnTo>
                  <a:lnTo>
                    <a:pt x="6521958" y="2789428"/>
                  </a:lnTo>
                  <a:lnTo>
                    <a:pt x="6503924" y="2813558"/>
                  </a:lnTo>
                  <a:lnTo>
                    <a:pt x="6486652" y="2838450"/>
                  </a:lnTo>
                  <a:lnTo>
                    <a:pt x="6471539" y="2862580"/>
                  </a:lnTo>
                  <a:lnTo>
                    <a:pt x="6460998" y="2882138"/>
                  </a:lnTo>
                  <a:lnTo>
                    <a:pt x="6449695" y="2900934"/>
                  </a:lnTo>
                  <a:lnTo>
                    <a:pt x="6441440" y="2921254"/>
                  </a:lnTo>
                  <a:lnTo>
                    <a:pt x="6431661" y="2940050"/>
                  </a:lnTo>
                  <a:lnTo>
                    <a:pt x="6423406" y="2961894"/>
                  </a:lnTo>
                  <a:lnTo>
                    <a:pt x="6415151" y="2980690"/>
                  </a:lnTo>
                  <a:lnTo>
                    <a:pt x="6408420" y="3001010"/>
                  </a:lnTo>
                  <a:lnTo>
                    <a:pt x="6401689" y="3022854"/>
                  </a:lnTo>
                  <a:lnTo>
                    <a:pt x="6394958" y="3046222"/>
                  </a:lnTo>
                  <a:lnTo>
                    <a:pt x="6389624" y="3071114"/>
                  </a:lnTo>
                  <a:lnTo>
                    <a:pt x="6385052" y="3093720"/>
                  </a:lnTo>
                  <a:lnTo>
                    <a:pt x="6381242" y="3118612"/>
                  </a:lnTo>
                  <a:lnTo>
                    <a:pt x="6378194" y="3144266"/>
                  </a:lnTo>
                  <a:lnTo>
                    <a:pt x="6376670" y="3168396"/>
                  </a:lnTo>
                  <a:lnTo>
                    <a:pt x="6374384" y="3193288"/>
                  </a:lnTo>
                  <a:lnTo>
                    <a:pt x="6374384" y="3218942"/>
                  </a:lnTo>
                  <a:lnTo>
                    <a:pt x="6372860" y="3244596"/>
                  </a:lnTo>
                  <a:lnTo>
                    <a:pt x="6375908" y="3270250"/>
                  </a:lnTo>
                  <a:lnTo>
                    <a:pt x="6378194" y="3295142"/>
                  </a:lnTo>
                  <a:lnTo>
                    <a:pt x="6380480" y="3320034"/>
                  </a:lnTo>
                  <a:lnTo>
                    <a:pt x="6385052" y="3344164"/>
                  </a:lnTo>
                  <a:lnTo>
                    <a:pt x="6389624" y="3368294"/>
                  </a:lnTo>
                  <a:lnTo>
                    <a:pt x="6395593" y="3392424"/>
                  </a:lnTo>
                  <a:lnTo>
                    <a:pt x="6401562" y="3416554"/>
                  </a:lnTo>
                  <a:lnTo>
                    <a:pt x="6408293" y="3435350"/>
                  </a:lnTo>
                  <a:lnTo>
                    <a:pt x="6415024" y="3457194"/>
                  </a:lnTo>
                  <a:lnTo>
                    <a:pt x="6423279" y="3477514"/>
                  </a:lnTo>
                  <a:lnTo>
                    <a:pt x="6430772" y="3498596"/>
                  </a:lnTo>
                  <a:lnTo>
                    <a:pt x="6441313" y="3518154"/>
                  </a:lnTo>
                  <a:lnTo>
                    <a:pt x="6449568" y="3536950"/>
                  </a:lnTo>
                  <a:lnTo>
                    <a:pt x="6460871" y="3555746"/>
                  </a:lnTo>
                  <a:lnTo>
                    <a:pt x="6469888" y="3575304"/>
                  </a:lnTo>
                  <a:lnTo>
                    <a:pt x="6486525" y="3600958"/>
                  </a:lnTo>
                  <a:lnTo>
                    <a:pt x="6503162" y="3625088"/>
                  </a:lnTo>
                  <a:lnTo>
                    <a:pt x="6521958" y="3649980"/>
                  </a:lnTo>
                  <a:lnTo>
                    <a:pt x="6540754" y="3671824"/>
                  </a:lnTo>
                  <a:lnTo>
                    <a:pt x="6555867" y="3691382"/>
                  </a:lnTo>
                  <a:lnTo>
                    <a:pt x="6573901" y="3709416"/>
                  </a:lnTo>
                  <a:lnTo>
                    <a:pt x="6591300" y="3726815"/>
                  </a:lnTo>
                  <a:lnTo>
                    <a:pt x="6610096" y="3742690"/>
                  </a:lnTo>
                  <a:lnTo>
                    <a:pt x="6626733" y="3757803"/>
                  </a:lnTo>
                  <a:lnTo>
                    <a:pt x="6643370" y="3771392"/>
                  </a:lnTo>
                  <a:lnTo>
                    <a:pt x="6661404" y="3784981"/>
                  </a:lnTo>
                  <a:lnTo>
                    <a:pt x="6679438" y="3797046"/>
                  </a:lnTo>
                  <a:lnTo>
                    <a:pt x="6696075" y="3809111"/>
                  </a:lnTo>
                  <a:lnTo>
                    <a:pt x="6712712" y="3819652"/>
                  </a:lnTo>
                  <a:lnTo>
                    <a:pt x="6729984" y="3829431"/>
                  </a:lnTo>
                  <a:lnTo>
                    <a:pt x="6748780" y="3839210"/>
                  </a:lnTo>
                  <a:lnTo>
                    <a:pt x="6764655" y="3847465"/>
                  </a:lnTo>
                  <a:lnTo>
                    <a:pt x="6783451" y="3855720"/>
                  </a:lnTo>
                  <a:lnTo>
                    <a:pt x="6800088" y="3863213"/>
                  </a:lnTo>
                  <a:lnTo>
                    <a:pt x="6817360" y="3869944"/>
                  </a:lnTo>
                  <a:lnTo>
                    <a:pt x="6835394" y="3877437"/>
                  </a:lnTo>
                  <a:lnTo>
                    <a:pt x="6852031" y="3883406"/>
                  </a:lnTo>
                  <a:lnTo>
                    <a:pt x="6869303" y="3888740"/>
                  </a:lnTo>
                  <a:lnTo>
                    <a:pt x="6887337" y="3894709"/>
                  </a:lnTo>
                  <a:lnTo>
                    <a:pt x="6904609" y="3898519"/>
                  </a:lnTo>
                  <a:lnTo>
                    <a:pt x="6921246" y="3901567"/>
                  </a:lnTo>
                  <a:lnTo>
                    <a:pt x="6938518" y="3905377"/>
                  </a:lnTo>
                  <a:lnTo>
                    <a:pt x="6957314" y="3909187"/>
                  </a:lnTo>
                  <a:lnTo>
                    <a:pt x="6974586" y="3911473"/>
                  </a:lnTo>
                  <a:lnTo>
                    <a:pt x="6990461" y="3913759"/>
                  </a:lnTo>
                  <a:lnTo>
                    <a:pt x="7008495" y="3916807"/>
                  </a:lnTo>
                  <a:lnTo>
                    <a:pt x="7025132" y="3918331"/>
                  </a:lnTo>
                  <a:lnTo>
                    <a:pt x="7049262" y="3919855"/>
                  </a:lnTo>
                  <a:lnTo>
                    <a:pt x="7074154" y="3919093"/>
                  </a:lnTo>
                  <a:lnTo>
                    <a:pt x="7094474" y="3919855"/>
                  </a:lnTo>
                  <a:lnTo>
                    <a:pt x="7164578" y="3919093"/>
                  </a:lnTo>
                  <a:lnTo>
                    <a:pt x="7233920" y="3919093"/>
                  </a:lnTo>
                  <a:lnTo>
                    <a:pt x="7303262" y="3919093"/>
                  </a:lnTo>
                  <a:lnTo>
                    <a:pt x="7372604" y="3919093"/>
                  </a:lnTo>
                  <a:lnTo>
                    <a:pt x="7440422" y="3919093"/>
                  </a:lnTo>
                  <a:lnTo>
                    <a:pt x="7511288" y="3919093"/>
                  </a:lnTo>
                  <a:lnTo>
                    <a:pt x="7580630" y="3919093"/>
                  </a:lnTo>
                  <a:lnTo>
                    <a:pt x="7649972" y="3919093"/>
                  </a:lnTo>
                  <a:lnTo>
                    <a:pt x="7719314" y="3919093"/>
                  </a:lnTo>
                  <a:lnTo>
                    <a:pt x="7789418" y="3919855"/>
                  </a:lnTo>
                  <a:lnTo>
                    <a:pt x="7857236" y="3919855"/>
                  </a:lnTo>
                  <a:lnTo>
                    <a:pt x="7927340" y="3919093"/>
                  </a:lnTo>
                  <a:lnTo>
                    <a:pt x="7996682" y="3919093"/>
                  </a:lnTo>
                  <a:lnTo>
                    <a:pt x="8066024" y="3919093"/>
                  </a:lnTo>
                  <a:lnTo>
                    <a:pt x="8136128" y="3919855"/>
                  </a:lnTo>
                  <a:lnTo>
                    <a:pt x="8206232" y="3919093"/>
                  </a:lnTo>
                  <a:lnTo>
                    <a:pt x="8274050" y="3919093"/>
                  </a:lnTo>
                  <a:lnTo>
                    <a:pt x="8343392" y="3919093"/>
                  </a:lnTo>
                  <a:lnTo>
                    <a:pt x="8384794" y="3919855"/>
                  </a:lnTo>
                  <a:lnTo>
                    <a:pt x="8399907" y="3919855"/>
                  </a:lnTo>
                  <a:lnTo>
                    <a:pt x="8412734" y="3919093"/>
                  </a:lnTo>
                  <a:lnTo>
                    <a:pt x="8430768" y="3920617"/>
                  </a:lnTo>
                  <a:lnTo>
                    <a:pt x="8447405" y="3922141"/>
                  </a:lnTo>
                  <a:lnTo>
                    <a:pt x="8464804" y="3924427"/>
                  </a:lnTo>
                  <a:lnTo>
                    <a:pt x="8481441" y="3925951"/>
                  </a:lnTo>
                  <a:lnTo>
                    <a:pt x="8499475" y="3928999"/>
                  </a:lnTo>
                  <a:lnTo>
                    <a:pt x="8517509" y="3932047"/>
                  </a:lnTo>
                  <a:lnTo>
                    <a:pt x="8534908" y="3935857"/>
                  </a:lnTo>
                  <a:lnTo>
                    <a:pt x="8551545" y="3938905"/>
                  </a:lnTo>
                  <a:lnTo>
                    <a:pt x="8568817" y="3944239"/>
                  </a:lnTo>
                  <a:lnTo>
                    <a:pt x="8586851" y="3948811"/>
                  </a:lnTo>
                  <a:lnTo>
                    <a:pt x="8604123" y="3954145"/>
                  </a:lnTo>
                  <a:lnTo>
                    <a:pt x="8620760" y="3960114"/>
                  </a:lnTo>
                  <a:lnTo>
                    <a:pt x="8639556" y="3966845"/>
                  </a:lnTo>
                  <a:lnTo>
                    <a:pt x="8656193" y="3974338"/>
                  </a:lnTo>
                  <a:lnTo>
                    <a:pt x="8672830" y="3981831"/>
                  </a:lnTo>
                  <a:lnTo>
                    <a:pt x="8689467" y="3989324"/>
                  </a:lnTo>
                  <a:lnTo>
                    <a:pt x="8709025" y="3998341"/>
                  </a:lnTo>
                  <a:lnTo>
                    <a:pt x="8726424" y="4008120"/>
                  </a:lnTo>
                  <a:lnTo>
                    <a:pt x="8743061" y="4017137"/>
                  </a:lnTo>
                  <a:lnTo>
                    <a:pt x="8761095" y="4027678"/>
                  </a:lnTo>
                  <a:lnTo>
                    <a:pt x="8778494" y="4040505"/>
                  </a:lnTo>
                  <a:lnTo>
                    <a:pt x="8795766" y="4051808"/>
                  </a:lnTo>
                  <a:lnTo>
                    <a:pt x="8813038" y="4064635"/>
                  </a:lnTo>
                  <a:lnTo>
                    <a:pt x="8829675" y="4078224"/>
                  </a:lnTo>
                  <a:lnTo>
                    <a:pt x="8846947" y="4094099"/>
                  </a:lnTo>
                  <a:lnTo>
                    <a:pt x="8864981" y="4109212"/>
                  </a:lnTo>
                  <a:lnTo>
                    <a:pt x="8882253" y="4126484"/>
                  </a:lnTo>
                  <a:lnTo>
                    <a:pt x="8898890" y="4143121"/>
                  </a:lnTo>
                  <a:lnTo>
                    <a:pt x="8917686" y="4164965"/>
                  </a:lnTo>
                  <a:lnTo>
                    <a:pt x="8935720" y="4186047"/>
                  </a:lnTo>
                  <a:lnTo>
                    <a:pt x="8952357" y="4208653"/>
                  </a:lnTo>
                  <a:lnTo>
                    <a:pt x="8967470" y="4231259"/>
                  </a:lnTo>
                  <a:lnTo>
                    <a:pt x="8988552" y="4262882"/>
                  </a:lnTo>
                  <a:lnTo>
                    <a:pt x="9006586" y="4296029"/>
                  </a:lnTo>
                  <a:lnTo>
                    <a:pt x="9023223" y="4330700"/>
                  </a:lnTo>
                  <a:lnTo>
                    <a:pt x="9037574" y="4364609"/>
                  </a:lnTo>
                  <a:lnTo>
                    <a:pt x="9047353" y="4393946"/>
                  </a:lnTo>
                  <a:lnTo>
                    <a:pt x="9057894" y="4425569"/>
                  </a:lnTo>
                  <a:lnTo>
                    <a:pt x="9066149" y="4456430"/>
                  </a:lnTo>
                  <a:lnTo>
                    <a:pt x="9072880" y="4487291"/>
                  </a:lnTo>
                  <a:lnTo>
                    <a:pt x="9078214" y="4519676"/>
                  </a:lnTo>
                  <a:lnTo>
                    <a:pt x="9082024" y="4552061"/>
                  </a:lnTo>
                  <a:lnTo>
                    <a:pt x="9085072" y="4585208"/>
                  </a:lnTo>
                  <a:lnTo>
                    <a:pt x="9084310" y="4619117"/>
                  </a:lnTo>
                  <a:lnTo>
                    <a:pt x="9085072" y="4653026"/>
                  </a:lnTo>
                  <a:lnTo>
                    <a:pt x="9082024" y="4686173"/>
                  </a:lnTo>
                  <a:lnTo>
                    <a:pt x="9077452" y="4717796"/>
                  </a:lnTo>
                  <a:lnTo>
                    <a:pt x="9072880" y="4750943"/>
                  </a:lnTo>
                  <a:lnTo>
                    <a:pt x="9066149" y="4781804"/>
                  </a:lnTo>
                  <a:lnTo>
                    <a:pt x="9057894" y="4812665"/>
                  </a:lnTo>
                  <a:lnTo>
                    <a:pt x="9048115" y="4843526"/>
                  </a:lnTo>
                  <a:lnTo>
                    <a:pt x="9037574" y="4873625"/>
                  </a:lnTo>
                  <a:lnTo>
                    <a:pt x="9022461" y="4908296"/>
                  </a:lnTo>
                  <a:lnTo>
                    <a:pt x="9006586" y="4942205"/>
                  </a:lnTo>
                  <a:lnTo>
                    <a:pt x="8988552" y="4975352"/>
                  </a:lnTo>
                  <a:lnTo>
                    <a:pt x="8967470" y="5006975"/>
                  </a:lnTo>
                  <a:lnTo>
                    <a:pt x="8952357" y="5029581"/>
                  </a:lnTo>
                  <a:lnTo>
                    <a:pt x="8935720" y="5052187"/>
                  </a:lnTo>
                  <a:lnTo>
                    <a:pt x="8917686" y="5073269"/>
                  </a:lnTo>
                  <a:lnTo>
                    <a:pt x="8899652" y="5094351"/>
                  </a:lnTo>
                  <a:lnTo>
                    <a:pt x="8882380" y="5111623"/>
                  </a:lnTo>
                  <a:lnTo>
                    <a:pt x="8865743" y="5128260"/>
                  </a:lnTo>
                  <a:lnTo>
                    <a:pt x="8846947" y="5144135"/>
                  </a:lnTo>
                  <a:lnTo>
                    <a:pt x="8829675" y="5160010"/>
                  </a:lnTo>
                  <a:lnTo>
                    <a:pt x="8813038" y="5173599"/>
                  </a:lnTo>
                  <a:lnTo>
                    <a:pt x="8795766" y="5186426"/>
                  </a:lnTo>
                  <a:lnTo>
                    <a:pt x="8778494" y="5197729"/>
                  </a:lnTo>
                  <a:lnTo>
                    <a:pt x="8761222" y="5210556"/>
                  </a:lnTo>
                  <a:lnTo>
                    <a:pt x="8743188" y="5221097"/>
                  </a:lnTo>
                  <a:lnTo>
                    <a:pt x="8726551" y="5230114"/>
                  </a:lnTo>
                  <a:lnTo>
                    <a:pt x="8709152" y="5239893"/>
                  </a:lnTo>
                  <a:lnTo>
                    <a:pt x="8690356" y="5248148"/>
                  </a:lnTo>
                  <a:lnTo>
                    <a:pt x="8673719" y="5257165"/>
                  </a:lnTo>
                  <a:lnTo>
                    <a:pt x="8656447" y="5263896"/>
                  </a:lnTo>
                  <a:lnTo>
                    <a:pt x="8639810" y="5271389"/>
                  </a:lnTo>
                  <a:lnTo>
                    <a:pt x="8621776" y="5277358"/>
                  </a:lnTo>
                  <a:lnTo>
                    <a:pt x="8605139" y="5283327"/>
                  </a:lnTo>
                  <a:lnTo>
                    <a:pt x="8587867" y="5288661"/>
                  </a:lnTo>
                  <a:lnTo>
                    <a:pt x="8569833" y="5293233"/>
                  </a:lnTo>
                  <a:lnTo>
                    <a:pt x="8552434" y="5298567"/>
                  </a:lnTo>
                  <a:lnTo>
                    <a:pt x="8535162" y="5302377"/>
                  </a:lnTo>
                  <a:lnTo>
                    <a:pt x="8517890" y="5306187"/>
                  </a:lnTo>
                  <a:lnTo>
                    <a:pt x="8499856" y="5309235"/>
                  </a:lnTo>
                  <a:lnTo>
                    <a:pt x="8482584" y="5311521"/>
                  </a:lnTo>
                  <a:lnTo>
                    <a:pt x="8465312" y="5313807"/>
                  </a:lnTo>
                  <a:lnTo>
                    <a:pt x="8448675" y="5315331"/>
                  </a:lnTo>
                  <a:lnTo>
                    <a:pt x="8431403" y="5317617"/>
                  </a:lnTo>
                  <a:lnTo>
                    <a:pt x="8414131" y="5318379"/>
                  </a:lnTo>
                  <a:lnTo>
                    <a:pt x="8400542" y="5318379"/>
                  </a:lnTo>
                  <a:lnTo>
                    <a:pt x="8385429" y="5318379"/>
                  </a:lnTo>
                  <a:lnTo>
                    <a:pt x="8344789" y="5318379"/>
                  </a:lnTo>
                  <a:lnTo>
                    <a:pt x="8275447" y="5319903"/>
                  </a:lnTo>
                  <a:lnTo>
                    <a:pt x="8205343" y="5319141"/>
                  </a:lnTo>
                  <a:lnTo>
                    <a:pt x="8136763" y="5318379"/>
                  </a:lnTo>
                  <a:lnTo>
                    <a:pt x="8067421" y="5318379"/>
                  </a:lnTo>
                  <a:lnTo>
                    <a:pt x="7998079" y="5318379"/>
                  </a:lnTo>
                  <a:lnTo>
                    <a:pt x="7927213" y="5318379"/>
                  </a:lnTo>
                  <a:lnTo>
                    <a:pt x="7858633" y="5319141"/>
                  </a:lnTo>
                  <a:lnTo>
                    <a:pt x="7790053" y="5318379"/>
                  </a:lnTo>
                  <a:lnTo>
                    <a:pt x="7720711" y="5318379"/>
                  </a:lnTo>
                  <a:lnTo>
                    <a:pt x="7651369" y="5318379"/>
                  </a:lnTo>
                  <a:lnTo>
                    <a:pt x="7582027" y="5318379"/>
                  </a:lnTo>
                  <a:lnTo>
                    <a:pt x="7511161" y="5318379"/>
                  </a:lnTo>
                  <a:lnTo>
                    <a:pt x="7442581" y="5319141"/>
                  </a:lnTo>
                  <a:lnTo>
                    <a:pt x="7374001" y="5318379"/>
                  </a:lnTo>
                  <a:lnTo>
                    <a:pt x="7304659" y="5318379"/>
                  </a:lnTo>
                  <a:lnTo>
                    <a:pt x="7235317" y="5318379"/>
                  </a:lnTo>
                  <a:lnTo>
                    <a:pt x="7164451" y="5318379"/>
                  </a:lnTo>
                  <a:lnTo>
                    <a:pt x="7095109" y="5318379"/>
                  </a:lnTo>
                  <a:lnTo>
                    <a:pt x="7026529" y="5319141"/>
                  </a:lnTo>
                  <a:lnTo>
                    <a:pt x="6957949" y="5318379"/>
                  </a:lnTo>
                  <a:lnTo>
                    <a:pt x="6888607" y="5318379"/>
                  </a:lnTo>
                  <a:lnTo>
                    <a:pt x="6818503" y="5317617"/>
                  </a:lnTo>
                  <a:lnTo>
                    <a:pt x="6748399" y="5318379"/>
                  </a:lnTo>
                  <a:lnTo>
                    <a:pt x="6679057" y="5318379"/>
                  </a:lnTo>
                  <a:lnTo>
                    <a:pt x="6610477" y="5319141"/>
                  </a:lnTo>
                  <a:lnTo>
                    <a:pt x="6541897" y="5318379"/>
                  </a:lnTo>
                  <a:lnTo>
                    <a:pt x="6471793" y="5317617"/>
                  </a:lnTo>
                  <a:lnTo>
                    <a:pt x="6401689" y="5318379"/>
                  </a:lnTo>
                  <a:lnTo>
                    <a:pt x="6332347" y="5318379"/>
                  </a:lnTo>
                  <a:lnTo>
                    <a:pt x="6263767" y="5319141"/>
                  </a:lnTo>
                  <a:lnTo>
                    <a:pt x="6194425" y="5319141"/>
                  </a:lnTo>
                  <a:lnTo>
                    <a:pt x="6125083" y="5317617"/>
                  </a:lnTo>
                  <a:lnTo>
                    <a:pt x="6055741" y="5317617"/>
                  </a:lnTo>
                  <a:lnTo>
                    <a:pt x="5985637" y="5318379"/>
                  </a:lnTo>
                  <a:lnTo>
                    <a:pt x="5916295" y="5318379"/>
                  </a:lnTo>
                  <a:lnTo>
                    <a:pt x="5847715" y="5319141"/>
                  </a:lnTo>
                  <a:lnTo>
                    <a:pt x="5778373" y="5319141"/>
                  </a:lnTo>
                  <a:lnTo>
                    <a:pt x="5709031" y="5317617"/>
                  </a:lnTo>
                  <a:lnTo>
                    <a:pt x="5638927" y="5318379"/>
                  </a:lnTo>
                  <a:lnTo>
                    <a:pt x="5586222" y="5318379"/>
                  </a:lnTo>
                  <a:lnTo>
                    <a:pt x="5578729" y="5318379"/>
                  </a:lnTo>
                  <a:lnTo>
                    <a:pt x="5569712" y="5318379"/>
                  </a:lnTo>
                  <a:lnTo>
                    <a:pt x="5552440" y="5319141"/>
                  </a:lnTo>
                  <a:lnTo>
                    <a:pt x="5535168" y="5321427"/>
                  </a:lnTo>
                  <a:lnTo>
                    <a:pt x="5517134" y="5321427"/>
                  </a:lnTo>
                  <a:lnTo>
                    <a:pt x="5499862" y="5323713"/>
                  </a:lnTo>
                  <a:lnTo>
                    <a:pt x="5483225" y="5325237"/>
                  </a:lnTo>
                  <a:lnTo>
                    <a:pt x="5465191" y="5328285"/>
                  </a:lnTo>
                  <a:lnTo>
                    <a:pt x="5448554" y="5332857"/>
                  </a:lnTo>
                  <a:lnTo>
                    <a:pt x="5431282" y="5336667"/>
                  </a:lnTo>
                  <a:lnTo>
                    <a:pt x="5414645" y="5339715"/>
                  </a:lnTo>
                  <a:lnTo>
                    <a:pt x="5396611" y="5344287"/>
                  </a:lnTo>
                  <a:lnTo>
                    <a:pt x="5379974" y="5350256"/>
                  </a:lnTo>
                  <a:lnTo>
                    <a:pt x="5361940" y="5354828"/>
                  </a:lnTo>
                  <a:lnTo>
                    <a:pt x="5344668" y="5361559"/>
                  </a:lnTo>
                  <a:lnTo>
                    <a:pt x="5326634" y="5369052"/>
                  </a:lnTo>
                  <a:lnTo>
                    <a:pt x="5309362" y="5375783"/>
                  </a:lnTo>
                  <a:lnTo>
                    <a:pt x="5292725" y="5383276"/>
                  </a:lnTo>
                  <a:lnTo>
                    <a:pt x="5273929" y="5391531"/>
                  </a:lnTo>
                  <a:lnTo>
                    <a:pt x="5257292" y="5400548"/>
                  </a:lnTo>
                  <a:lnTo>
                    <a:pt x="5240020" y="5410327"/>
                  </a:lnTo>
                  <a:lnTo>
                    <a:pt x="5223383" y="5419344"/>
                  </a:lnTo>
                  <a:lnTo>
                    <a:pt x="5206111" y="5432171"/>
                  </a:lnTo>
                  <a:lnTo>
                    <a:pt x="5188839" y="5443474"/>
                  </a:lnTo>
                  <a:lnTo>
                    <a:pt x="5170805" y="5455539"/>
                  </a:lnTo>
                  <a:lnTo>
                    <a:pt x="5154168" y="5469128"/>
                  </a:lnTo>
                  <a:lnTo>
                    <a:pt x="5136134" y="5482717"/>
                  </a:lnTo>
                  <a:lnTo>
                    <a:pt x="5118100" y="5499354"/>
                  </a:lnTo>
                  <a:lnTo>
                    <a:pt x="5102225" y="5515229"/>
                  </a:lnTo>
                  <a:lnTo>
                    <a:pt x="5085588" y="5531866"/>
                  </a:lnTo>
                  <a:lnTo>
                    <a:pt x="5066792" y="5550662"/>
                  </a:lnTo>
                  <a:lnTo>
                    <a:pt x="5047996" y="5572506"/>
                  </a:lnTo>
                  <a:lnTo>
                    <a:pt x="5031359" y="5593588"/>
                  </a:lnTo>
                  <a:lnTo>
                    <a:pt x="5015484" y="5615432"/>
                  </a:lnTo>
                  <a:lnTo>
                    <a:pt x="4995926" y="5644007"/>
                  </a:lnTo>
                  <a:lnTo>
                    <a:pt x="4977892" y="5675630"/>
                  </a:lnTo>
                  <a:lnTo>
                    <a:pt x="4960620" y="5704967"/>
                  </a:lnTo>
                  <a:lnTo>
                    <a:pt x="4947031" y="5738114"/>
                  </a:lnTo>
                  <a:lnTo>
                    <a:pt x="4933442" y="5769737"/>
                  </a:lnTo>
                  <a:lnTo>
                    <a:pt x="4921377" y="5802884"/>
                  </a:lnTo>
                  <a:lnTo>
                    <a:pt x="4910836" y="5837555"/>
                  </a:lnTo>
                  <a:lnTo>
                    <a:pt x="4902581" y="5872988"/>
                  </a:lnTo>
                  <a:lnTo>
                    <a:pt x="4897247" y="5908421"/>
                  </a:lnTo>
                  <a:lnTo>
                    <a:pt x="4891278" y="5944616"/>
                  </a:lnTo>
                  <a:lnTo>
                    <a:pt x="4888230" y="5980811"/>
                  </a:lnTo>
                  <a:lnTo>
                    <a:pt x="4887468" y="6017768"/>
                  </a:lnTo>
                  <a:lnTo>
                    <a:pt x="4888992" y="6055487"/>
                  </a:lnTo>
                  <a:lnTo>
                    <a:pt x="4892802" y="6092444"/>
                  </a:lnTo>
                  <a:lnTo>
                    <a:pt x="4896612" y="6127877"/>
                  </a:lnTo>
                  <a:lnTo>
                    <a:pt x="4904105" y="6164072"/>
                  </a:lnTo>
                  <a:lnTo>
                    <a:pt x="4910836" y="6197981"/>
                  </a:lnTo>
                  <a:lnTo>
                    <a:pt x="4921377" y="6232652"/>
                  </a:lnTo>
                  <a:lnTo>
                    <a:pt x="4932680" y="6266561"/>
                  </a:lnTo>
                  <a:lnTo>
                    <a:pt x="4946269" y="6298184"/>
                  </a:lnTo>
                  <a:lnTo>
                    <a:pt x="4960620" y="6330569"/>
                  </a:lnTo>
                  <a:lnTo>
                    <a:pt x="4977892" y="6362954"/>
                  </a:lnTo>
                  <a:lnTo>
                    <a:pt x="4995926" y="6391656"/>
                  </a:lnTo>
                  <a:lnTo>
                    <a:pt x="5015484" y="6420231"/>
                  </a:lnTo>
                  <a:lnTo>
                    <a:pt x="5031359" y="6442075"/>
                  </a:lnTo>
                  <a:lnTo>
                    <a:pt x="5048631" y="6465443"/>
                  </a:lnTo>
                  <a:lnTo>
                    <a:pt x="5066665" y="6485001"/>
                  </a:lnTo>
                  <a:lnTo>
                    <a:pt x="5084699" y="6504559"/>
                  </a:lnTo>
                  <a:lnTo>
                    <a:pt x="5101336" y="6521196"/>
                  </a:lnTo>
                  <a:lnTo>
                    <a:pt x="5119370" y="6537833"/>
                  </a:lnTo>
                  <a:lnTo>
                    <a:pt x="5136007" y="6552946"/>
                  </a:lnTo>
                  <a:lnTo>
                    <a:pt x="5154803" y="6567297"/>
                  </a:lnTo>
                  <a:lnTo>
                    <a:pt x="5170678" y="6580124"/>
                  </a:lnTo>
                  <a:lnTo>
                    <a:pt x="5188077" y="6592951"/>
                  </a:lnTo>
                  <a:lnTo>
                    <a:pt x="5205349" y="6605778"/>
                  </a:lnTo>
                  <a:lnTo>
                    <a:pt x="5223383" y="6616319"/>
                  </a:lnTo>
                  <a:lnTo>
                    <a:pt x="5240020" y="6625336"/>
                  </a:lnTo>
                  <a:lnTo>
                    <a:pt x="5257292" y="6635115"/>
                  </a:lnTo>
                  <a:lnTo>
                    <a:pt x="5275326" y="6645656"/>
                  </a:lnTo>
                  <a:lnTo>
                    <a:pt x="5293360" y="6653149"/>
                  </a:lnTo>
                  <a:lnTo>
                    <a:pt x="5309997" y="6660642"/>
                  </a:lnTo>
                  <a:lnTo>
                    <a:pt x="5327269" y="6668897"/>
                  </a:lnTo>
                  <a:lnTo>
                    <a:pt x="5344541" y="6674231"/>
                  </a:lnTo>
                  <a:lnTo>
                    <a:pt x="5361813" y="6680962"/>
                  </a:lnTo>
                  <a:lnTo>
                    <a:pt x="5379085" y="6686296"/>
                  </a:lnTo>
                  <a:lnTo>
                    <a:pt x="5396357" y="6691630"/>
                  </a:lnTo>
                  <a:lnTo>
                    <a:pt x="5413629" y="6696964"/>
                  </a:lnTo>
                  <a:lnTo>
                    <a:pt x="5431663" y="6700012"/>
                  </a:lnTo>
                  <a:lnTo>
                    <a:pt x="5448300" y="6703060"/>
                  </a:lnTo>
                  <a:lnTo>
                    <a:pt x="5464937" y="6707632"/>
                  </a:lnTo>
                  <a:lnTo>
                    <a:pt x="5482971" y="6710680"/>
                  </a:lnTo>
                  <a:lnTo>
                    <a:pt x="5501005" y="6713728"/>
                  </a:lnTo>
                  <a:lnTo>
                    <a:pt x="5517642" y="6715252"/>
                  </a:lnTo>
                  <a:lnTo>
                    <a:pt x="5534914" y="6717538"/>
                  </a:lnTo>
                  <a:lnTo>
                    <a:pt x="5552948" y="6717538"/>
                  </a:lnTo>
                  <a:lnTo>
                    <a:pt x="5569585" y="6717538"/>
                  </a:lnTo>
                  <a:lnTo>
                    <a:pt x="5579364" y="6718300"/>
                  </a:lnTo>
                  <a:lnTo>
                    <a:pt x="5586857" y="6718300"/>
                  </a:lnTo>
                  <a:lnTo>
                    <a:pt x="5639562" y="6718300"/>
                  </a:lnTo>
                  <a:lnTo>
                    <a:pt x="5708904" y="6718300"/>
                  </a:lnTo>
                  <a:lnTo>
                    <a:pt x="5777484" y="6719062"/>
                  </a:lnTo>
                  <a:lnTo>
                    <a:pt x="5847588" y="6718300"/>
                  </a:lnTo>
                  <a:lnTo>
                    <a:pt x="5916168" y="6717538"/>
                  </a:lnTo>
                  <a:lnTo>
                    <a:pt x="5986272" y="6718300"/>
                  </a:lnTo>
                  <a:lnTo>
                    <a:pt x="6055614" y="6718300"/>
                  </a:lnTo>
                  <a:lnTo>
                    <a:pt x="6124956" y="6718300"/>
                  </a:lnTo>
                  <a:lnTo>
                    <a:pt x="6193536" y="6719062"/>
                  </a:lnTo>
                  <a:lnTo>
                    <a:pt x="6263640" y="6718300"/>
                  </a:lnTo>
                  <a:lnTo>
                    <a:pt x="6332220" y="6717538"/>
                  </a:lnTo>
                  <a:lnTo>
                    <a:pt x="6402324" y="6718300"/>
                  </a:lnTo>
                  <a:lnTo>
                    <a:pt x="6471666" y="6718300"/>
                  </a:lnTo>
                  <a:lnTo>
                    <a:pt x="6541770" y="6717538"/>
                  </a:lnTo>
                  <a:lnTo>
                    <a:pt x="6610350" y="6718300"/>
                  </a:lnTo>
                  <a:lnTo>
                    <a:pt x="6680454" y="6719062"/>
                  </a:lnTo>
                  <a:lnTo>
                    <a:pt x="6749034" y="6718300"/>
                  </a:lnTo>
                  <a:lnTo>
                    <a:pt x="6818376" y="6718300"/>
                  </a:lnTo>
                  <a:lnTo>
                    <a:pt x="6887718" y="6718300"/>
                  </a:lnTo>
                  <a:lnTo>
                    <a:pt x="6957822" y="6717538"/>
                  </a:lnTo>
                  <a:lnTo>
                    <a:pt x="7027164" y="6719062"/>
                  </a:lnTo>
                  <a:lnTo>
                    <a:pt x="7096506" y="6719062"/>
                  </a:lnTo>
                  <a:lnTo>
                    <a:pt x="7165086" y="6718300"/>
                  </a:lnTo>
                  <a:lnTo>
                    <a:pt x="7234428" y="6718300"/>
                  </a:lnTo>
                  <a:lnTo>
                    <a:pt x="7304532" y="6717538"/>
                  </a:lnTo>
                  <a:lnTo>
                    <a:pt x="7374636" y="6718300"/>
                  </a:lnTo>
                  <a:lnTo>
                    <a:pt x="7443216" y="6719062"/>
                  </a:lnTo>
                  <a:lnTo>
                    <a:pt x="7511796" y="6718300"/>
                  </a:lnTo>
                  <a:lnTo>
                    <a:pt x="7581138" y="6718300"/>
                  </a:lnTo>
                  <a:lnTo>
                    <a:pt x="7650480" y="6718300"/>
                  </a:lnTo>
                  <a:lnTo>
                    <a:pt x="7721346" y="6718300"/>
                  </a:lnTo>
                  <a:lnTo>
                    <a:pt x="7789926" y="6719062"/>
                  </a:lnTo>
                  <a:lnTo>
                    <a:pt x="7859268" y="6719062"/>
                  </a:lnTo>
                  <a:lnTo>
                    <a:pt x="7927848" y="6718300"/>
                  </a:lnTo>
                  <a:lnTo>
                    <a:pt x="7997190" y="6718300"/>
                  </a:lnTo>
                  <a:lnTo>
                    <a:pt x="8067294" y="6717538"/>
                  </a:lnTo>
                  <a:lnTo>
                    <a:pt x="8137398" y="6718300"/>
                  </a:lnTo>
                  <a:lnTo>
                    <a:pt x="8205978" y="6719062"/>
                  </a:lnTo>
                  <a:lnTo>
                    <a:pt x="8275320" y="6719062"/>
                  </a:lnTo>
                  <a:lnTo>
                    <a:pt x="8343900" y="6718300"/>
                  </a:lnTo>
                  <a:lnTo>
                    <a:pt x="8413242" y="6718300"/>
                  </a:lnTo>
                  <a:lnTo>
                    <a:pt x="8484108" y="6718300"/>
                  </a:lnTo>
                  <a:lnTo>
                    <a:pt x="8553450" y="6718300"/>
                  </a:lnTo>
                  <a:lnTo>
                    <a:pt x="8622030" y="6719062"/>
                  </a:lnTo>
                  <a:lnTo>
                    <a:pt x="8691372" y="6719062"/>
                  </a:lnTo>
                  <a:lnTo>
                    <a:pt x="8759952" y="6718300"/>
                  </a:lnTo>
                  <a:lnTo>
                    <a:pt x="8830818" y="6718300"/>
                  </a:lnTo>
                  <a:lnTo>
                    <a:pt x="8900160" y="6718300"/>
                  </a:lnTo>
                  <a:lnTo>
                    <a:pt x="8969502" y="6718300"/>
                  </a:lnTo>
                  <a:lnTo>
                    <a:pt x="9038082" y="6719062"/>
                  </a:lnTo>
                  <a:lnTo>
                    <a:pt x="9108186" y="6719824"/>
                  </a:lnTo>
                  <a:lnTo>
                    <a:pt x="9176766" y="6719062"/>
                  </a:lnTo>
                  <a:lnTo>
                    <a:pt x="9246870" y="6718300"/>
                  </a:lnTo>
                  <a:lnTo>
                    <a:pt x="9316212" y="6718300"/>
                  </a:lnTo>
                  <a:lnTo>
                    <a:pt x="9384792" y="6719062"/>
                  </a:lnTo>
                  <a:lnTo>
                    <a:pt x="9454896" y="6719824"/>
                  </a:lnTo>
                  <a:lnTo>
                    <a:pt x="9523476" y="6719062"/>
                  </a:lnTo>
                  <a:lnTo>
                    <a:pt x="9593580" y="6718300"/>
                  </a:lnTo>
                  <a:lnTo>
                    <a:pt x="9662922" y="6718300"/>
                  </a:lnTo>
                  <a:lnTo>
                    <a:pt x="9732264" y="6718300"/>
                  </a:lnTo>
                  <a:lnTo>
                    <a:pt x="9800844" y="6719062"/>
                  </a:lnTo>
                  <a:lnTo>
                    <a:pt x="9870948" y="6719824"/>
                  </a:lnTo>
                  <a:lnTo>
                    <a:pt x="9939528" y="6719062"/>
                  </a:lnTo>
                  <a:lnTo>
                    <a:pt x="10009632" y="6718300"/>
                  </a:lnTo>
                  <a:lnTo>
                    <a:pt x="10077577" y="6718300"/>
                  </a:lnTo>
                  <a:lnTo>
                    <a:pt x="10146919" y="6718300"/>
                  </a:lnTo>
                  <a:lnTo>
                    <a:pt x="10216261" y="6719824"/>
                  </a:lnTo>
                  <a:lnTo>
                    <a:pt x="10285603" y="6719824"/>
                  </a:lnTo>
                  <a:lnTo>
                    <a:pt x="10309733" y="6718300"/>
                  </a:lnTo>
                  <a:lnTo>
                    <a:pt x="10333101" y="6719062"/>
                  </a:lnTo>
                  <a:lnTo>
                    <a:pt x="10354183" y="6720586"/>
                  </a:lnTo>
                  <a:lnTo>
                    <a:pt x="10372979" y="6721348"/>
                  </a:lnTo>
                  <a:lnTo>
                    <a:pt x="10389616" y="6722872"/>
                  </a:lnTo>
                  <a:lnTo>
                    <a:pt x="10407650" y="6725920"/>
                  </a:lnTo>
                  <a:lnTo>
                    <a:pt x="10424287" y="6727444"/>
                  </a:lnTo>
                  <a:lnTo>
                    <a:pt x="10442321" y="6730492"/>
                  </a:lnTo>
                  <a:lnTo>
                    <a:pt x="10458958" y="6735064"/>
                  </a:lnTo>
                  <a:lnTo>
                    <a:pt x="10476992" y="6739636"/>
                  </a:lnTo>
                  <a:lnTo>
                    <a:pt x="10494264" y="6743446"/>
                  </a:lnTo>
                  <a:lnTo>
                    <a:pt x="10510901" y="6749415"/>
                  </a:lnTo>
                  <a:lnTo>
                    <a:pt x="10528935" y="6753987"/>
                  </a:lnTo>
                  <a:lnTo>
                    <a:pt x="10546969" y="6759956"/>
                  </a:lnTo>
                  <a:lnTo>
                    <a:pt x="10562844" y="6766687"/>
                  </a:lnTo>
                  <a:lnTo>
                    <a:pt x="10580243" y="6773418"/>
                  </a:lnTo>
                  <a:lnTo>
                    <a:pt x="10598277" y="6782435"/>
                  </a:lnTo>
                  <a:lnTo>
                    <a:pt x="10615676" y="6789166"/>
                  </a:lnTo>
                  <a:lnTo>
                    <a:pt x="10632948" y="6797421"/>
                  </a:lnTo>
                  <a:lnTo>
                    <a:pt x="10650220" y="6807200"/>
                  </a:lnTo>
                  <a:lnTo>
                    <a:pt x="10668254" y="6817741"/>
                  </a:lnTo>
                  <a:lnTo>
                    <a:pt x="10684891" y="6828282"/>
                  </a:lnTo>
                  <a:lnTo>
                    <a:pt x="10700766" y="6839585"/>
                  </a:lnTo>
                  <a:lnTo>
                    <a:pt x="10719562" y="6852412"/>
                  </a:lnTo>
                  <a:lnTo>
                    <a:pt x="10737596" y="6864477"/>
                  </a:lnTo>
                  <a:lnTo>
                    <a:pt x="10753471" y="6878828"/>
                  </a:lnTo>
                  <a:lnTo>
                    <a:pt x="10771505" y="6892417"/>
                  </a:lnTo>
                  <a:lnTo>
                    <a:pt x="10789539" y="6909054"/>
                  </a:lnTo>
                  <a:lnTo>
                    <a:pt x="10807573" y="6927088"/>
                  </a:lnTo>
                  <a:lnTo>
                    <a:pt x="10823448" y="6944360"/>
                  </a:lnTo>
                  <a:lnTo>
                    <a:pt x="10840085" y="6963918"/>
                  </a:lnTo>
                  <a:lnTo>
                    <a:pt x="10859008" y="6985000"/>
                  </a:lnTo>
                  <a:lnTo>
                    <a:pt x="10877042" y="7009130"/>
                  </a:lnTo>
                  <a:lnTo>
                    <a:pt x="10893679" y="7033260"/>
                  </a:lnTo>
                  <a:lnTo>
                    <a:pt x="10910316" y="7058914"/>
                  </a:lnTo>
                  <a:lnTo>
                    <a:pt x="10929874" y="7095109"/>
                  </a:lnTo>
                  <a:lnTo>
                    <a:pt x="10949432" y="7134352"/>
                  </a:lnTo>
                  <a:lnTo>
                    <a:pt x="10958449" y="7153910"/>
                  </a:lnTo>
                  <a:lnTo>
                    <a:pt x="10964418" y="7173468"/>
                  </a:lnTo>
                  <a:lnTo>
                    <a:pt x="10971911" y="7194550"/>
                  </a:lnTo>
                  <a:lnTo>
                    <a:pt x="10978642" y="7213346"/>
                  </a:lnTo>
                  <a:lnTo>
                    <a:pt x="10986135" y="7239000"/>
                  </a:lnTo>
                  <a:lnTo>
                    <a:pt x="10992104" y="7263130"/>
                  </a:lnTo>
                  <a:lnTo>
                    <a:pt x="10996676" y="7288784"/>
                  </a:lnTo>
                  <a:lnTo>
                    <a:pt x="11001248" y="7314438"/>
                  </a:lnTo>
                  <a:lnTo>
                    <a:pt x="11003534" y="7339330"/>
                  </a:lnTo>
                  <a:lnTo>
                    <a:pt x="11006582" y="7364984"/>
                  </a:lnTo>
                  <a:lnTo>
                    <a:pt x="11008868" y="7391400"/>
                  </a:lnTo>
                  <a:lnTo>
                    <a:pt x="11008868" y="7417054"/>
                  </a:lnTo>
                  <a:lnTo>
                    <a:pt x="11008868" y="7444232"/>
                  </a:lnTo>
                  <a:lnTo>
                    <a:pt x="11006582" y="7470648"/>
                  </a:lnTo>
                  <a:lnTo>
                    <a:pt x="11005058" y="7496302"/>
                  </a:lnTo>
                  <a:lnTo>
                    <a:pt x="11002010" y="7521956"/>
                  </a:lnTo>
                  <a:lnTo>
                    <a:pt x="10997438" y="7547610"/>
                  </a:lnTo>
                  <a:lnTo>
                    <a:pt x="10992104" y="7572502"/>
                  </a:lnTo>
                  <a:lnTo>
                    <a:pt x="10986135" y="7596632"/>
                  </a:lnTo>
                  <a:lnTo>
                    <a:pt x="10978642" y="7620762"/>
                  </a:lnTo>
                  <a:lnTo>
                    <a:pt x="10972673" y="7641844"/>
                  </a:lnTo>
                  <a:lnTo>
                    <a:pt x="10965180" y="7662926"/>
                  </a:lnTo>
                  <a:lnTo>
                    <a:pt x="10957687" y="7682484"/>
                  </a:lnTo>
                  <a:lnTo>
                    <a:pt x="10948670" y="7702042"/>
                  </a:lnTo>
                  <a:lnTo>
                    <a:pt x="10930636" y="7741285"/>
                  </a:lnTo>
                  <a:lnTo>
                    <a:pt x="10910316" y="7778242"/>
                  </a:lnTo>
                  <a:lnTo>
                    <a:pt x="10893679" y="7803896"/>
                  </a:lnTo>
                  <a:lnTo>
                    <a:pt x="10877042" y="7828026"/>
                  </a:lnTo>
                  <a:lnTo>
                    <a:pt x="10859008" y="7852156"/>
                  </a:lnTo>
                  <a:lnTo>
                    <a:pt x="10840974" y="7874762"/>
                  </a:lnTo>
                  <a:lnTo>
                    <a:pt x="10824337" y="7892796"/>
                  </a:lnTo>
                  <a:lnTo>
                    <a:pt x="10807065" y="7910068"/>
                  </a:lnTo>
                  <a:lnTo>
                    <a:pt x="10789793" y="7927340"/>
                  </a:lnTo>
                  <a:lnTo>
                    <a:pt x="10770997" y="7944612"/>
                  </a:lnTo>
                  <a:lnTo>
                    <a:pt x="10754360" y="7958201"/>
                  </a:lnTo>
                  <a:lnTo>
                    <a:pt x="10737088" y="7972552"/>
                  </a:lnTo>
                  <a:lnTo>
                    <a:pt x="10719816" y="7985379"/>
                  </a:lnTo>
                  <a:lnTo>
                    <a:pt x="10702544" y="7998206"/>
                  </a:lnTo>
                  <a:lnTo>
                    <a:pt x="10685272" y="8009509"/>
                  </a:lnTo>
                  <a:lnTo>
                    <a:pt x="10668000" y="8019288"/>
                  </a:lnTo>
                  <a:lnTo>
                    <a:pt x="10650601" y="8029067"/>
                  </a:lnTo>
                  <a:lnTo>
                    <a:pt x="10632567" y="8039608"/>
                  </a:lnTo>
                  <a:lnTo>
                    <a:pt x="10616692" y="8047863"/>
                  </a:lnTo>
                  <a:lnTo>
                    <a:pt x="10599420" y="8056118"/>
                  </a:lnTo>
                  <a:lnTo>
                    <a:pt x="10580624" y="8062849"/>
                  </a:lnTo>
                  <a:lnTo>
                    <a:pt x="10563987" y="8070342"/>
                  </a:lnTo>
                  <a:lnTo>
                    <a:pt x="10545953" y="8076311"/>
                  </a:lnTo>
                  <a:lnTo>
                    <a:pt x="10529316" y="8082280"/>
                  </a:lnTo>
                  <a:lnTo>
                    <a:pt x="10512044" y="8087614"/>
                  </a:lnTo>
                  <a:lnTo>
                    <a:pt x="10494772" y="8092948"/>
                  </a:lnTo>
                  <a:lnTo>
                    <a:pt x="10476738" y="8097520"/>
                  </a:lnTo>
                  <a:lnTo>
                    <a:pt x="10459466" y="8101330"/>
                  </a:lnTo>
                  <a:lnTo>
                    <a:pt x="10442194" y="8105140"/>
                  </a:lnTo>
                  <a:lnTo>
                    <a:pt x="10424795" y="8107426"/>
                  </a:lnTo>
                  <a:lnTo>
                    <a:pt x="10408158" y="8111998"/>
                  </a:lnTo>
                  <a:lnTo>
                    <a:pt x="10391521" y="8113522"/>
                  </a:lnTo>
                  <a:lnTo>
                    <a:pt x="10372725" y="8114284"/>
                  </a:lnTo>
                  <a:lnTo>
                    <a:pt x="10356088" y="8115808"/>
                  </a:lnTo>
                  <a:lnTo>
                    <a:pt x="10331958" y="8117332"/>
                  </a:lnTo>
                  <a:lnTo>
                    <a:pt x="10309352" y="8117332"/>
                  </a:lnTo>
                  <a:lnTo>
                    <a:pt x="10285984" y="8118094"/>
                  </a:lnTo>
                  <a:lnTo>
                    <a:pt x="10216642" y="8118094"/>
                  </a:lnTo>
                  <a:lnTo>
                    <a:pt x="10147300" y="8118094"/>
                  </a:lnTo>
                  <a:lnTo>
                    <a:pt x="10078720" y="8117332"/>
                  </a:lnTo>
                  <a:lnTo>
                    <a:pt x="10008616" y="8118094"/>
                  </a:lnTo>
                  <a:lnTo>
                    <a:pt x="9940036" y="8118856"/>
                  </a:lnTo>
                  <a:lnTo>
                    <a:pt x="9869932" y="8118094"/>
                  </a:lnTo>
                  <a:lnTo>
                    <a:pt x="9800590" y="8118094"/>
                  </a:lnTo>
                  <a:lnTo>
                    <a:pt x="9732010" y="8117332"/>
                  </a:lnTo>
                  <a:lnTo>
                    <a:pt x="9662668" y="8117332"/>
                  </a:lnTo>
                  <a:lnTo>
                    <a:pt x="9591802" y="8117332"/>
                  </a:lnTo>
                  <a:lnTo>
                    <a:pt x="9523222" y="8118094"/>
                  </a:lnTo>
                  <a:lnTo>
                    <a:pt x="9453880" y="8118094"/>
                  </a:lnTo>
                  <a:lnTo>
                    <a:pt x="9384538" y="8118094"/>
                  </a:lnTo>
                  <a:lnTo>
                    <a:pt x="9315958" y="8117332"/>
                  </a:lnTo>
                  <a:lnTo>
                    <a:pt x="9245092" y="8117332"/>
                  </a:lnTo>
                  <a:lnTo>
                    <a:pt x="9175750" y="8117332"/>
                  </a:lnTo>
                  <a:lnTo>
                    <a:pt x="9107170" y="8118094"/>
                  </a:lnTo>
                  <a:lnTo>
                    <a:pt x="9037828" y="8118094"/>
                  </a:lnTo>
                  <a:lnTo>
                    <a:pt x="8967724" y="8118856"/>
                  </a:lnTo>
                  <a:lnTo>
                    <a:pt x="8899144" y="8116570"/>
                  </a:lnTo>
                  <a:lnTo>
                    <a:pt x="8829040" y="8117332"/>
                  </a:lnTo>
                  <a:lnTo>
                    <a:pt x="8759698" y="8117332"/>
                  </a:lnTo>
                  <a:lnTo>
                    <a:pt x="8691118" y="8118094"/>
                  </a:lnTo>
                  <a:lnTo>
                    <a:pt x="8621776" y="8118094"/>
                  </a:lnTo>
                  <a:lnTo>
                    <a:pt x="8550910" y="8118094"/>
                  </a:lnTo>
                  <a:lnTo>
                    <a:pt x="8482330" y="8117332"/>
                  </a:lnTo>
                  <a:lnTo>
                    <a:pt x="8412988" y="8117332"/>
                  </a:lnTo>
                  <a:lnTo>
                    <a:pt x="8344408" y="8118094"/>
                  </a:lnTo>
                  <a:lnTo>
                    <a:pt x="8275066" y="8118094"/>
                  </a:lnTo>
                  <a:lnTo>
                    <a:pt x="8204962" y="8118856"/>
                  </a:lnTo>
                  <a:lnTo>
                    <a:pt x="8134858" y="8118094"/>
                  </a:lnTo>
                  <a:lnTo>
                    <a:pt x="8066278" y="8117332"/>
                  </a:lnTo>
                  <a:lnTo>
                    <a:pt x="7996936" y="8117332"/>
                  </a:lnTo>
                  <a:lnTo>
                    <a:pt x="7928356" y="8118094"/>
                  </a:lnTo>
                  <a:lnTo>
                    <a:pt x="7859014" y="8118094"/>
                  </a:lnTo>
                  <a:lnTo>
                    <a:pt x="7788148" y="8118094"/>
                  </a:lnTo>
                  <a:lnTo>
                    <a:pt x="7719568" y="8117332"/>
                  </a:lnTo>
                  <a:lnTo>
                    <a:pt x="7650226" y="8117332"/>
                  </a:lnTo>
                  <a:lnTo>
                    <a:pt x="7580884" y="8117332"/>
                  </a:lnTo>
                  <a:lnTo>
                    <a:pt x="7512304" y="8118094"/>
                  </a:lnTo>
                  <a:lnTo>
                    <a:pt x="7441438" y="8118094"/>
                  </a:lnTo>
                  <a:lnTo>
                    <a:pt x="7372096" y="8118094"/>
                  </a:lnTo>
                  <a:lnTo>
                    <a:pt x="7303516" y="8117332"/>
                  </a:lnTo>
                  <a:lnTo>
                    <a:pt x="7234174" y="8117332"/>
                  </a:lnTo>
                  <a:lnTo>
                    <a:pt x="7164070" y="8116570"/>
                  </a:lnTo>
                  <a:lnTo>
                    <a:pt x="7095490" y="8117332"/>
                  </a:lnTo>
                  <a:lnTo>
                    <a:pt x="7025386" y="8118094"/>
                  </a:lnTo>
                  <a:lnTo>
                    <a:pt x="6956044" y="8118094"/>
                  </a:lnTo>
                  <a:lnTo>
                    <a:pt x="6887464" y="8117332"/>
                  </a:lnTo>
                  <a:lnTo>
                    <a:pt x="6817360" y="8116570"/>
                  </a:lnTo>
                  <a:lnTo>
                    <a:pt x="6748018" y="8116570"/>
                  </a:lnTo>
                  <a:lnTo>
                    <a:pt x="6678676" y="8118094"/>
                  </a:lnTo>
                  <a:lnTo>
                    <a:pt x="6609334" y="8118094"/>
                  </a:lnTo>
                  <a:lnTo>
                    <a:pt x="6539992" y="8118094"/>
                  </a:lnTo>
                  <a:lnTo>
                    <a:pt x="6471412" y="8117332"/>
                  </a:lnTo>
                  <a:lnTo>
                    <a:pt x="6460871" y="8117332"/>
                  </a:lnTo>
                  <a:lnTo>
                    <a:pt x="6445758" y="8117332"/>
                  </a:lnTo>
                  <a:lnTo>
                    <a:pt x="6430645" y="8117332"/>
                  </a:lnTo>
                  <a:lnTo>
                    <a:pt x="6417056" y="8118856"/>
                  </a:lnTo>
                  <a:lnTo>
                    <a:pt x="6401181" y="8121142"/>
                  </a:lnTo>
                  <a:lnTo>
                    <a:pt x="6383909" y="8121904"/>
                  </a:lnTo>
                  <a:lnTo>
                    <a:pt x="6366510" y="8124190"/>
                  </a:lnTo>
                  <a:lnTo>
                    <a:pt x="6349238" y="8126476"/>
                  </a:lnTo>
                  <a:lnTo>
                    <a:pt x="6332601" y="8129524"/>
                  </a:lnTo>
                  <a:lnTo>
                    <a:pt x="6313805" y="8133334"/>
                  </a:lnTo>
                  <a:lnTo>
                    <a:pt x="6296533" y="8137144"/>
                  </a:lnTo>
                  <a:lnTo>
                    <a:pt x="6279896" y="8140192"/>
                  </a:lnTo>
                  <a:lnTo>
                    <a:pt x="6263259" y="8146161"/>
                  </a:lnTo>
                  <a:lnTo>
                    <a:pt x="6245225" y="8150733"/>
                  </a:lnTo>
                  <a:lnTo>
                    <a:pt x="6227191" y="8158226"/>
                  </a:lnTo>
                  <a:lnTo>
                    <a:pt x="6209919" y="8163560"/>
                  </a:lnTo>
                  <a:lnTo>
                    <a:pt x="6193282" y="8171053"/>
                  </a:lnTo>
                  <a:lnTo>
                    <a:pt x="6176645" y="8178546"/>
                  </a:lnTo>
                  <a:lnTo>
                    <a:pt x="6157849" y="8186801"/>
                  </a:lnTo>
                  <a:lnTo>
                    <a:pt x="6140577" y="8195056"/>
                  </a:lnTo>
                  <a:lnTo>
                    <a:pt x="6124702" y="8203311"/>
                  </a:lnTo>
                  <a:lnTo>
                    <a:pt x="6106668" y="8213852"/>
                  </a:lnTo>
                  <a:lnTo>
                    <a:pt x="6088634" y="8224393"/>
                  </a:lnTo>
                  <a:lnTo>
                    <a:pt x="6071362" y="8235696"/>
                  </a:lnTo>
                  <a:lnTo>
                    <a:pt x="6055487" y="8246999"/>
                  </a:lnTo>
                  <a:lnTo>
                    <a:pt x="6037453" y="8260588"/>
                  </a:lnTo>
                  <a:lnTo>
                    <a:pt x="6019419" y="8275701"/>
                  </a:lnTo>
                  <a:lnTo>
                    <a:pt x="6002147" y="8288528"/>
                  </a:lnTo>
                  <a:lnTo>
                    <a:pt x="5985510" y="8303641"/>
                  </a:lnTo>
                  <a:lnTo>
                    <a:pt x="5967476" y="8321675"/>
                  </a:lnTo>
                  <a:lnTo>
                    <a:pt x="5950204" y="8338947"/>
                  </a:lnTo>
                  <a:lnTo>
                    <a:pt x="5932932" y="8357743"/>
                  </a:lnTo>
                  <a:lnTo>
                    <a:pt x="5917057" y="8378063"/>
                  </a:lnTo>
                  <a:lnTo>
                    <a:pt x="5896737" y="8402955"/>
                  </a:lnTo>
                  <a:lnTo>
                    <a:pt x="5878703" y="8428609"/>
                  </a:lnTo>
                  <a:lnTo>
                    <a:pt x="5862828" y="8455025"/>
                  </a:lnTo>
                  <a:lnTo>
                    <a:pt x="5846953" y="8481441"/>
                  </a:lnTo>
                  <a:lnTo>
                    <a:pt x="5836412" y="8504047"/>
                  </a:lnTo>
                  <a:lnTo>
                    <a:pt x="5825109" y="8525891"/>
                  </a:lnTo>
                  <a:lnTo>
                    <a:pt x="5815330" y="8549259"/>
                  </a:lnTo>
                  <a:lnTo>
                    <a:pt x="5806313" y="8571865"/>
                  </a:lnTo>
                  <a:lnTo>
                    <a:pt x="5797296" y="8595995"/>
                  </a:lnTo>
                  <a:lnTo>
                    <a:pt x="5790565" y="8619363"/>
                  </a:lnTo>
                  <a:lnTo>
                    <a:pt x="5783072" y="8643493"/>
                  </a:lnTo>
                  <a:lnTo>
                    <a:pt x="5777738" y="8668385"/>
                  </a:lnTo>
                  <a:lnTo>
                    <a:pt x="5771007" y="8705342"/>
                  </a:lnTo>
                  <a:lnTo>
                    <a:pt x="5766435" y="8741537"/>
                  </a:lnTo>
                  <a:lnTo>
                    <a:pt x="5762625" y="8778494"/>
                  </a:lnTo>
                  <a:lnTo>
                    <a:pt x="5761101" y="8817737"/>
                  </a:lnTo>
                  <a:lnTo>
                    <a:pt x="5762625" y="8856980"/>
                  </a:lnTo>
                  <a:lnTo>
                    <a:pt x="5765673" y="8893175"/>
                  </a:lnTo>
                  <a:lnTo>
                    <a:pt x="5771007" y="8930132"/>
                  </a:lnTo>
                  <a:lnTo>
                    <a:pt x="5777738" y="8967089"/>
                  </a:lnTo>
                  <a:lnTo>
                    <a:pt x="5783072" y="8991981"/>
                  </a:lnTo>
                  <a:lnTo>
                    <a:pt x="5789803" y="9015349"/>
                  </a:lnTo>
                  <a:lnTo>
                    <a:pt x="5797296" y="9039479"/>
                  </a:lnTo>
                  <a:lnTo>
                    <a:pt x="5806313" y="9063609"/>
                  </a:lnTo>
                  <a:lnTo>
                    <a:pt x="5815330" y="9086215"/>
                  </a:lnTo>
                  <a:lnTo>
                    <a:pt x="5824347" y="9108821"/>
                  </a:lnTo>
                  <a:lnTo>
                    <a:pt x="5836412" y="9131427"/>
                  </a:lnTo>
                  <a:lnTo>
                    <a:pt x="5846953" y="9152509"/>
                  </a:lnTo>
                  <a:lnTo>
                    <a:pt x="5863590" y="9179687"/>
                  </a:lnTo>
                  <a:lnTo>
                    <a:pt x="5878703" y="9206865"/>
                  </a:lnTo>
                  <a:lnTo>
                    <a:pt x="5896737" y="9232519"/>
                  </a:lnTo>
                  <a:lnTo>
                    <a:pt x="5916295" y="9256649"/>
                  </a:lnTo>
                  <a:lnTo>
                    <a:pt x="5932932" y="9276207"/>
                  </a:lnTo>
                  <a:lnTo>
                    <a:pt x="5949569" y="9294241"/>
                  </a:lnTo>
                  <a:lnTo>
                    <a:pt x="5966841" y="9313037"/>
                  </a:lnTo>
                  <a:lnTo>
                    <a:pt x="5985637" y="9330309"/>
                  </a:lnTo>
                  <a:lnTo>
                    <a:pt x="6002274" y="9345422"/>
                  </a:lnTo>
                  <a:lnTo>
                    <a:pt x="6019546" y="9359773"/>
                  </a:lnTo>
                  <a:lnTo>
                    <a:pt x="6037580" y="9374886"/>
                  </a:lnTo>
                  <a:lnTo>
                    <a:pt x="6055614" y="9386951"/>
                  </a:lnTo>
                  <a:lnTo>
                    <a:pt x="6070727" y="9399016"/>
                  </a:lnTo>
                  <a:lnTo>
                    <a:pt x="6088761" y="9409557"/>
                  </a:lnTo>
                  <a:lnTo>
                    <a:pt x="6106160" y="9420860"/>
                  </a:lnTo>
                  <a:lnTo>
                    <a:pt x="6124194" y="9431401"/>
                  </a:lnTo>
                  <a:lnTo>
                    <a:pt x="6140831" y="9440418"/>
                  </a:lnTo>
                  <a:lnTo>
                    <a:pt x="6158865" y="9449435"/>
                  </a:lnTo>
                  <a:lnTo>
                    <a:pt x="6176137" y="9456166"/>
                  </a:lnTo>
                  <a:lnTo>
                    <a:pt x="6193409" y="9464421"/>
                  </a:lnTo>
                  <a:lnTo>
                    <a:pt x="6210046" y="9470390"/>
                  </a:lnTo>
                  <a:lnTo>
                    <a:pt x="6228842" y="9477121"/>
                  </a:lnTo>
                  <a:lnTo>
                    <a:pt x="6245478" y="9483090"/>
                  </a:lnTo>
                  <a:lnTo>
                    <a:pt x="6263513" y="9489059"/>
                  </a:lnTo>
                  <a:lnTo>
                    <a:pt x="6280912" y="9492869"/>
                  </a:lnTo>
                  <a:lnTo>
                    <a:pt x="6298184" y="9498203"/>
                  </a:lnTo>
                  <a:lnTo>
                    <a:pt x="6314821" y="9501251"/>
                  </a:lnTo>
                  <a:lnTo>
                    <a:pt x="6332093" y="9505061"/>
                  </a:lnTo>
                  <a:lnTo>
                    <a:pt x="6350127" y="9508109"/>
                  </a:lnTo>
                  <a:lnTo>
                    <a:pt x="6368161" y="9511157"/>
                  </a:lnTo>
                  <a:lnTo>
                    <a:pt x="6384798" y="9512681"/>
                  </a:lnTo>
                  <a:lnTo>
                    <a:pt x="6402070" y="9514967"/>
                  </a:lnTo>
                  <a:lnTo>
                    <a:pt x="6417183" y="9516491"/>
                  </a:lnTo>
                  <a:lnTo>
                    <a:pt x="6432296" y="9516491"/>
                  </a:lnTo>
                  <a:lnTo>
                    <a:pt x="6445885" y="9518015"/>
                  </a:lnTo>
                  <a:lnTo>
                    <a:pt x="6461125" y="9518015"/>
                  </a:lnTo>
                  <a:lnTo>
                    <a:pt x="6471665" y="9516491"/>
                  </a:lnTo>
                  <a:lnTo>
                    <a:pt x="6540246" y="9517253"/>
                  </a:lnTo>
                  <a:lnTo>
                    <a:pt x="6610350" y="9518015"/>
                  </a:lnTo>
                  <a:lnTo>
                    <a:pt x="6679692" y="9518015"/>
                  </a:lnTo>
                  <a:lnTo>
                    <a:pt x="6749034" y="9518015"/>
                  </a:lnTo>
                  <a:lnTo>
                    <a:pt x="6818376" y="9516491"/>
                  </a:lnTo>
                  <a:lnTo>
                    <a:pt x="6887718" y="9516491"/>
                  </a:lnTo>
                  <a:lnTo>
                    <a:pt x="6956298" y="9517253"/>
                  </a:lnTo>
                  <a:lnTo>
                    <a:pt x="7026402" y="9518015"/>
                  </a:lnTo>
                  <a:lnTo>
                    <a:pt x="7095744" y="9518015"/>
                  </a:lnTo>
                  <a:lnTo>
                    <a:pt x="7165848" y="9517253"/>
                  </a:lnTo>
                  <a:lnTo>
                    <a:pt x="7234428" y="9516491"/>
                  </a:lnTo>
                  <a:lnTo>
                    <a:pt x="7303008" y="9517253"/>
                  </a:lnTo>
                  <a:lnTo>
                    <a:pt x="7373112" y="9518015"/>
                  </a:lnTo>
                  <a:lnTo>
                    <a:pt x="7442453" y="9518015"/>
                  </a:lnTo>
                  <a:lnTo>
                    <a:pt x="7511796" y="9518015"/>
                  </a:lnTo>
                  <a:lnTo>
                    <a:pt x="7581900" y="9517253"/>
                  </a:lnTo>
                  <a:lnTo>
                    <a:pt x="7650480" y="9516491"/>
                  </a:lnTo>
                  <a:lnTo>
                    <a:pt x="7719821" y="9518015"/>
                  </a:lnTo>
                  <a:lnTo>
                    <a:pt x="7789164" y="9518015"/>
                  </a:lnTo>
                  <a:lnTo>
                    <a:pt x="7858506" y="9518015"/>
                  </a:lnTo>
                  <a:lnTo>
                    <a:pt x="7928609" y="9517253"/>
                  </a:lnTo>
                  <a:lnTo>
                    <a:pt x="7997190" y="9516491"/>
                  </a:lnTo>
                  <a:lnTo>
                    <a:pt x="8067294" y="9517253"/>
                  </a:lnTo>
                  <a:lnTo>
                    <a:pt x="8135874" y="9518015"/>
                  </a:lnTo>
                  <a:lnTo>
                    <a:pt x="8205216" y="9518015"/>
                  </a:lnTo>
                  <a:lnTo>
                    <a:pt x="8274558" y="9518015"/>
                  </a:lnTo>
                  <a:lnTo>
                    <a:pt x="8345424" y="9518015"/>
                  </a:lnTo>
                  <a:lnTo>
                    <a:pt x="8414004" y="9517253"/>
                  </a:lnTo>
                  <a:lnTo>
                    <a:pt x="8483346" y="9517253"/>
                  </a:lnTo>
                  <a:lnTo>
                    <a:pt x="8551926" y="9518015"/>
                  </a:lnTo>
                  <a:lnTo>
                    <a:pt x="8621268" y="9518015"/>
                  </a:lnTo>
                  <a:lnTo>
                    <a:pt x="8691372" y="9517253"/>
                  </a:lnTo>
                  <a:lnTo>
                    <a:pt x="8761476" y="9518015"/>
                  </a:lnTo>
                  <a:lnTo>
                    <a:pt x="8830056" y="9517253"/>
                  </a:lnTo>
                  <a:lnTo>
                    <a:pt x="8899398" y="9517253"/>
                  </a:lnTo>
                  <a:lnTo>
                    <a:pt x="8910701" y="9516491"/>
                  </a:lnTo>
                  <a:lnTo>
                    <a:pt x="8924290" y="9518015"/>
                  </a:lnTo>
                  <a:lnTo>
                    <a:pt x="8938895" y="9518015"/>
                  </a:lnTo>
                  <a:lnTo>
                    <a:pt x="8953246" y="9518777"/>
                  </a:lnTo>
                  <a:lnTo>
                    <a:pt x="8967597" y="9519539"/>
                  </a:lnTo>
                  <a:lnTo>
                    <a:pt x="8986393" y="9521825"/>
                  </a:lnTo>
                  <a:lnTo>
                    <a:pt x="9003665" y="9524111"/>
                  </a:lnTo>
                  <a:lnTo>
                    <a:pt x="9019540" y="9526397"/>
                  </a:lnTo>
                  <a:lnTo>
                    <a:pt x="9037574" y="9529445"/>
                  </a:lnTo>
                  <a:lnTo>
                    <a:pt x="9055608" y="9532493"/>
                  </a:lnTo>
                  <a:lnTo>
                    <a:pt x="9073642" y="9537065"/>
                  </a:lnTo>
                  <a:lnTo>
                    <a:pt x="9089517" y="9540875"/>
                  </a:lnTo>
                  <a:lnTo>
                    <a:pt x="9106789" y="9546209"/>
                  </a:lnTo>
                  <a:lnTo>
                    <a:pt x="9124823" y="9550781"/>
                  </a:lnTo>
                  <a:lnTo>
                    <a:pt x="9141460" y="9556750"/>
                  </a:lnTo>
                  <a:lnTo>
                    <a:pt x="9160256" y="9563481"/>
                  </a:lnTo>
                  <a:lnTo>
                    <a:pt x="9176131" y="9570212"/>
                  </a:lnTo>
                  <a:lnTo>
                    <a:pt x="9193403" y="9578467"/>
                  </a:lnTo>
                  <a:lnTo>
                    <a:pt x="9210040" y="9585960"/>
                  </a:lnTo>
                  <a:lnTo>
                    <a:pt x="9228836" y="9594215"/>
                  </a:lnTo>
                  <a:lnTo>
                    <a:pt x="9245473" y="9603232"/>
                  </a:lnTo>
                  <a:lnTo>
                    <a:pt x="9263507" y="9613773"/>
                  </a:lnTo>
                  <a:lnTo>
                    <a:pt x="9280779" y="9623552"/>
                  </a:lnTo>
                  <a:lnTo>
                    <a:pt x="9296654" y="9634855"/>
                  </a:lnTo>
                  <a:lnTo>
                    <a:pt x="9314688" y="9646920"/>
                  </a:lnTo>
                  <a:lnTo>
                    <a:pt x="9332722" y="9658985"/>
                  </a:lnTo>
                  <a:lnTo>
                    <a:pt x="9350756" y="9674098"/>
                  </a:lnTo>
                  <a:lnTo>
                    <a:pt x="9368155" y="9688449"/>
                  </a:lnTo>
                  <a:lnTo>
                    <a:pt x="9384030" y="9702800"/>
                  </a:lnTo>
                  <a:lnTo>
                    <a:pt x="9402826" y="9720199"/>
                  </a:lnTo>
                  <a:lnTo>
                    <a:pt x="9419463" y="9738233"/>
                  </a:lnTo>
                  <a:lnTo>
                    <a:pt x="9436735" y="9757029"/>
                  </a:lnTo>
                  <a:lnTo>
                    <a:pt x="9453372" y="9776587"/>
                  </a:lnTo>
                  <a:lnTo>
                    <a:pt x="9472930" y="9800717"/>
                  </a:lnTo>
                  <a:lnTo>
                    <a:pt x="9490202" y="9825609"/>
                  </a:lnTo>
                  <a:lnTo>
                    <a:pt x="9506839" y="9852787"/>
                  </a:lnTo>
                  <a:lnTo>
                    <a:pt x="9523476" y="9879965"/>
                  </a:lnTo>
                  <a:lnTo>
                    <a:pt x="9534779" y="9900285"/>
                  </a:lnTo>
                  <a:lnTo>
                    <a:pt x="9544558" y="9922129"/>
                  </a:lnTo>
                  <a:lnTo>
                    <a:pt x="9554337" y="9945497"/>
                  </a:lnTo>
                  <a:lnTo>
                    <a:pt x="9564116" y="9967341"/>
                  </a:lnTo>
                  <a:lnTo>
                    <a:pt x="9572371" y="9989185"/>
                  </a:lnTo>
                  <a:lnTo>
                    <a:pt x="9579864" y="10013315"/>
                  </a:lnTo>
                  <a:lnTo>
                    <a:pt x="9585833" y="10037445"/>
                  </a:lnTo>
                  <a:lnTo>
                    <a:pt x="9591802" y="10060051"/>
                  </a:lnTo>
                  <a:lnTo>
                    <a:pt x="9600057" y="10098532"/>
                  </a:lnTo>
                  <a:lnTo>
                    <a:pt x="9606026" y="10137775"/>
                  </a:lnTo>
                  <a:lnTo>
                    <a:pt x="9608312" y="10177780"/>
                  </a:lnTo>
                  <a:lnTo>
                    <a:pt x="9610598" y="10217658"/>
                  </a:lnTo>
                  <a:lnTo>
                    <a:pt x="9608312" y="10257663"/>
                  </a:lnTo>
                  <a:lnTo>
                    <a:pt x="9605264" y="10298303"/>
                  </a:lnTo>
                  <a:lnTo>
                    <a:pt x="9599295" y="10336022"/>
                  </a:lnTo>
                  <a:lnTo>
                    <a:pt x="9593326" y="10375265"/>
                  </a:lnTo>
                  <a:lnTo>
                    <a:pt x="9586595" y="10398633"/>
                  </a:lnTo>
                  <a:lnTo>
                    <a:pt x="9579864" y="10422001"/>
                  </a:lnTo>
                  <a:lnTo>
                    <a:pt x="9570847" y="10446131"/>
                  </a:lnTo>
                  <a:lnTo>
                    <a:pt x="9563354" y="10468737"/>
                  </a:lnTo>
                  <a:lnTo>
                    <a:pt x="9554337" y="10491343"/>
                  </a:lnTo>
                  <a:lnTo>
                    <a:pt x="9545320" y="10513949"/>
                  </a:lnTo>
                  <a:lnTo>
                    <a:pt x="9534779" y="10535031"/>
                  </a:lnTo>
                  <a:lnTo>
                    <a:pt x="9522714" y="10556113"/>
                  </a:lnTo>
                  <a:lnTo>
                    <a:pt x="9507601" y="10583291"/>
                  </a:lnTo>
                  <a:lnTo>
                    <a:pt x="9490329" y="10609707"/>
                  </a:lnTo>
                  <a:lnTo>
                    <a:pt x="9472295" y="10635361"/>
                  </a:lnTo>
                  <a:lnTo>
                    <a:pt x="9453499" y="10660253"/>
                  </a:lnTo>
                  <a:lnTo>
                    <a:pt x="9436862" y="10678287"/>
                  </a:lnTo>
                  <a:lnTo>
                    <a:pt x="9419590" y="10697083"/>
                  </a:lnTo>
                  <a:lnTo>
                    <a:pt x="9401556" y="10715117"/>
                  </a:lnTo>
                  <a:lnTo>
                    <a:pt x="9383522" y="10733151"/>
                  </a:lnTo>
                  <a:lnTo>
                    <a:pt x="9367647" y="10747502"/>
                  </a:lnTo>
                  <a:lnTo>
                    <a:pt x="9351010" y="10762615"/>
                  </a:lnTo>
                  <a:lnTo>
                    <a:pt x="9332976" y="10776204"/>
                  </a:lnTo>
                  <a:lnTo>
                    <a:pt x="9315704" y="10789031"/>
                  </a:lnTo>
                  <a:lnTo>
                    <a:pt x="9298432" y="10800334"/>
                  </a:lnTo>
                  <a:lnTo>
                    <a:pt x="9281795" y="10810875"/>
                  </a:lnTo>
                  <a:lnTo>
                    <a:pt x="9263761" y="10821416"/>
                  </a:lnTo>
                  <a:lnTo>
                    <a:pt x="9245727" y="10831957"/>
                  </a:lnTo>
                  <a:lnTo>
                    <a:pt x="9229090" y="10840974"/>
                  </a:lnTo>
                  <a:lnTo>
                    <a:pt x="9211056" y="10849991"/>
                  </a:lnTo>
                  <a:lnTo>
                    <a:pt x="9194419" y="10857484"/>
                  </a:lnTo>
                  <a:lnTo>
                    <a:pt x="9177147" y="10864215"/>
                  </a:lnTo>
                  <a:lnTo>
                    <a:pt x="9159113" y="10871708"/>
                  </a:lnTo>
                  <a:lnTo>
                    <a:pt x="9142476" y="10879201"/>
                  </a:lnTo>
                  <a:lnTo>
                    <a:pt x="9124442" y="10883773"/>
                  </a:lnTo>
                  <a:lnTo>
                    <a:pt x="9107170" y="10889107"/>
                  </a:lnTo>
                  <a:lnTo>
                    <a:pt x="9089898" y="10894441"/>
                  </a:lnTo>
                  <a:lnTo>
                    <a:pt x="9073261" y="10899013"/>
                  </a:lnTo>
                  <a:lnTo>
                    <a:pt x="9054465" y="10902823"/>
                  </a:lnTo>
                  <a:lnTo>
                    <a:pt x="9037828" y="10905871"/>
                  </a:lnTo>
                  <a:lnTo>
                    <a:pt x="9020429" y="10908157"/>
                  </a:lnTo>
                  <a:lnTo>
                    <a:pt x="9002395" y="10911205"/>
                  </a:lnTo>
                  <a:lnTo>
                    <a:pt x="8985758" y="10912729"/>
                  </a:lnTo>
                  <a:lnTo>
                    <a:pt x="8967724" y="10915777"/>
                  </a:lnTo>
                  <a:lnTo>
                    <a:pt x="8954135" y="10917301"/>
                  </a:lnTo>
                  <a:lnTo>
                    <a:pt x="8939784" y="10918063"/>
                  </a:lnTo>
                  <a:lnTo>
                    <a:pt x="8924671" y="10918063"/>
                  </a:lnTo>
                  <a:lnTo>
                    <a:pt x="8911082" y="10918063"/>
                  </a:lnTo>
                  <a:lnTo>
                    <a:pt x="8899017" y="10918063"/>
                  </a:lnTo>
                  <a:lnTo>
                    <a:pt x="8831199" y="10918063"/>
                  </a:lnTo>
                  <a:lnTo>
                    <a:pt x="8760333" y="10918063"/>
                  </a:lnTo>
                  <a:lnTo>
                    <a:pt x="8690991" y="10918063"/>
                  </a:lnTo>
                  <a:lnTo>
                    <a:pt x="8621649" y="10918063"/>
                  </a:lnTo>
                  <a:lnTo>
                    <a:pt x="8552307" y="10918063"/>
                  </a:lnTo>
                  <a:lnTo>
                    <a:pt x="8482203" y="10917301"/>
                  </a:lnTo>
                  <a:lnTo>
                    <a:pt x="8414385" y="10917301"/>
                  </a:lnTo>
                  <a:lnTo>
                    <a:pt x="8344281" y="10918063"/>
                  </a:lnTo>
                  <a:lnTo>
                    <a:pt x="8274939" y="10918063"/>
                  </a:lnTo>
                  <a:lnTo>
                    <a:pt x="8205597" y="10918063"/>
                  </a:lnTo>
                  <a:lnTo>
                    <a:pt x="8135493" y="10917301"/>
                  </a:lnTo>
                  <a:lnTo>
                    <a:pt x="8065389" y="10918063"/>
                  </a:lnTo>
                  <a:lnTo>
                    <a:pt x="7997571" y="10918063"/>
                  </a:lnTo>
                  <a:lnTo>
                    <a:pt x="7928229" y="10918063"/>
                  </a:lnTo>
                  <a:lnTo>
                    <a:pt x="7858887" y="10918063"/>
                  </a:lnTo>
                  <a:lnTo>
                    <a:pt x="7788783" y="10917301"/>
                  </a:lnTo>
                  <a:lnTo>
                    <a:pt x="7719441" y="10917301"/>
                  </a:lnTo>
                  <a:lnTo>
                    <a:pt x="7650861" y="10916539"/>
                  </a:lnTo>
                  <a:lnTo>
                    <a:pt x="7581519" y="10918063"/>
                  </a:lnTo>
                  <a:lnTo>
                    <a:pt x="7512177" y="10918063"/>
                  </a:lnTo>
                  <a:lnTo>
                    <a:pt x="7442073" y="10917301"/>
                  </a:lnTo>
                  <a:lnTo>
                    <a:pt x="7372731" y="10917301"/>
                  </a:lnTo>
                  <a:lnTo>
                    <a:pt x="7302627" y="10918063"/>
                  </a:lnTo>
                  <a:lnTo>
                    <a:pt x="7234047" y="10917301"/>
                  </a:lnTo>
                  <a:lnTo>
                    <a:pt x="7165467" y="10918063"/>
                  </a:lnTo>
                  <a:lnTo>
                    <a:pt x="7096125" y="10918063"/>
                  </a:lnTo>
                  <a:lnTo>
                    <a:pt x="7026021" y="10917301"/>
                  </a:lnTo>
                  <a:lnTo>
                    <a:pt x="6956679" y="10917301"/>
                  </a:lnTo>
                  <a:lnTo>
                    <a:pt x="6886575" y="10918063"/>
                  </a:lnTo>
                  <a:lnTo>
                    <a:pt x="6818757" y="10918063"/>
                  </a:lnTo>
                  <a:lnTo>
                    <a:pt x="6749415" y="10918063"/>
                  </a:lnTo>
                  <a:lnTo>
                    <a:pt x="6679311" y="10917301"/>
                  </a:lnTo>
                  <a:lnTo>
                    <a:pt x="6609969" y="10917301"/>
                  </a:lnTo>
                  <a:lnTo>
                    <a:pt x="6539865" y="10918063"/>
                  </a:lnTo>
                  <a:lnTo>
                    <a:pt x="6470523" y="10918063"/>
                  </a:lnTo>
                  <a:lnTo>
                    <a:pt x="6402705" y="10918063"/>
                  </a:lnTo>
                  <a:lnTo>
                    <a:pt x="6332601" y="10917301"/>
                  </a:lnTo>
                  <a:lnTo>
                    <a:pt x="6263259" y="10917301"/>
                  </a:lnTo>
                  <a:lnTo>
                    <a:pt x="6193917" y="10917301"/>
                  </a:lnTo>
                  <a:lnTo>
                    <a:pt x="6123813" y="10918063"/>
                  </a:lnTo>
                  <a:lnTo>
                    <a:pt x="6053709" y="10917301"/>
                  </a:lnTo>
                  <a:lnTo>
                    <a:pt x="5985891" y="10917301"/>
                  </a:lnTo>
                  <a:lnTo>
                    <a:pt x="5916549" y="10917301"/>
                  </a:lnTo>
                  <a:lnTo>
                    <a:pt x="5847207" y="10917301"/>
                  </a:lnTo>
                  <a:lnTo>
                    <a:pt x="5777103" y="10918063"/>
                  </a:lnTo>
                  <a:lnTo>
                    <a:pt x="5706999" y="10917301"/>
                  </a:lnTo>
                  <a:lnTo>
                    <a:pt x="5638419" y="10916539"/>
                  </a:lnTo>
                  <a:lnTo>
                    <a:pt x="5569839" y="10917301"/>
                  </a:lnTo>
                  <a:lnTo>
                    <a:pt x="5500497" y="10917301"/>
                  </a:lnTo>
                  <a:lnTo>
                    <a:pt x="5431155" y="10917301"/>
                  </a:lnTo>
                  <a:lnTo>
                    <a:pt x="5361051" y="10918063"/>
                  </a:lnTo>
                  <a:lnTo>
                    <a:pt x="5290947" y="10917301"/>
                  </a:lnTo>
                  <a:lnTo>
                    <a:pt x="5222367" y="10916539"/>
                  </a:lnTo>
                  <a:lnTo>
                    <a:pt x="5153787" y="10917301"/>
                  </a:lnTo>
                  <a:lnTo>
                    <a:pt x="5084445" y="10917301"/>
                  </a:lnTo>
                  <a:lnTo>
                    <a:pt x="5014341" y="10918063"/>
                  </a:lnTo>
                  <a:lnTo>
                    <a:pt x="4974463" y="10917301"/>
                  </a:lnTo>
                  <a:lnTo>
                    <a:pt x="4959350" y="10917301"/>
                  </a:lnTo>
                  <a:lnTo>
                    <a:pt x="4944237" y="10917301"/>
                  </a:lnTo>
                  <a:lnTo>
                    <a:pt x="4927600" y="10918825"/>
                  </a:lnTo>
                  <a:lnTo>
                    <a:pt x="4909566" y="10920349"/>
                  </a:lnTo>
                  <a:lnTo>
                    <a:pt x="4892928" y="10921873"/>
                  </a:lnTo>
                  <a:lnTo>
                    <a:pt x="4875657" y="10924159"/>
                  </a:lnTo>
                  <a:lnTo>
                    <a:pt x="4858258" y="10926445"/>
                  </a:lnTo>
                  <a:lnTo>
                    <a:pt x="4840986" y="10930255"/>
                  </a:lnTo>
                  <a:lnTo>
                    <a:pt x="4822952" y="10933303"/>
                  </a:lnTo>
                  <a:lnTo>
                    <a:pt x="4806315" y="10937875"/>
                  </a:lnTo>
                  <a:lnTo>
                    <a:pt x="4788281" y="10942447"/>
                  </a:lnTo>
                  <a:lnTo>
                    <a:pt x="4771009" y="10947781"/>
                  </a:lnTo>
                  <a:lnTo>
                    <a:pt x="4753737" y="10953115"/>
                  </a:lnTo>
                  <a:lnTo>
                    <a:pt x="4737100" y="10959084"/>
                  </a:lnTo>
                  <a:lnTo>
                    <a:pt x="4719828" y="10965815"/>
                  </a:lnTo>
                  <a:lnTo>
                    <a:pt x="4701794" y="10971784"/>
                  </a:lnTo>
                  <a:lnTo>
                    <a:pt x="4685157" y="10979277"/>
                  </a:lnTo>
                  <a:lnTo>
                    <a:pt x="4667885" y="10987532"/>
                  </a:lnTo>
                  <a:lnTo>
                    <a:pt x="4650613" y="10997311"/>
                  </a:lnTo>
                  <a:lnTo>
                    <a:pt x="4632578" y="11006328"/>
                  </a:lnTo>
                  <a:lnTo>
                    <a:pt x="4616703" y="11016107"/>
                  </a:lnTo>
                  <a:lnTo>
                    <a:pt x="4598670" y="11026648"/>
                  </a:lnTo>
                  <a:lnTo>
                    <a:pt x="4580636" y="11038713"/>
                  </a:lnTo>
                  <a:lnTo>
                    <a:pt x="4562601" y="11050778"/>
                  </a:lnTo>
                  <a:lnTo>
                    <a:pt x="4545964" y="11064367"/>
                  </a:lnTo>
                  <a:lnTo>
                    <a:pt x="4528693" y="11077194"/>
                  </a:lnTo>
                  <a:lnTo>
                    <a:pt x="4512056" y="11092307"/>
                  </a:lnTo>
                  <a:lnTo>
                    <a:pt x="4494022" y="11108944"/>
                  </a:lnTo>
                  <a:lnTo>
                    <a:pt x="4477385" y="11125581"/>
                  </a:lnTo>
                  <a:lnTo>
                    <a:pt x="4460113" y="11142853"/>
                  </a:lnTo>
                  <a:lnTo>
                    <a:pt x="4441317" y="11163173"/>
                  </a:lnTo>
                  <a:lnTo>
                    <a:pt x="4424680" y="11185779"/>
                  </a:lnTo>
                  <a:lnTo>
                    <a:pt x="4406646" y="11206861"/>
                  </a:lnTo>
                  <a:lnTo>
                    <a:pt x="4390009" y="11230991"/>
                  </a:lnTo>
                  <a:lnTo>
                    <a:pt x="4370450" y="11264138"/>
                  </a:lnTo>
                  <a:lnTo>
                    <a:pt x="4353178" y="11296523"/>
                  </a:lnTo>
                  <a:lnTo>
                    <a:pt x="4335907" y="11330432"/>
                  </a:lnTo>
                  <a:lnTo>
                    <a:pt x="4321556" y="11365865"/>
                  </a:lnTo>
                  <a:lnTo>
                    <a:pt x="4311014" y="11395964"/>
                  </a:lnTo>
                  <a:lnTo>
                    <a:pt x="4301236" y="11425301"/>
                  </a:lnTo>
                  <a:lnTo>
                    <a:pt x="4293743" y="11455400"/>
                  </a:lnTo>
                  <a:lnTo>
                    <a:pt x="4287774" y="11487023"/>
                  </a:lnTo>
                  <a:lnTo>
                    <a:pt x="4281805" y="11518646"/>
                  </a:lnTo>
                  <a:lnTo>
                    <a:pt x="4277995" y="11551031"/>
                  </a:lnTo>
                  <a:lnTo>
                    <a:pt x="4275709" y="11583416"/>
                  </a:lnTo>
                  <a:lnTo>
                    <a:pt x="4275709" y="11616563"/>
                  </a:lnTo>
                  <a:lnTo>
                    <a:pt x="4275709" y="11651234"/>
                  </a:lnTo>
                  <a:lnTo>
                    <a:pt x="4277233" y="11682857"/>
                  </a:lnTo>
                  <a:lnTo>
                    <a:pt x="4281805" y="11714480"/>
                  </a:lnTo>
                  <a:lnTo>
                    <a:pt x="4287138" y="11746865"/>
                  </a:lnTo>
                  <a:lnTo>
                    <a:pt x="4293870" y="11777726"/>
                  </a:lnTo>
                  <a:lnTo>
                    <a:pt x="4301363" y="11807825"/>
                  </a:lnTo>
                  <a:lnTo>
                    <a:pt x="4310380" y="11837924"/>
                  </a:lnTo>
                  <a:lnTo>
                    <a:pt x="4322445" y="11868023"/>
                  </a:lnTo>
                  <a:lnTo>
                    <a:pt x="4336034" y="11902694"/>
                  </a:lnTo>
                  <a:lnTo>
                    <a:pt x="4353306" y="11936603"/>
                  </a:lnTo>
                  <a:lnTo>
                    <a:pt x="4371339" y="11969750"/>
                  </a:lnTo>
                  <a:lnTo>
                    <a:pt x="4391025" y="12001500"/>
                  </a:lnTo>
                  <a:lnTo>
                    <a:pt x="4407662" y="12024106"/>
                  </a:lnTo>
                  <a:lnTo>
                    <a:pt x="4424934" y="12045950"/>
                  </a:lnTo>
                  <a:lnTo>
                    <a:pt x="4441571" y="12068556"/>
                  </a:lnTo>
                  <a:lnTo>
                    <a:pt x="4461129" y="12089638"/>
                  </a:lnTo>
                  <a:lnTo>
                    <a:pt x="4477766" y="12106275"/>
                  </a:lnTo>
                  <a:lnTo>
                    <a:pt x="4495038" y="12123547"/>
                  </a:lnTo>
                  <a:lnTo>
                    <a:pt x="4512310" y="12139422"/>
                  </a:lnTo>
                  <a:lnTo>
                    <a:pt x="4528947" y="12154535"/>
                  </a:lnTo>
                  <a:lnTo>
                    <a:pt x="4546219" y="12167362"/>
                  </a:lnTo>
                  <a:lnTo>
                    <a:pt x="4562856" y="12180951"/>
                  </a:lnTo>
                  <a:lnTo>
                    <a:pt x="4580890" y="12193016"/>
                  </a:lnTo>
                  <a:lnTo>
                    <a:pt x="4598924" y="12205081"/>
                  </a:lnTo>
                  <a:lnTo>
                    <a:pt x="4616958" y="12215622"/>
                  </a:lnTo>
                  <a:lnTo>
                    <a:pt x="4632833" y="12226925"/>
                  </a:lnTo>
                  <a:lnTo>
                    <a:pt x="4650867" y="12234418"/>
                  </a:lnTo>
                  <a:lnTo>
                    <a:pt x="4668139" y="12244197"/>
                  </a:lnTo>
                  <a:lnTo>
                    <a:pt x="4685538" y="12252452"/>
                  </a:lnTo>
                  <a:lnTo>
                    <a:pt x="4702175" y="12259945"/>
                  </a:lnTo>
                  <a:lnTo>
                    <a:pt x="4720971" y="12266676"/>
                  </a:lnTo>
                  <a:lnTo>
                    <a:pt x="4738370" y="12273407"/>
                  </a:lnTo>
                  <a:lnTo>
                    <a:pt x="4755642" y="12278741"/>
                  </a:lnTo>
                  <a:lnTo>
                    <a:pt x="4772279" y="12284710"/>
                  </a:lnTo>
                  <a:lnTo>
                    <a:pt x="4789551" y="12290044"/>
                  </a:lnTo>
                  <a:lnTo>
                    <a:pt x="4806823" y="12295378"/>
                  </a:lnTo>
                  <a:lnTo>
                    <a:pt x="4824222" y="12299188"/>
                  </a:lnTo>
                  <a:lnTo>
                    <a:pt x="4841494" y="12301474"/>
                  </a:lnTo>
                  <a:lnTo>
                    <a:pt x="4858766" y="12305284"/>
                  </a:lnTo>
                  <a:lnTo>
                    <a:pt x="4876800" y="12308332"/>
                  </a:lnTo>
                  <a:lnTo>
                    <a:pt x="4893437" y="12309856"/>
                  </a:lnTo>
                  <a:lnTo>
                    <a:pt x="4910709" y="12312142"/>
                  </a:lnTo>
                  <a:lnTo>
                    <a:pt x="4928108" y="12312904"/>
                  </a:lnTo>
                  <a:lnTo>
                    <a:pt x="4946142" y="12314428"/>
                  </a:lnTo>
                  <a:lnTo>
                    <a:pt x="4960493" y="12315190"/>
                  </a:lnTo>
                  <a:lnTo>
                    <a:pt x="4975606" y="12315190"/>
                  </a:lnTo>
                  <a:lnTo>
                    <a:pt x="5014849" y="12315190"/>
                  </a:lnTo>
                  <a:lnTo>
                    <a:pt x="5084191" y="12315190"/>
                  </a:lnTo>
                  <a:lnTo>
                    <a:pt x="5155057" y="12315190"/>
                  </a:lnTo>
                  <a:lnTo>
                    <a:pt x="5223637" y="12315952"/>
                  </a:lnTo>
                  <a:lnTo>
                    <a:pt x="5292217" y="12315190"/>
                  </a:lnTo>
                  <a:lnTo>
                    <a:pt x="5361559" y="12315190"/>
                  </a:lnTo>
                  <a:lnTo>
                    <a:pt x="5430901" y="12315190"/>
                  </a:lnTo>
                  <a:lnTo>
                    <a:pt x="5501767" y="12315190"/>
                  </a:lnTo>
                  <a:lnTo>
                    <a:pt x="5571109" y="12315190"/>
                  </a:lnTo>
                  <a:lnTo>
                    <a:pt x="5639689" y="12315952"/>
                  </a:lnTo>
                  <a:lnTo>
                    <a:pt x="5708269" y="12315190"/>
                  </a:lnTo>
                  <a:lnTo>
                    <a:pt x="5777611" y="12315190"/>
                  </a:lnTo>
                  <a:lnTo>
                    <a:pt x="5846953" y="12315190"/>
                  </a:lnTo>
                  <a:lnTo>
                    <a:pt x="5917819" y="12315190"/>
                  </a:lnTo>
                  <a:lnTo>
                    <a:pt x="5987161" y="12315190"/>
                  </a:lnTo>
                  <a:lnTo>
                    <a:pt x="6054979" y="12315190"/>
                  </a:lnTo>
                  <a:lnTo>
                    <a:pt x="6124321" y="12315190"/>
                  </a:lnTo>
                  <a:lnTo>
                    <a:pt x="6193663" y="12315190"/>
                  </a:lnTo>
                  <a:lnTo>
                    <a:pt x="6264529" y="12315190"/>
                  </a:lnTo>
                  <a:lnTo>
                    <a:pt x="6333871" y="12315190"/>
                  </a:lnTo>
                  <a:lnTo>
                    <a:pt x="6403213" y="12315190"/>
                  </a:lnTo>
                  <a:lnTo>
                    <a:pt x="6471031" y="12315190"/>
                  </a:lnTo>
                  <a:lnTo>
                    <a:pt x="6540373" y="12315190"/>
                  </a:lnTo>
                  <a:lnTo>
                    <a:pt x="6610477" y="12315952"/>
                  </a:lnTo>
                  <a:lnTo>
                    <a:pt x="6680581" y="12315190"/>
                  </a:lnTo>
                  <a:lnTo>
                    <a:pt x="6749923" y="12315190"/>
                  </a:lnTo>
                  <a:lnTo>
                    <a:pt x="6819265" y="12315190"/>
                  </a:lnTo>
                  <a:lnTo>
                    <a:pt x="6887083" y="12315190"/>
                  </a:lnTo>
                  <a:lnTo>
                    <a:pt x="6957187" y="12315952"/>
                  </a:lnTo>
                  <a:lnTo>
                    <a:pt x="7027291" y="12315190"/>
                  </a:lnTo>
                  <a:lnTo>
                    <a:pt x="7096633" y="12315190"/>
                  </a:lnTo>
                  <a:lnTo>
                    <a:pt x="7165975" y="12315190"/>
                  </a:lnTo>
                  <a:lnTo>
                    <a:pt x="7236079" y="12315952"/>
                  </a:lnTo>
                  <a:lnTo>
                    <a:pt x="7303897" y="12315952"/>
                  </a:lnTo>
                  <a:lnTo>
                    <a:pt x="7373239" y="12315952"/>
                  </a:lnTo>
                  <a:lnTo>
                    <a:pt x="7443343" y="12315190"/>
                  </a:lnTo>
                  <a:lnTo>
                    <a:pt x="7512685" y="12315190"/>
                  </a:lnTo>
                  <a:lnTo>
                    <a:pt x="7582027" y="12315190"/>
                  </a:lnTo>
                  <a:lnTo>
                    <a:pt x="7649845" y="12315190"/>
                  </a:lnTo>
                  <a:lnTo>
                    <a:pt x="7719949" y="12315952"/>
                  </a:lnTo>
                  <a:lnTo>
                    <a:pt x="7790053" y="12315190"/>
                  </a:lnTo>
                  <a:lnTo>
                    <a:pt x="7859395" y="12315190"/>
                  </a:lnTo>
                  <a:lnTo>
                    <a:pt x="7928737" y="12315190"/>
                  </a:lnTo>
                  <a:lnTo>
                    <a:pt x="7998841" y="12315952"/>
                  </a:lnTo>
                  <a:lnTo>
                    <a:pt x="8036560" y="12315952"/>
                  </a:lnTo>
                  <a:lnTo>
                    <a:pt x="8051673" y="12315952"/>
                  </a:lnTo>
                  <a:lnTo>
                    <a:pt x="8067548" y="12316714"/>
                  </a:lnTo>
                  <a:lnTo>
                    <a:pt x="8084820" y="12317476"/>
                  </a:lnTo>
                  <a:lnTo>
                    <a:pt x="8102092" y="12319762"/>
                  </a:lnTo>
                  <a:lnTo>
                    <a:pt x="8120126" y="12319762"/>
                  </a:lnTo>
                  <a:lnTo>
                    <a:pt x="8136001" y="12323572"/>
                  </a:lnTo>
                  <a:lnTo>
                    <a:pt x="8154035" y="12326620"/>
                  </a:lnTo>
                  <a:lnTo>
                    <a:pt x="8171307" y="12328906"/>
                  </a:lnTo>
                  <a:lnTo>
                    <a:pt x="8188579" y="12332716"/>
                  </a:lnTo>
                  <a:lnTo>
                    <a:pt x="8205851" y="12336526"/>
                  </a:lnTo>
                  <a:lnTo>
                    <a:pt x="8223885" y="12341098"/>
                  </a:lnTo>
                  <a:lnTo>
                    <a:pt x="8241157" y="12346432"/>
                  </a:lnTo>
                  <a:lnTo>
                    <a:pt x="8258429" y="12351766"/>
                  </a:lnTo>
                  <a:lnTo>
                    <a:pt x="8275066" y="12357735"/>
                  </a:lnTo>
                  <a:lnTo>
                    <a:pt x="8293100" y="12363704"/>
                  </a:lnTo>
                  <a:lnTo>
                    <a:pt x="8309737" y="12371197"/>
                  </a:lnTo>
                  <a:lnTo>
                    <a:pt x="8327009" y="12379452"/>
                  </a:lnTo>
                  <a:lnTo>
                    <a:pt x="8345043" y="12386945"/>
                  </a:lnTo>
                  <a:lnTo>
                    <a:pt x="8362315" y="12396724"/>
                  </a:lnTo>
                  <a:lnTo>
                    <a:pt x="8379587" y="12404979"/>
                  </a:lnTo>
                  <a:lnTo>
                    <a:pt x="8397621" y="12415520"/>
                  </a:lnTo>
                  <a:lnTo>
                    <a:pt x="8413496" y="12425299"/>
                  </a:lnTo>
                  <a:lnTo>
                    <a:pt x="8430768" y="12438126"/>
                  </a:lnTo>
                  <a:lnTo>
                    <a:pt x="8448802" y="12450191"/>
                  </a:lnTo>
                  <a:lnTo>
                    <a:pt x="8466074" y="12463018"/>
                  </a:lnTo>
                  <a:lnTo>
                    <a:pt x="8482711" y="12476607"/>
                  </a:lnTo>
                  <a:lnTo>
                    <a:pt x="8500745" y="12493244"/>
                  </a:lnTo>
                  <a:lnTo>
                    <a:pt x="8518779" y="12508357"/>
                  </a:lnTo>
                  <a:lnTo>
                    <a:pt x="8536051" y="12525629"/>
                  </a:lnTo>
                  <a:lnTo>
                    <a:pt x="8551164" y="12543663"/>
                  </a:lnTo>
                  <a:lnTo>
                    <a:pt x="8570722" y="12564745"/>
                  </a:lnTo>
                  <a:lnTo>
                    <a:pt x="8588756" y="12585827"/>
                  </a:lnTo>
                  <a:lnTo>
                    <a:pt x="8605393" y="12608433"/>
                  </a:lnTo>
                  <a:lnTo>
                    <a:pt x="8621268" y="12631801"/>
                  </a:lnTo>
                  <a:lnTo>
                    <a:pt x="8640826" y="12664948"/>
                  </a:lnTo>
                  <a:lnTo>
                    <a:pt x="8659622" y="12698857"/>
                  </a:lnTo>
                  <a:lnTo>
                    <a:pt x="8676259" y="12733528"/>
                  </a:lnTo>
                  <a:lnTo>
                    <a:pt x="8691372" y="12769723"/>
                  </a:lnTo>
                  <a:lnTo>
                    <a:pt x="8700389" y="12798298"/>
                  </a:lnTo>
                  <a:lnTo>
                    <a:pt x="8710168" y="12827635"/>
                  </a:lnTo>
                  <a:lnTo>
                    <a:pt x="8717661" y="12857734"/>
                  </a:lnTo>
                  <a:lnTo>
                    <a:pt x="8723630" y="12889357"/>
                  </a:lnTo>
                  <a:lnTo>
                    <a:pt x="8729599" y="12919456"/>
                  </a:lnTo>
                  <a:lnTo>
                    <a:pt x="8731885" y="12950317"/>
                  </a:lnTo>
                  <a:lnTo>
                    <a:pt x="8734933" y="12983464"/>
                  </a:lnTo>
                  <a:lnTo>
                    <a:pt x="8734933" y="13015088"/>
                  </a:lnTo>
                  <a:lnTo>
                    <a:pt x="8734171" y="13047472"/>
                  </a:lnTo>
                  <a:lnTo>
                    <a:pt x="8731885" y="13079857"/>
                  </a:lnTo>
                  <a:lnTo>
                    <a:pt x="8729599" y="13110718"/>
                  </a:lnTo>
                  <a:lnTo>
                    <a:pt x="8724265" y="13143103"/>
                  </a:lnTo>
                  <a:lnTo>
                    <a:pt x="8717534" y="13172439"/>
                  </a:lnTo>
                  <a:lnTo>
                    <a:pt x="8710041" y="13202538"/>
                  </a:lnTo>
                  <a:lnTo>
                    <a:pt x="8700262" y="13231876"/>
                  </a:lnTo>
                  <a:lnTo>
                    <a:pt x="8690483" y="13261212"/>
                  </a:lnTo>
                  <a:lnTo>
                    <a:pt x="8676894" y="13297408"/>
                  </a:lnTo>
                  <a:lnTo>
                    <a:pt x="8659622" y="13331317"/>
                  </a:lnTo>
                  <a:lnTo>
                    <a:pt x="8640826" y="13365226"/>
                  </a:lnTo>
                  <a:lnTo>
                    <a:pt x="8621268" y="13398373"/>
                  </a:lnTo>
                  <a:lnTo>
                    <a:pt x="8605393" y="13421740"/>
                  </a:lnTo>
                  <a:lnTo>
                    <a:pt x="8588756" y="13444347"/>
                  </a:lnTo>
                  <a:lnTo>
                    <a:pt x="8570722" y="13465429"/>
                  </a:lnTo>
                  <a:lnTo>
                    <a:pt x="8552688" y="13488036"/>
                  </a:lnTo>
                  <a:lnTo>
                    <a:pt x="8536051" y="13504672"/>
                  </a:lnTo>
                  <a:lnTo>
                    <a:pt x="8518779" y="13521944"/>
                  </a:lnTo>
                  <a:lnTo>
                    <a:pt x="8500745" y="13537057"/>
                  </a:lnTo>
                  <a:lnTo>
                    <a:pt x="8482711" y="13553694"/>
                  </a:lnTo>
                  <a:lnTo>
                    <a:pt x="8466074" y="13567283"/>
                  </a:lnTo>
                  <a:lnTo>
                    <a:pt x="8448802" y="13580111"/>
                  </a:lnTo>
                  <a:lnTo>
                    <a:pt x="8430768" y="13592175"/>
                  </a:lnTo>
                  <a:lnTo>
                    <a:pt x="8413496" y="13605002"/>
                  </a:lnTo>
                  <a:lnTo>
                    <a:pt x="8397621" y="13614781"/>
                  </a:lnTo>
                  <a:lnTo>
                    <a:pt x="8379587" y="13625322"/>
                  </a:lnTo>
                  <a:lnTo>
                    <a:pt x="8362950" y="13634338"/>
                  </a:lnTo>
                  <a:lnTo>
                    <a:pt x="8344916" y="13643356"/>
                  </a:lnTo>
                  <a:lnTo>
                    <a:pt x="8326882" y="13650849"/>
                  </a:lnTo>
                  <a:lnTo>
                    <a:pt x="8310245" y="13658342"/>
                  </a:lnTo>
                  <a:lnTo>
                    <a:pt x="8292973" y="13666597"/>
                  </a:lnTo>
                  <a:lnTo>
                    <a:pt x="8274939" y="13672565"/>
                  </a:lnTo>
                  <a:lnTo>
                    <a:pt x="8258302" y="13678536"/>
                  </a:lnTo>
                  <a:lnTo>
                    <a:pt x="8241030" y="13683869"/>
                  </a:lnTo>
                  <a:lnTo>
                    <a:pt x="8223758" y="13689203"/>
                  </a:lnTo>
                  <a:lnTo>
                    <a:pt x="8205724" y="13693775"/>
                  </a:lnTo>
                  <a:lnTo>
                    <a:pt x="8188452" y="13697586"/>
                  </a:lnTo>
                  <a:lnTo>
                    <a:pt x="8171815" y="13700633"/>
                  </a:lnTo>
                  <a:lnTo>
                    <a:pt x="8153781" y="13703681"/>
                  </a:lnTo>
                  <a:lnTo>
                    <a:pt x="8137144" y="13708253"/>
                  </a:lnTo>
                  <a:lnTo>
                    <a:pt x="8120507" y="13709777"/>
                  </a:lnTo>
                  <a:lnTo>
                    <a:pt x="8101711" y="13710538"/>
                  </a:lnTo>
                  <a:lnTo>
                    <a:pt x="8085074" y="13712062"/>
                  </a:lnTo>
                  <a:lnTo>
                    <a:pt x="8067040" y="13713588"/>
                  </a:lnTo>
                  <a:lnTo>
                    <a:pt x="8051165" y="13714349"/>
                  </a:lnTo>
                  <a:lnTo>
                    <a:pt x="8036052" y="13714349"/>
                  </a:lnTo>
                  <a:lnTo>
                    <a:pt x="7998333" y="13714349"/>
                  </a:lnTo>
                  <a:lnTo>
                    <a:pt x="7928991" y="13714349"/>
                  </a:lnTo>
                  <a:lnTo>
                    <a:pt x="7858887" y="13715112"/>
                  </a:lnTo>
                  <a:lnTo>
                    <a:pt x="7789545" y="13715112"/>
                  </a:lnTo>
                  <a:lnTo>
                    <a:pt x="7719441" y="13714349"/>
                  </a:lnTo>
                  <a:lnTo>
                    <a:pt x="7650861" y="13715112"/>
                  </a:lnTo>
                  <a:lnTo>
                    <a:pt x="7582281" y="13714349"/>
                  </a:lnTo>
                  <a:lnTo>
                    <a:pt x="7512939" y="13714349"/>
                  </a:lnTo>
                  <a:lnTo>
                    <a:pt x="7442835" y="13715112"/>
                  </a:lnTo>
                  <a:lnTo>
                    <a:pt x="7372731" y="13714349"/>
                  </a:lnTo>
                  <a:lnTo>
                    <a:pt x="7303389" y="13714349"/>
                  </a:lnTo>
                  <a:lnTo>
                    <a:pt x="7234809" y="13715112"/>
                  </a:lnTo>
                  <a:lnTo>
                    <a:pt x="7166229" y="13714349"/>
                  </a:lnTo>
                  <a:lnTo>
                    <a:pt x="7096125" y="13715112"/>
                  </a:lnTo>
                  <a:lnTo>
                    <a:pt x="7026021" y="13714349"/>
                  </a:lnTo>
                  <a:lnTo>
                    <a:pt x="6956679" y="13714349"/>
                  </a:lnTo>
                  <a:lnTo>
                    <a:pt x="6888099" y="13715112"/>
                  </a:lnTo>
                  <a:lnTo>
                    <a:pt x="6818757" y="13715112"/>
                  </a:lnTo>
                  <a:lnTo>
                    <a:pt x="6750177" y="13714349"/>
                  </a:lnTo>
                  <a:lnTo>
                    <a:pt x="6679311" y="13714349"/>
                  </a:lnTo>
                  <a:lnTo>
                    <a:pt x="6609969" y="13714349"/>
                  </a:lnTo>
                  <a:lnTo>
                    <a:pt x="6540627" y="13714349"/>
                  </a:lnTo>
                  <a:lnTo>
                    <a:pt x="6472047" y="13715112"/>
                  </a:lnTo>
                  <a:lnTo>
                    <a:pt x="6401943" y="13715873"/>
                  </a:lnTo>
                  <a:lnTo>
                    <a:pt x="6332601" y="13714349"/>
                  </a:lnTo>
                  <a:lnTo>
                    <a:pt x="6263259" y="13714349"/>
                  </a:lnTo>
                  <a:lnTo>
                    <a:pt x="6193917" y="13714349"/>
                  </a:lnTo>
                  <a:lnTo>
                    <a:pt x="6124575" y="13714349"/>
                  </a:lnTo>
                  <a:lnTo>
                    <a:pt x="6055995" y="13715112"/>
                  </a:lnTo>
                  <a:lnTo>
                    <a:pt x="5987415" y="13714349"/>
                  </a:lnTo>
                  <a:lnTo>
                    <a:pt x="5916549" y="13714349"/>
                  </a:lnTo>
                  <a:lnTo>
                    <a:pt x="5847207" y="13714349"/>
                  </a:lnTo>
                  <a:lnTo>
                    <a:pt x="5777865" y="13714349"/>
                  </a:lnTo>
                  <a:lnTo>
                    <a:pt x="5708523" y="13714349"/>
                  </a:lnTo>
                  <a:lnTo>
                    <a:pt x="5639181" y="13715873"/>
                  </a:lnTo>
                  <a:lnTo>
                    <a:pt x="5569839" y="13714349"/>
                  </a:lnTo>
                  <a:lnTo>
                    <a:pt x="5500497" y="13714349"/>
                  </a:lnTo>
                  <a:lnTo>
                    <a:pt x="5431155" y="13714349"/>
                  </a:lnTo>
                  <a:lnTo>
                    <a:pt x="5361813" y="13714349"/>
                  </a:lnTo>
                  <a:lnTo>
                    <a:pt x="5291709" y="13713588"/>
                  </a:lnTo>
                  <a:lnTo>
                    <a:pt x="5222367" y="13715112"/>
                  </a:lnTo>
                  <a:lnTo>
                    <a:pt x="5153787" y="13714349"/>
                  </a:lnTo>
                  <a:lnTo>
                    <a:pt x="5084445" y="13714349"/>
                  </a:lnTo>
                  <a:lnTo>
                    <a:pt x="5015103" y="13714349"/>
                  </a:lnTo>
                  <a:lnTo>
                    <a:pt x="4944999" y="13713588"/>
                  </a:lnTo>
                  <a:lnTo>
                    <a:pt x="4874895" y="13714349"/>
                  </a:lnTo>
                  <a:lnTo>
                    <a:pt x="4806315" y="13715112"/>
                  </a:lnTo>
                  <a:lnTo>
                    <a:pt x="4737735" y="13714349"/>
                  </a:lnTo>
                  <a:lnTo>
                    <a:pt x="4668393" y="13714349"/>
                  </a:lnTo>
                  <a:lnTo>
                    <a:pt x="4598289" y="13713588"/>
                  </a:lnTo>
                  <a:lnTo>
                    <a:pt x="4528947" y="13713588"/>
                  </a:lnTo>
                  <a:lnTo>
                    <a:pt x="4459605" y="13715112"/>
                  </a:lnTo>
                  <a:lnTo>
                    <a:pt x="4391025" y="13714349"/>
                  </a:lnTo>
                  <a:lnTo>
                    <a:pt x="4321683" y="13714349"/>
                  </a:lnTo>
                  <a:lnTo>
                    <a:pt x="4252341" y="13714349"/>
                  </a:lnTo>
                  <a:lnTo>
                    <a:pt x="4182237" y="13713588"/>
                  </a:lnTo>
                  <a:lnTo>
                    <a:pt x="4112133" y="13714349"/>
                  </a:lnTo>
                  <a:lnTo>
                    <a:pt x="4043553" y="13715112"/>
                  </a:lnTo>
                  <a:lnTo>
                    <a:pt x="3974973" y="13714349"/>
                  </a:lnTo>
                  <a:lnTo>
                    <a:pt x="3905631" y="13714349"/>
                  </a:lnTo>
                  <a:lnTo>
                    <a:pt x="3835527" y="13713588"/>
                  </a:lnTo>
                  <a:lnTo>
                    <a:pt x="3766185" y="13713588"/>
                  </a:lnTo>
                  <a:lnTo>
                    <a:pt x="3696081" y="13714349"/>
                  </a:lnTo>
                  <a:lnTo>
                    <a:pt x="3627501" y="13715112"/>
                  </a:lnTo>
                  <a:lnTo>
                    <a:pt x="3558921" y="13714349"/>
                  </a:lnTo>
                  <a:lnTo>
                    <a:pt x="3488817" y="13713588"/>
                  </a:lnTo>
                  <a:lnTo>
                    <a:pt x="3419475" y="13713588"/>
                  </a:lnTo>
                  <a:lnTo>
                    <a:pt x="3349371" y="13714349"/>
                  </a:lnTo>
                  <a:lnTo>
                    <a:pt x="3280029" y="13714349"/>
                  </a:lnTo>
                  <a:lnTo>
                    <a:pt x="3211449" y="13715112"/>
                  </a:lnTo>
                  <a:lnTo>
                    <a:pt x="3142107" y="13713588"/>
                  </a:lnTo>
                  <a:lnTo>
                    <a:pt x="3072765" y="13713588"/>
                  </a:lnTo>
                  <a:lnTo>
                    <a:pt x="3003423" y="13713588"/>
                  </a:lnTo>
                  <a:lnTo>
                    <a:pt x="2933319" y="13714349"/>
                  </a:lnTo>
                  <a:lnTo>
                    <a:pt x="2863215" y="13713588"/>
                  </a:lnTo>
                  <a:lnTo>
                    <a:pt x="2794635" y="13714349"/>
                  </a:lnTo>
                  <a:lnTo>
                    <a:pt x="2726055" y="13713588"/>
                  </a:lnTo>
                  <a:lnTo>
                    <a:pt x="2656713" y="13713588"/>
                  </a:lnTo>
                  <a:lnTo>
                    <a:pt x="2586609" y="13714349"/>
                  </a:lnTo>
                  <a:lnTo>
                    <a:pt x="2517267" y="13714349"/>
                  </a:lnTo>
                  <a:lnTo>
                    <a:pt x="2448687" y="13715112"/>
                  </a:lnTo>
                  <a:lnTo>
                    <a:pt x="2379345" y="13713588"/>
                  </a:lnTo>
                  <a:lnTo>
                    <a:pt x="2310003" y="13713588"/>
                  </a:lnTo>
                  <a:lnTo>
                    <a:pt x="2240661" y="13713588"/>
                  </a:lnTo>
                  <a:lnTo>
                    <a:pt x="2170557" y="13714349"/>
                  </a:lnTo>
                  <a:lnTo>
                    <a:pt x="2100453" y="13713588"/>
                  </a:lnTo>
                  <a:lnTo>
                    <a:pt x="2031873" y="13714349"/>
                  </a:lnTo>
                  <a:lnTo>
                    <a:pt x="1963293" y="13713588"/>
                  </a:lnTo>
                  <a:lnTo>
                    <a:pt x="1893951" y="13713588"/>
                  </a:lnTo>
                  <a:lnTo>
                    <a:pt x="1823847" y="13714349"/>
                  </a:lnTo>
                  <a:lnTo>
                    <a:pt x="1753743" y="13713588"/>
                  </a:lnTo>
                  <a:lnTo>
                    <a:pt x="1684401" y="13713588"/>
                  </a:lnTo>
                  <a:lnTo>
                    <a:pt x="1615821" y="13714349"/>
                  </a:lnTo>
                  <a:lnTo>
                    <a:pt x="1547241" y="13713588"/>
                  </a:lnTo>
                  <a:lnTo>
                    <a:pt x="1477899" y="13713588"/>
                  </a:lnTo>
                  <a:lnTo>
                    <a:pt x="1407033" y="13713588"/>
                  </a:lnTo>
                  <a:lnTo>
                    <a:pt x="1337691" y="13713588"/>
                  </a:lnTo>
                  <a:lnTo>
                    <a:pt x="1268349" y="13713588"/>
                  </a:lnTo>
                  <a:lnTo>
                    <a:pt x="1199769" y="13714349"/>
                  </a:lnTo>
                  <a:lnTo>
                    <a:pt x="1131189" y="13713588"/>
                  </a:lnTo>
                  <a:lnTo>
                    <a:pt x="1060323" y="13713588"/>
                  </a:lnTo>
                  <a:lnTo>
                    <a:pt x="990981" y="13713588"/>
                  </a:lnTo>
                  <a:lnTo>
                    <a:pt x="921639" y="13713588"/>
                  </a:lnTo>
                  <a:lnTo>
                    <a:pt x="852297" y="13713588"/>
                  </a:lnTo>
                  <a:lnTo>
                    <a:pt x="784479" y="13713588"/>
                  </a:lnTo>
                  <a:lnTo>
                    <a:pt x="715137" y="13713588"/>
                  </a:lnTo>
                  <a:lnTo>
                    <a:pt x="644271" y="13713588"/>
                  </a:lnTo>
                  <a:lnTo>
                    <a:pt x="574929" y="13713588"/>
                  </a:lnTo>
                  <a:lnTo>
                    <a:pt x="505587" y="13713588"/>
                  </a:lnTo>
                  <a:lnTo>
                    <a:pt x="437007" y="13714349"/>
                  </a:lnTo>
                  <a:lnTo>
                    <a:pt x="368427" y="13713588"/>
                  </a:lnTo>
                  <a:lnTo>
                    <a:pt x="297561" y="13713588"/>
                  </a:lnTo>
                  <a:lnTo>
                    <a:pt x="228219" y="13713588"/>
                  </a:lnTo>
                  <a:lnTo>
                    <a:pt x="158877" y="13713588"/>
                  </a:lnTo>
                  <a:lnTo>
                    <a:pt x="89535" y="13713588"/>
                  </a:lnTo>
                  <a:lnTo>
                    <a:pt x="20955" y="13714349"/>
                  </a:lnTo>
                  <a:lnTo>
                    <a:pt x="0" y="13713840"/>
                  </a:lnTo>
                  <a:lnTo>
                    <a:pt x="0" y="12314809"/>
                  </a:lnTo>
                  <a:lnTo>
                    <a:pt x="20193" y="12314809"/>
                  </a:lnTo>
                  <a:lnTo>
                    <a:pt x="89535" y="12314809"/>
                  </a:lnTo>
                  <a:lnTo>
                    <a:pt x="158877" y="12316333"/>
                  </a:lnTo>
                  <a:lnTo>
                    <a:pt x="228219" y="12316333"/>
                  </a:lnTo>
                  <a:lnTo>
                    <a:pt x="297561" y="12314809"/>
                  </a:lnTo>
                  <a:lnTo>
                    <a:pt x="366903" y="12314809"/>
                  </a:lnTo>
                  <a:lnTo>
                    <a:pt x="436245" y="12314809"/>
                  </a:lnTo>
                  <a:lnTo>
                    <a:pt x="506349" y="12315571"/>
                  </a:lnTo>
                  <a:lnTo>
                    <a:pt x="574929" y="12316333"/>
                  </a:lnTo>
                  <a:lnTo>
                    <a:pt x="644271" y="12316333"/>
                  </a:lnTo>
                  <a:lnTo>
                    <a:pt x="713613" y="12314809"/>
                  </a:lnTo>
                  <a:lnTo>
                    <a:pt x="782955" y="12314809"/>
                  </a:lnTo>
                  <a:lnTo>
                    <a:pt x="852297" y="12314809"/>
                  </a:lnTo>
                  <a:lnTo>
                    <a:pt x="922401" y="12315571"/>
                  </a:lnTo>
                  <a:lnTo>
                    <a:pt x="990981" y="12316333"/>
                  </a:lnTo>
                  <a:lnTo>
                    <a:pt x="1061085" y="12315571"/>
                  </a:lnTo>
                  <a:lnTo>
                    <a:pt x="1129665" y="12314809"/>
                  </a:lnTo>
                  <a:lnTo>
                    <a:pt x="1199007" y="12314809"/>
                  </a:lnTo>
                  <a:lnTo>
                    <a:pt x="1269111" y="12315571"/>
                  </a:lnTo>
                  <a:lnTo>
                    <a:pt x="1337691" y="12316333"/>
                  </a:lnTo>
                  <a:lnTo>
                    <a:pt x="1407033" y="12316333"/>
                  </a:lnTo>
                  <a:lnTo>
                    <a:pt x="1477137" y="12315571"/>
                  </a:lnTo>
                  <a:lnTo>
                    <a:pt x="1545717" y="12314809"/>
                  </a:lnTo>
                  <a:lnTo>
                    <a:pt x="1572133" y="12315571"/>
                  </a:lnTo>
                  <a:lnTo>
                    <a:pt x="1594739" y="12315571"/>
                  </a:lnTo>
                  <a:lnTo>
                    <a:pt x="1614297" y="12314047"/>
                  </a:lnTo>
                  <a:lnTo>
                    <a:pt x="1633093" y="12313285"/>
                  </a:lnTo>
                  <a:lnTo>
                    <a:pt x="1650492" y="12310999"/>
                  </a:lnTo>
                  <a:lnTo>
                    <a:pt x="1667764" y="12308713"/>
                  </a:lnTo>
                  <a:lnTo>
                    <a:pt x="1684401" y="12307189"/>
                  </a:lnTo>
                  <a:lnTo>
                    <a:pt x="1702435" y="12304140"/>
                  </a:lnTo>
                  <a:lnTo>
                    <a:pt x="1719072" y="12299569"/>
                  </a:lnTo>
                  <a:lnTo>
                    <a:pt x="1737106" y="12294997"/>
                  </a:lnTo>
                  <a:lnTo>
                    <a:pt x="1754378" y="12291187"/>
                  </a:lnTo>
                  <a:lnTo>
                    <a:pt x="1772412" y="12286615"/>
                  </a:lnTo>
                  <a:lnTo>
                    <a:pt x="1788287" y="12281281"/>
                  </a:lnTo>
                  <a:lnTo>
                    <a:pt x="1807083" y="12274550"/>
                  </a:lnTo>
                  <a:lnTo>
                    <a:pt x="1823720" y="12268581"/>
                  </a:lnTo>
                  <a:lnTo>
                    <a:pt x="1841754" y="12262612"/>
                  </a:lnTo>
                  <a:lnTo>
                    <a:pt x="1858391" y="12255119"/>
                  </a:lnTo>
                  <a:lnTo>
                    <a:pt x="1876425" y="12246102"/>
                  </a:lnTo>
                  <a:lnTo>
                    <a:pt x="1892300" y="12237847"/>
                  </a:lnTo>
                  <a:lnTo>
                    <a:pt x="1911096" y="12228068"/>
                  </a:lnTo>
                  <a:lnTo>
                    <a:pt x="1927733" y="12219051"/>
                  </a:lnTo>
                  <a:lnTo>
                    <a:pt x="1945005" y="12207748"/>
                  </a:lnTo>
                  <a:lnTo>
                    <a:pt x="1962277" y="12196445"/>
                  </a:lnTo>
                  <a:lnTo>
                    <a:pt x="1980311" y="12184380"/>
                  </a:lnTo>
                  <a:lnTo>
                    <a:pt x="1997583" y="12171552"/>
                  </a:lnTo>
                  <a:lnTo>
                    <a:pt x="2015617" y="12157964"/>
                  </a:lnTo>
                  <a:lnTo>
                    <a:pt x="2031492" y="12143613"/>
                  </a:lnTo>
                  <a:lnTo>
                    <a:pt x="2048764" y="12127738"/>
                  </a:lnTo>
                  <a:lnTo>
                    <a:pt x="2066798" y="12109703"/>
                  </a:lnTo>
                  <a:lnTo>
                    <a:pt x="2084070" y="12092432"/>
                  </a:lnTo>
                  <a:lnTo>
                    <a:pt x="2100707" y="12074398"/>
                  </a:lnTo>
                  <a:lnTo>
                    <a:pt x="2120265" y="12051792"/>
                  </a:lnTo>
                  <a:lnTo>
                    <a:pt x="2137537" y="12028424"/>
                  </a:lnTo>
                  <a:lnTo>
                    <a:pt x="2154174" y="12004294"/>
                  </a:lnTo>
                  <a:lnTo>
                    <a:pt x="2170049" y="11979402"/>
                  </a:lnTo>
                  <a:lnTo>
                    <a:pt x="2191131" y="11943207"/>
                  </a:lnTo>
                  <a:lnTo>
                    <a:pt x="2209165" y="11905488"/>
                  </a:lnTo>
                  <a:lnTo>
                    <a:pt x="2225040" y="11865610"/>
                  </a:lnTo>
                  <a:lnTo>
                    <a:pt x="2239391" y="11827128"/>
                  </a:lnTo>
                  <a:lnTo>
                    <a:pt x="2246122" y="11800713"/>
                  </a:lnTo>
                  <a:lnTo>
                    <a:pt x="2252853" y="11775821"/>
                  </a:lnTo>
                  <a:lnTo>
                    <a:pt x="2258187" y="11749405"/>
                  </a:lnTo>
                  <a:lnTo>
                    <a:pt x="2262759" y="11723751"/>
                  </a:lnTo>
                  <a:lnTo>
                    <a:pt x="2266569" y="11697335"/>
                  </a:lnTo>
                  <a:lnTo>
                    <a:pt x="2268855" y="11670919"/>
                  </a:lnTo>
                  <a:lnTo>
                    <a:pt x="2271903" y="11643740"/>
                  </a:lnTo>
                  <a:lnTo>
                    <a:pt x="2270379" y="11616563"/>
                  </a:lnTo>
                  <a:lnTo>
                    <a:pt x="2270379" y="11589385"/>
                  </a:lnTo>
                  <a:lnTo>
                    <a:pt x="2269617" y="11562969"/>
                  </a:lnTo>
                  <a:lnTo>
                    <a:pt x="2267331" y="11535028"/>
                  </a:lnTo>
                  <a:lnTo>
                    <a:pt x="2263521" y="11508613"/>
                  </a:lnTo>
                  <a:lnTo>
                    <a:pt x="2258187" y="11483721"/>
                  </a:lnTo>
                  <a:lnTo>
                    <a:pt x="2252218" y="11456543"/>
                  </a:lnTo>
                  <a:lnTo>
                    <a:pt x="2246884" y="11431651"/>
                  </a:lnTo>
                  <a:lnTo>
                    <a:pt x="2238629" y="11406759"/>
                  </a:lnTo>
                  <a:lnTo>
                    <a:pt x="2225040" y="11367515"/>
                  </a:lnTo>
                  <a:lnTo>
                    <a:pt x="2207768" y="11327511"/>
                  </a:lnTo>
                  <a:lnTo>
                    <a:pt x="2191131" y="11289792"/>
                  </a:lnTo>
                  <a:lnTo>
                    <a:pt x="2169287" y="11252835"/>
                  </a:lnTo>
                  <a:lnTo>
                    <a:pt x="2154174" y="11228705"/>
                  </a:lnTo>
                  <a:lnTo>
                    <a:pt x="2137537" y="11204575"/>
                  </a:lnTo>
                  <a:lnTo>
                    <a:pt x="2119503" y="11180445"/>
                  </a:lnTo>
                  <a:lnTo>
                    <a:pt x="2101469" y="11157839"/>
                  </a:lnTo>
                  <a:lnTo>
                    <a:pt x="2084197" y="11139043"/>
                  </a:lnTo>
                  <a:lnTo>
                    <a:pt x="2066925" y="11121771"/>
                  </a:lnTo>
                  <a:lnTo>
                    <a:pt x="2050288" y="11105134"/>
                  </a:lnTo>
                  <a:lnTo>
                    <a:pt x="2031492" y="11087862"/>
                  </a:lnTo>
                  <a:lnTo>
                    <a:pt x="2014220" y="11075035"/>
                  </a:lnTo>
                  <a:lnTo>
                    <a:pt x="1997583" y="11059922"/>
                  </a:lnTo>
                  <a:lnTo>
                    <a:pt x="1979549" y="11047857"/>
                  </a:lnTo>
                  <a:lnTo>
                    <a:pt x="1961515" y="11035792"/>
                  </a:lnTo>
                  <a:lnTo>
                    <a:pt x="1944878" y="11023727"/>
                  </a:lnTo>
                  <a:lnTo>
                    <a:pt x="1929003" y="11013948"/>
                  </a:lnTo>
                  <a:lnTo>
                    <a:pt x="1910969" y="11003407"/>
                  </a:lnTo>
                  <a:lnTo>
                    <a:pt x="1892173" y="10993627"/>
                  </a:lnTo>
                  <a:lnTo>
                    <a:pt x="1876298" y="10985373"/>
                  </a:lnTo>
                  <a:lnTo>
                    <a:pt x="1859026" y="10978642"/>
                  </a:lnTo>
                  <a:lnTo>
                    <a:pt x="1840992" y="10969625"/>
                  </a:lnTo>
                  <a:lnTo>
                    <a:pt x="1823720" y="10962894"/>
                  </a:lnTo>
                  <a:lnTo>
                    <a:pt x="1806448" y="10957560"/>
                  </a:lnTo>
                  <a:lnTo>
                    <a:pt x="1789176" y="10950828"/>
                  </a:lnTo>
                  <a:lnTo>
                    <a:pt x="1771904" y="10945495"/>
                  </a:lnTo>
                  <a:lnTo>
                    <a:pt x="1753870" y="10940923"/>
                  </a:lnTo>
                  <a:lnTo>
                    <a:pt x="1737233" y="10936351"/>
                  </a:lnTo>
                  <a:lnTo>
                    <a:pt x="1719961" y="10932540"/>
                  </a:lnTo>
                  <a:lnTo>
                    <a:pt x="1701927" y="10927969"/>
                  </a:lnTo>
                  <a:lnTo>
                    <a:pt x="1685290" y="10926445"/>
                  </a:lnTo>
                  <a:lnTo>
                    <a:pt x="1667256" y="10923397"/>
                  </a:lnTo>
                  <a:lnTo>
                    <a:pt x="1650619" y="10921873"/>
                  </a:lnTo>
                  <a:lnTo>
                    <a:pt x="1633347" y="10919587"/>
                  </a:lnTo>
                  <a:lnTo>
                    <a:pt x="1616075" y="10918825"/>
                  </a:lnTo>
                  <a:lnTo>
                    <a:pt x="1594993" y="10917301"/>
                  </a:lnTo>
                  <a:lnTo>
                    <a:pt x="1572387" y="10917301"/>
                  </a:lnTo>
                  <a:lnTo>
                    <a:pt x="1545971" y="10916539"/>
                  </a:lnTo>
                  <a:lnTo>
                    <a:pt x="1477391" y="10915777"/>
                  </a:lnTo>
                  <a:lnTo>
                    <a:pt x="1408049" y="10915777"/>
                  </a:lnTo>
                  <a:lnTo>
                    <a:pt x="1337183" y="10915777"/>
                  </a:lnTo>
                  <a:lnTo>
                    <a:pt x="1267841" y="10915777"/>
                  </a:lnTo>
                  <a:lnTo>
                    <a:pt x="1199261" y="10915015"/>
                  </a:lnTo>
                  <a:lnTo>
                    <a:pt x="1129919" y="10915015"/>
                  </a:lnTo>
                  <a:lnTo>
                    <a:pt x="1061339" y="10915777"/>
                  </a:lnTo>
                  <a:lnTo>
                    <a:pt x="991235" y="10915015"/>
                  </a:lnTo>
                  <a:lnTo>
                    <a:pt x="922655" y="10914252"/>
                  </a:lnTo>
                  <a:lnTo>
                    <a:pt x="852551" y="10915015"/>
                  </a:lnTo>
                  <a:lnTo>
                    <a:pt x="783209" y="10915015"/>
                  </a:lnTo>
                  <a:lnTo>
                    <a:pt x="713867" y="10913490"/>
                  </a:lnTo>
                  <a:lnTo>
                    <a:pt x="644525" y="10913490"/>
                  </a:lnTo>
                  <a:lnTo>
                    <a:pt x="575183" y="10913490"/>
                  </a:lnTo>
                  <a:lnTo>
                    <a:pt x="512572" y="10914252"/>
                  </a:lnTo>
                  <a:lnTo>
                    <a:pt x="505079" y="10914252"/>
                  </a:lnTo>
                  <a:lnTo>
                    <a:pt x="487807" y="10913490"/>
                  </a:lnTo>
                  <a:lnTo>
                    <a:pt x="470408" y="10912728"/>
                  </a:lnTo>
                  <a:lnTo>
                    <a:pt x="453136" y="10910443"/>
                  </a:lnTo>
                  <a:lnTo>
                    <a:pt x="436499" y="10908919"/>
                  </a:lnTo>
                  <a:lnTo>
                    <a:pt x="419227" y="10906633"/>
                  </a:lnTo>
                  <a:lnTo>
                    <a:pt x="401828" y="10904347"/>
                  </a:lnTo>
                  <a:lnTo>
                    <a:pt x="383794" y="10901299"/>
                  </a:lnTo>
                  <a:lnTo>
                    <a:pt x="366522" y="10897489"/>
                  </a:lnTo>
                  <a:lnTo>
                    <a:pt x="349885" y="10892917"/>
                  </a:lnTo>
                  <a:lnTo>
                    <a:pt x="332613" y="10889107"/>
                  </a:lnTo>
                  <a:lnTo>
                    <a:pt x="315341" y="10885297"/>
                  </a:lnTo>
                  <a:lnTo>
                    <a:pt x="298704" y="10879327"/>
                  </a:lnTo>
                  <a:lnTo>
                    <a:pt x="280670" y="10873359"/>
                  </a:lnTo>
                  <a:lnTo>
                    <a:pt x="264033" y="10867390"/>
                  </a:lnTo>
                  <a:lnTo>
                    <a:pt x="245237" y="10860659"/>
                  </a:lnTo>
                  <a:lnTo>
                    <a:pt x="228600" y="10853165"/>
                  </a:lnTo>
                  <a:lnTo>
                    <a:pt x="211328" y="10844911"/>
                  </a:lnTo>
                  <a:lnTo>
                    <a:pt x="192532" y="10836656"/>
                  </a:lnTo>
                  <a:lnTo>
                    <a:pt x="175895" y="10827639"/>
                  </a:lnTo>
                  <a:lnTo>
                    <a:pt x="158623" y="10817860"/>
                  </a:lnTo>
                  <a:lnTo>
                    <a:pt x="140589" y="10807319"/>
                  </a:lnTo>
                  <a:lnTo>
                    <a:pt x="123317" y="10794492"/>
                  </a:lnTo>
                  <a:lnTo>
                    <a:pt x="106680" y="10783951"/>
                  </a:lnTo>
                  <a:lnTo>
                    <a:pt x="89408" y="10771124"/>
                  </a:lnTo>
                  <a:lnTo>
                    <a:pt x="71374" y="10756011"/>
                  </a:lnTo>
                  <a:lnTo>
                    <a:pt x="54737" y="10740898"/>
                  </a:lnTo>
                  <a:lnTo>
                    <a:pt x="37465" y="10726547"/>
                  </a:lnTo>
                  <a:lnTo>
                    <a:pt x="20828" y="10711434"/>
                  </a:lnTo>
                  <a:lnTo>
                    <a:pt x="2794" y="10691876"/>
                  </a:lnTo>
                  <a:lnTo>
                    <a:pt x="762" y="10689463"/>
                  </a:lnTo>
                  <a:lnTo>
                    <a:pt x="762" y="9738106"/>
                  </a:lnTo>
                  <a:lnTo>
                    <a:pt x="2032" y="9736710"/>
                  </a:lnTo>
                  <a:lnTo>
                    <a:pt x="20828" y="9717913"/>
                  </a:lnTo>
                  <a:lnTo>
                    <a:pt x="36703" y="9702038"/>
                  </a:lnTo>
                  <a:lnTo>
                    <a:pt x="53340" y="9686925"/>
                  </a:lnTo>
                  <a:lnTo>
                    <a:pt x="72136" y="9671050"/>
                  </a:lnTo>
                  <a:lnTo>
                    <a:pt x="90170" y="9657462"/>
                  </a:lnTo>
                  <a:lnTo>
                    <a:pt x="106045" y="9644635"/>
                  </a:lnTo>
                  <a:lnTo>
                    <a:pt x="124079" y="9632569"/>
                  </a:lnTo>
                  <a:lnTo>
                    <a:pt x="140716" y="9622028"/>
                  </a:lnTo>
                  <a:lnTo>
                    <a:pt x="158750" y="9611488"/>
                  </a:lnTo>
                  <a:lnTo>
                    <a:pt x="176022" y="9601708"/>
                  </a:lnTo>
                  <a:lnTo>
                    <a:pt x="192659" y="9592691"/>
                  </a:lnTo>
                  <a:lnTo>
                    <a:pt x="210693" y="9583675"/>
                  </a:lnTo>
                  <a:lnTo>
                    <a:pt x="227965" y="9575419"/>
                  </a:lnTo>
                  <a:lnTo>
                    <a:pt x="245237" y="9568688"/>
                  </a:lnTo>
                  <a:lnTo>
                    <a:pt x="262509" y="9560433"/>
                  </a:lnTo>
                  <a:lnTo>
                    <a:pt x="279146" y="9554464"/>
                  </a:lnTo>
                  <a:lnTo>
                    <a:pt x="297942" y="9549130"/>
                  </a:lnTo>
                  <a:lnTo>
                    <a:pt x="315341" y="9543797"/>
                  </a:lnTo>
                  <a:lnTo>
                    <a:pt x="331978" y="9537827"/>
                  </a:lnTo>
                  <a:lnTo>
                    <a:pt x="349250" y="9534017"/>
                  </a:lnTo>
                  <a:lnTo>
                    <a:pt x="368046" y="9530207"/>
                  </a:lnTo>
                  <a:lnTo>
                    <a:pt x="384683" y="9527160"/>
                  </a:lnTo>
                  <a:lnTo>
                    <a:pt x="400558" y="9523350"/>
                  </a:lnTo>
                  <a:lnTo>
                    <a:pt x="418592" y="9520301"/>
                  </a:lnTo>
                  <a:lnTo>
                    <a:pt x="435229" y="9518777"/>
                  </a:lnTo>
                  <a:lnTo>
                    <a:pt x="436753" y="9520301"/>
                  </a:lnTo>
                  <a:lnTo>
                    <a:pt x="505333" y="9519539"/>
                  </a:lnTo>
                  <a:lnTo>
                    <a:pt x="574675" y="9519539"/>
                  </a:lnTo>
                  <a:lnTo>
                    <a:pt x="644779" y="9518777"/>
                  </a:lnTo>
                  <a:lnTo>
                    <a:pt x="714121" y="9518777"/>
                  </a:lnTo>
                  <a:lnTo>
                    <a:pt x="783463" y="9520301"/>
                  </a:lnTo>
                  <a:lnTo>
                    <a:pt x="852043" y="9519539"/>
                  </a:lnTo>
                  <a:lnTo>
                    <a:pt x="921385" y="9519539"/>
                  </a:lnTo>
                  <a:lnTo>
                    <a:pt x="991489" y="9518777"/>
                  </a:lnTo>
                  <a:lnTo>
                    <a:pt x="1060831" y="9518777"/>
                  </a:lnTo>
                  <a:lnTo>
                    <a:pt x="1130935" y="9519539"/>
                  </a:lnTo>
                  <a:lnTo>
                    <a:pt x="1199515" y="9520301"/>
                  </a:lnTo>
                  <a:lnTo>
                    <a:pt x="1268095" y="9519539"/>
                  </a:lnTo>
                  <a:lnTo>
                    <a:pt x="1337437" y="9519539"/>
                  </a:lnTo>
                  <a:lnTo>
                    <a:pt x="1407541" y="9518777"/>
                  </a:lnTo>
                  <a:lnTo>
                    <a:pt x="1477645" y="9519539"/>
                  </a:lnTo>
                  <a:lnTo>
                    <a:pt x="1546987" y="9519539"/>
                  </a:lnTo>
                  <a:lnTo>
                    <a:pt x="1615567" y="9520301"/>
                  </a:lnTo>
                  <a:lnTo>
                    <a:pt x="1684147" y="9519539"/>
                  </a:lnTo>
                  <a:lnTo>
                    <a:pt x="1754251" y="9518777"/>
                  </a:lnTo>
                  <a:lnTo>
                    <a:pt x="1823593" y="9518777"/>
                  </a:lnTo>
                  <a:lnTo>
                    <a:pt x="1893697" y="9519539"/>
                  </a:lnTo>
                  <a:lnTo>
                    <a:pt x="1963039" y="9519539"/>
                  </a:lnTo>
                  <a:lnTo>
                    <a:pt x="2031619" y="9520301"/>
                  </a:lnTo>
                  <a:lnTo>
                    <a:pt x="2100199" y="9519539"/>
                  </a:lnTo>
                  <a:lnTo>
                    <a:pt x="2170303" y="9518777"/>
                  </a:lnTo>
                  <a:lnTo>
                    <a:pt x="2240407" y="9519539"/>
                  </a:lnTo>
                  <a:lnTo>
                    <a:pt x="2309749" y="9519539"/>
                  </a:lnTo>
                  <a:lnTo>
                    <a:pt x="2379091" y="9519539"/>
                  </a:lnTo>
                  <a:lnTo>
                    <a:pt x="2446909" y="9519539"/>
                  </a:lnTo>
                  <a:lnTo>
                    <a:pt x="2517013" y="9518777"/>
                  </a:lnTo>
                  <a:lnTo>
                    <a:pt x="2587117" y="9519539"/>
                  </a:lnTo>
                  <a:lnTo>
                    <a:pt x="2656459" y="9519539"/>
                  </a:lnTo>
                  <a:lnTo>
                    <a:pt x="2725801" y="9519539"/>
                  </a:lnTo>
                  <a:lnTo>
                    <a:pt x="2794381" y="9520301"/>
                  </a:lnTo>
                  <a:lnTo>
                    <a:pt x="2795143" y="9519539"/>
                  </a:lnTo>
                  <a:lnTo>
                    <a:pt x="2813685" y="9519539"/>
                  </a:lnTo>
                  <a:lnTo>
                    <a:pt x="2830957" y="9518777"/>
                  </a:lnTo>
                  <a:lnTo>
                    <a:pt x="2847594" y="9518777"/>
                  </a:lnTo>
                  <a:lnTo>
                    <a:pt x="2864866" y="9516491"/>
                  </a:lnTo>
                  <a:lnTo>
                    <a:pt x="2881503" y="9514967"/>
                  </a:lnTo>
                  <a:lnTo>
                    <a:pt x="2899537" y="9511919"/>
                  </a:lnTo>
                  <a:lnTo>
                    <a:pt x="2917571" y="9508872"/>
                  </a:lnTo>
                  <a:lnTo>
                    <a:pt x="2933446" y="9506586"/>
                  </a:lnTo>
                  <a:lnTo>
                    <a:pt x="2951480" y="9502013"/>
                  </a:lnTo>
                  <a:lnTo>
                    <a:pt x="2968117" y="9497441"/>
                  </a:lnTo>
                  <a:lnTo>
                    <a:pt x="2986151" y="9492869"/>
                  </a:lnTo>
                  <a:lnTo>
                    <a:pt x="3003423" y="9489060"/>
                  </a:lnTo>
                  <a:lnTo>
                    <a:pt x="3020695" y="9482328"/>
                  </a:lnTo>
                  <a:lnTo>
                    <a:pt x="3037967" y="9476994"/>
                  </a:lnTo>
                  <a:lnTo>
                    <a:pt x="3055239" y="9470263"/>
                  </a:lnTo>
                  <a:lnTo>
                    <a:pt x="3073273" y="9462770"/>
                  </a:lnTo>
                  <a:lnTo>
                    <a:pt x="3090545" y="9454515"/>
                  </a:lnTo>
                  <a:lnTo>
                    <a:pt x="3107182" y="9447023"/>
                  </a:lnTo>
                  <a:lnTo>
                    <a:pt x="3124453" y="9437243"/>
                  </a:lnTo>
                  <a:lnTo>
                    <a:pt x="3141091" y="9428226"/>
                  </a:lnTo>
                  <a:lnTo>
                    <a:pt x="3159125" y="9417686"/>
                  </a:lnTo>
                  <a:lnTo>
                    <a:pt x="3177159" y="9407144"/>
                  </a:lnTo>
                  <a:lnTo>
                    <a:pt x="3195193" y="9395079"/>
                  </a:lnTo>
                  <a:lnTo>
                    <a:pt x="3211068" y="9382252"/>
                  </a:lnTo>
                  <a:lnTo>
                    <a:pt x="3229102" y="9368663"/>
                  </a:lnTo>
                  <a:lnTo>
                    <a:pt x="3246374" y="9354313"/>
                  </a:lnTo>
                  <a:lnTo>
                    <a:pt x="3263646" y="9339962"/>
                  </a:lnTo>
                  <a:lnTo>
                    <a:pt x="3280918" y="9324087"/>
                  </a:lnTo>
                  <a:lnTo>
                    <a:pt x="3298190" y="9306814"/>
                  </a:lnTo>
                  <a:lnTo>
                    <a:pt x="3316224" y="9287256"/>
                  </a:lnTo>
                  <a:lnTo>
                    <a:pt x="3332861" y="9267699"/>
                  </a:lnTo>
                  <a:lnTo>
                    <a:pt x="3350133" y="9247378"/>
                  </a:lnTo>
                  <a:lnTo>
                    <a:pt x="3368928" y="9220963"/>
                  </a:lnTo>
                  <a:lnTo>
                    <a:pt x="3386201" y="9194547"/>
                  </a:lnTo>
                  <a:lnTo>
                    <a:pt x="3402838" y="9165972"/>
                  </a:lnTo>
                  <a:lnTo>
                    <a:pt x="3417189" y="9138031"/>
                  </a:lnTo>
                  <a:lnTo>
                    <a:pt x="3431540" y="9111615"/>
                  </a:lnTo>
                  <a:lnTo>
                    <a:pt x="3443605" y="9085962"/>
                  </a:lnTo>
                  <a:lnTo>
                    <a:pt x="3454146" y="9058783"/>
                  </a:lnTo>
                  <a:lnTo>
                    <a:pt x="3461639" y="9031605"/>
                  </a:lnTo>
                  <a:lnTo>
                    <a:pt x="3470656" y="9004427"/>
                  </a:lnTo>
                  <a:lnTo>
                    <a:pt x="3478149" y="8975852"/>
                  </a:lnTo>
                  <a:lnTo>
                    <a:pt x="3482721" y="8947277"/>
                  </a:lnTo>
                  <a:lnTo>
                    <a:pt x="3487293" y="8917178"/>
                  </a:lnTo>
                  <a:lnTo>
                    <a:pt x="3491865" y="8893049"/>
                  </a:lnTo>
                  <a:lnTo>
                    <a:pt x="3493389" y="8868918"/>
                  </a:lnTo>
                  <a:lnTo>
                    <a:pt x="3494151" y="8845550"/>
                  </a:lnTo>
                  <a:lnTo>
                    <a:pt x="3494913" y="8819135"/>
                  </a:lnTo>
                  <a:lnTo>
                    <a:pt x="3494151" y="8795766"/>
                  </a:lnTo>
                  <a:lnTo>
                    <a:pt x="3493389" y="8770875"/>
                  </a:lnTo>
                  <a:lnTo>
                    <a:pt x="3490341" y="8746744"/>
                  </a:lnTo>
                  <a:lnTo>
                    <a:pt x="3488817" y="8722614"/>
                  </a:lnTo>
                  <a:lnTo>
                    <a:pt x="3483483" y="8693277"/>
                  </a:lnTo>
                  <a:lnTo>
                    <a:pt x="3478149" y="8665338"/>
                  </a:lnTo>
                  <a:lnTo>
                    <a:pt x="3470656" y="8636763"/>
                  </a:lnTo>
                  <a:lnTo>
                    <a:pt x="3461639" y="8609585"/>
                  </a:lnTo>
                  <a:lnTo>
                    <a:pt x="3452622" y="8581010"/>
                  </a:lnTo>
                  <a:lnTo>
                    <a:pt x="3442843" y="8554593"/>
                  </a:lnTo>
                  <a:lnTo>
                    <a:pt x="3431540" y="8528177"/>
                  </a:lnTo>
                  <a:lnTo>
                    <a:pt x="3418713" y="8501762"/>
                  </a:lnTo>
                  <a:lnTo>
                    <a:pt x="3402838" y="8473822"/>
                  </a:lnTo>
                  <a:lnTo>
                    <a:pt x="3386201" y="8445247"/>
                  </a:lnTo>
                  <a:lnTo>
                    <a:pt x="3367405" y="8418830"/>
                  </a:lnTo>
                  <a:lnTo>
                    <a:pt x="3348609" y="8392414"/>
                  </a:lnTo>
                  <a:lnTo>
                    <a:pt x="3332734" y="8373618"/>
                  </a:lnTo>
                  <a:lnTo>
                    <a:pt x="3316097" y="8354061"/>
                  </a:lnTo>
                  <a:lnTo>
                    <a:pt x="3298063" y="8334502"/>
                  </a:lnTo>
                  <a:lnTo>
                    <a:pt x="3280028" y="8316468"/>
                  </a:lnTo>
                  <a:lnTo>
                    <a:pt x="3264153" y="8300593"/>
                  </a:lnTo>
                  <a:lnTo>
                    <a:pt x="3246120" y="8287004"/>
                  </a:lnTo>
                  <a:lnTo>
                    <a:pt x="3228848" y="8271129"/>
                  </a:lnTo>
                  <a:lnTo>
                    <a:pt x="3210052" y="8258302"/>
                  </a:lnTo>
                  <a:lnTo>
                    <a:pt x="3193415" y="8244713"/>
                  </a:lnTo>
                  <a:lnTo>
                    <a:pt x="3176143" y="8233411"/>
                  </a:lnTo>
                  <a:lnTo>
                    <a:pt x="3158871" y="8223631"/>
                  </a:lnTo>
                  <a:lnTo>
                    <a:pt x="3141599" y="8212328"/>
                  </a:lnTo>
                  <a:lnTo>
                    <a:pt x="3123565" y="8203312"/>
                  </a:lnTo>
                  <a:lnTo>
                    <a:pt x="3106928" y="8194294"/>
                  </a:lnTo>
                  <a:lnTo>
                    <a:pt x="3088894" y="8185277"/>
                  </a:lnTo>
                  <a:lnTo>
                    <a:pt x="3072257" y="8177785"/>
                  </a:lnTo>
                  <a:lnTo>
                    <a:pt x="3054985" y="8171053"/>
                  </a:lnTo>
                  <a:lnTo>
                    <a:pt x="3037713" y="8164323"/>
                  </a:lnTo>
                  <a:lnTo>
                    <a:pt x="3020441" y="8158988"/>
                  </a:lnTo>
                  <a:lnTo>
                    <a:pt x="3003042" y="8152257"/>
                  </a:lnTo>
                  <a:lnTo>
                    <a:pt x="2985770" y="8148448"/>
                  </a:lnTo>
                  <a:lnTo>
                    <a:pt x="2969133" y="8142478"/>
                  </a:lnTo>
                  <a:lnTo>
                    <a:pt x="2951099" y="8137906"/>
                  </a:lnTo>
                  <a:lnTo>
                    <a:pt x="2933065" y="8134858"/>
                  </a:lnTo>
                  <a:lnTo>
                    <a:pt x="2915793" y="8131049"/>
                  </a:lnTo>
                  <a:lnTo>
                    <a:pt x="2899156" y="8129525"/>
                  </a:lnTo>
                  <a:lnTo>
                    <a:pt x="2881122" y="8126476"/>
                  </a:lnTo>
                  <a:lnTo>
                    <a:pt x="2864485" y="8124952"/>
                  </a:lnTo>
                  <a:lnTo>
                    <a:pt x="2847213" y="8122666"/>
                  </a:lnTo>
                  <a:lnTo>
                    <a:pt x="2830576" y="8122666"/>
                  </a:lnTo>
                  <a:lnTo>
                    <a:pt x="2813303" y="8120380"/>
                  </a:lnTo>
                  <a:lnTo>
                    <a:pt x="2796667" y="8120380"/>
                  </a:lnTo>
                  <a:lnTo>
                    <a:pt x="2795143" y="8120380"/>
                  </a:lnTo>
                  <a:lnTo>
                    <a:pt x="2725039" y="8121142"/>
                  </a:lnTo>
                  <a:lnTo>
                    <a:pt x="2656459" y="8121904"/>
                  </a:lnTo>
                  <a:lnTo>
                    <a:pt x="2586355" y="8121142"/>
                  </a:lnTo>
                  <a:lnTo>
                    <a:pt x="2517775" y="8120380"/>
                  </a:lnTo>
                  <a:lnTo>
                    <a:pt x="2448433" y="8120380"/>
                  </a:lnTo>
                  <a:lnTo>
                    <a:pt x="2378328" y="8121142"/>
                  </a:lnTo>
                  <a:lnTo>
                    <a:pt x="2308225" y="8120380"/>
                  </a:lnTo>
                  <a:lnTo>
                    <a:pt x="2239645" y="8121142"/>
                  </a:lnTo>
                  <a:lnTo>
                    <a:pt x="2170303" y="8121142"/>
                  </a:lnTo>
                  <a:lnTo>
                    <a:pt x="2101723" y="8120380"/>
                  </a:lnTo>
                  <a:lnTo>
                    <a:pt x="2032381" y="8120380"/>
                  </a:lnTo>
                  <a:lnTo>
                    <a:pt x="1961515" y="8120380"/>
                  </a:lnTo>
                  <a:lnTo>
                    <a:pt x="1892173" y="8120380"/>
                  </a:lnTo>
                  <a:lnTo>
                    <a:pt x="1823593" y="8121142"/>
                  </a:lnTo>
                  <a:lnTo>
                    <a:pt x="1754251" y="8121142"/>
                  </a:lnTo>
                  <a:lnTo>
                    <a:pt x="1685671" y="8120380"/>
                  </a:lnTo>
                  <a:lnTo>
                    <a:pt x="1614805" y="8120380"/>
                  </a:lnTo>
                  <a:lnTo>
                    <a:pt x="1545463" y="8120380"/>
                  </a:lnTo>
                  <a:lnTo>
                    <a:pt x="1476883" y="8121142"/>
                  </a:lnTo>
                  <a:lnTo>
                    <a:pt x="1407541" y="8121142"/>
                  </a:lnTo>
                  <a:lnTo>
                    <a:pt x="1338199" y="8121142"/>
                  </a:lnTo>
                  <a:lnTo>
                    <a:pt x="1269619" y="8120380"/>
                  </a:lnTo>
                  <a:lnTo>
                    <a:pt x="1198753" y="8120380"/>
                  </a:lnTo>
                  <a:lnTo>
                    <a:pt x="1129411" y="8120380"/>
                  </a:lnTo>
                  <a:lnTo>
                    <a:pt x="1060831" y="8121142"/>
                  </a:lnTo>
                  <a:lnTo>
                    <a:pt x="991489" y="8121142"/>
                  </a:lnTo>
                  <a:lnTo>
                    <a:pt x="921385" y="8121904"/>
                  </a:lnTo>
                  <a:lnTo>
                    <a:pt x="852043" y="8120380"/>
                  </a:lnTo>
                  <a:lnTo>
                    <a:pt x="782701" y="8120380"/>
                  </a:lnTo>
                  <a:lnTo>
                    <a:pt x="713359" y="8120380"/>
                  </a:lnTo>
                  <a:lnTo>
                    <a:pt x="644778" y="8121142"/>
                  </a:lnTo>
                  <a:lnTo>
                    <a:pt x="575437" y="8121142"/>
                  </a:lnTo>
                  <a:lnTo>
                    <a:pt x="506095" y="8119618"/>
                  </a:lnTo>
                  <a:lnTo>
                    <a:pt x="435991" y="8120380"/>
                  </a:lnTo>
                  <a:lnTo>
                    <a:pt x="366649" y="8120380"/>
                  </a:lnTo>
                  <a:lnTo>
                    <a:pt x="297307" y="8120380"/>
                  </a:lnTo>
                  <a:lnTo>
                    <a:pt x="228727" y="8121142"/>
                  </a:lnTo>
                  <a:lnTo>
                    <a:pt x="157861" y="8121142"/>
                  </a:lnTo>
                  <a:lnTo>
                    <a:pt x="89281" y="8120380"/>
                  </a:lnTo>
                  <a:lnTo>
                    <a:pt x="19939" y="8120380"/>
                  </a:lnTo>
                  <a:lnTo>
                    <a:pt x="635" y="8120380"/>
                  </a:lnTo>
                  <a:lnTo>
                    <a:pt x="635" y="6723634"/>
                  </a:lnTo>
                  <a:lnTo>
                    <a:pt x="19812" y="6723888"/>
                  </a:lnTo>
                  <a:lnTo>
                    <a:pt x="89153" y="6723888"/>
                  </a:lnTo>
                  <a:lnTo>
                    <a:pt x="158496" y="6722364"/>
                  </a:lnTo>
                  <a:lnTo>
                    <a:pt x="227838" y="6722364"/>
                  </a:lnTo>
                  <a:lnTo>
                    <a:pt x="296418" y="6723126"/>
                  </a:lnTo>
                  <a:lnTo>
                    <a:pt x="349123" y="6723126"/>
                  </a:lnTo>
                  <a:lnTo>
                    <a:pt x="356616" y="6723126"/>
                  </a:lnTo>
                  <a:lnTo>
                    <a:pt x="366395" y="6723888"/>
                  </a:lnTo>
                  <a:lnTo>
                    <a:pt x="384428" y="6722364"/>
                  </a:lnTo>
                  <a:lnTo>
                    <a:pt x="401066" y="6720840"/>
                  </a:lnTo>
                  <a:lnTo>
                    <a:pt x="419100" y="6719315"/>
                  </a:lnTo>
                  <a:lnTo>
                    <a:pt x="435737" y="6717792"/>
                  </a:lnTo>
                  <a:lnTo>
                    <a:pt x="453009" y="6715506"/>
                  </a:lnTo>
                  <a:lnTo>
                    <a:pt x="470281" y="6713220"/>
                  </a:lnTo>
                  <a:lnTo>
                    <a:pt x="487680" y="6709410"/>
                  </a:lnTo>
                  <a:lnTo>
                    <a:pt x="504952" y="6705600"/>
                  </a:lnTo>
                  <a:lnTo>
                    <a:pt x="522224" y="6700265"/>
                  </a:lnTo>
                  <a:lnTo>
                    <a:pt x="540258" y="6695694"/>
                  </a:lnTo>
                  <a:lnTo>
                    <a:pt x="557657" y="6691884"/>
                  </a:lnTo>
                  <a:lnTo>
                    <a:pt x="574294" y="6685915"/>
                  </a:lnTo>
                  <a:lnTo>
                    <a:pt x="592328" y="6679946"/>
                  </a:lnTo>
                  <a:lnTo>
                    <a:pt x="608965" y="6672452"/>
                  </a:lnTo>
                  <a:lnTo>
                    <a:pt x="626999" y="6666484"/>
                  </a:lnTo>
                  <a:lnTo>
                    <a:pt x="644398" y="6658228"/>
                  </a:lnTo>
                  <a:lnTo>
                    <a:pt x="661035" y="6649212"/>
                  </a:lnTo>
                  <a:lnTo>
                    <a:pt x="678307" y="6640957"/>
                  </a:lnTo>
                  <a:lnTo>
                    <a:pt x="695578" y="6631177"/>
                  </a:lnTo>
                  <a:lnTo>
                    <a:pt x="713613" y="6620637"/>
                  </a:lnTo>
                  <a:lnTo>
                    <a:pt x="730250" y="6610096"/>
                  </a:lnTo>
                  <a:lnTo>
                    <a:pt x="748284" y="6598031"/>
                  </a:lnTo>
                  <a:lnTo>
                    <a:pt x="765683" y="6585203"/>
                  </a:lnTo>
                  <a:lnTo>
                    <a:pt x="782320" y="6573139"/>
                  </a:lnTo>
                  <a:lnTo>
                    <a:pt x="800353" y="6556502"/>
                  </a:lnTo>
                  <a:lnTo>
                    <a:pt x="818388" y="6542913"/>
                  </a:lnTo>
                  <a:lnTo>
                    <a:pt x="835025" y="6526276"/>
                  </a:lnTo>
                  <a:lnTo>
                    <a:pt x="852297" y="6509003"/>
                  </a:lnTo>
                  <a:lnTo>
                    <a:pt x="869569" y="6488684"/>
                  </a:lnTo>
                  <a:lnTo>
                    <a:pt x="887603" y="6469126"/>
                  </a:lnTo>
                  <a:lnTo>
                    <a:pt x="904240" y="6446520"/>
                  </a:lnTo>
                  <a:lnTo>
                    <a:pt x="920877" y="6425438"/>
                  </a:lnTo>
                  <a:lnTo>
                    <a:pt x="940435" y="6395339"/>
                  </a:lnTo>
                  <a:lnTo>
                    <a:pt x="958469" y="6365240"/>
                  </a:lnTo>
                  <a:lnTo>
                    <a:pt x="976503" y="6333617"/>
                  </a:lnTo>
                  <a:lnTo>
                    <a:pt x="990092" y="6300470"/>
                  </a:lnTo>
                  <a:lnTo>
                    <a:pt x="1003681" y="6268847"/>
                  </a:lnTo>
                  <a:lnTo>
                    <a:pt x="1014222" y="6237224"/>
                  </a:lnTo>
                  <a:lnTo>
                    <a:pt x="1024763" y="6202553"/>
                  </a:lnTo>
                  <a:lnTo>
                    <a:pt x="1032256" y="6167882"/>
                  </a:lnTo>
                  <a:lnTo>
                    <a:pt x="1038987" y="6133973"/>
                  </a:lnTo>
                  <a:lnTo>
                    <a:pt x="1042797" y="6097016"/>
                  </a:lnTo>
                  <a:lnTo>
                    <a:pt x="1045845" y="6060821"/>
                  </a:lnTo>
                  <a:lnTo>
                    <a:pt x="1047369" y="6024626"/>
                  </a:lnTo>
                  <a:lnTo>
                    <a:pt x="1046607" y="5987669"/>
                  </a:lnTo>
                  <a:lnTo>
                    <a:pt x="1043559" y="5951474"/>
                  </a:lnTo>
                  <a:lnTo>
                    <a:pt x="1038225" y="5916041"/>
                  </a:lnTo>
                  <a:lnTo>
                    <a:pt x="1031494" y="5880608"/>
                  </a:lnTo>
                  <a:lnTo>
                    <a:pt x="1024001" y="5847461"/>
                  </a:lnTo>
                  <a:lnTo>
                    <a:pt x="1014984" y="5812790"/>
                  </a:lnTo>
                  <a:lnTo>
                    <a:pt x="1003681" y="5778881"/>
                  </a:lnTo>
                  <a:lnTo>
                    <a:pt x="990092" y="5747258"/>
                  </a:lnTo>
                  <a:lnTo>
                    <a:pt x="974978" y="5715635"/>
                  </a:lnTo>
                  <a:lnTo>
                    <a:pt x="957707" y="5683250"/>
                  </a:lnTo>
                  <a:lnTo>
                    <a:pt x="941070" y="5653151"/>
                  </a:lnTo>
                  <a:lnTo>
                    <a:pt x="920750" y="5623814"/>
                  </a:lnTo>
                  <a:lnTo>
                    <a:pt x="904113" y="5601208"/>
                  </a:lnTo>
                  <a:lnTo>
                    <a:pt x="887476" y="5580126"/>
                  </a:lnTo>
                  <a:lnTo>
                    <a:pt x="869442" y="5559044"/>
                  </a:lnTo>
                  <a:lnTo>
                    <a:pt x="851408" y="5539486"/>
                  </a:lnTo>
                  <a:lnTo>
                    <a:pt x="834009" y="5522087"/>
                  </a:lnTo>
                  <a:lnTo>
                    <a:pt x="817372" y="5506974"/>
                  </a:lnTo>
                  <a:lnTo>
                    <a:pt x="800100" y="5491099"/>
                  </a:lnTo>
                  <a:lnTo>
                    <a:pt x="781303" y="5476748"/>
                  </a:lnTo>
                  <a:lnTo>
                    <a:pt x="764667" y="5463159"/>
                  </a:lnTo>
                  <a:lnTo>
                    <a:pt x="747395" y="5450332"/>
                  </a:lnTo>
                  <a:lnTo>
                    <a:pt x="731520" y="5439029"/>
                  </a:lnTo>
                  <a:lnTo>
                    <a:pt x="712724" y="5427726"/>
                  </a:lnTo>
                  <a:lnTo>
                    <a:pt x="696087" y="5417185"/>
                  </a:lnTo>
                  <a:lnTo>
                    <a:pt x="679450" y="5408168"/>
                  </a:lnTo>
                  <a:lnTo>
                    <a:pt x="661415" y="5399151"/>
                  </a:lnTo>
                  <a:lnTo>
                    <a:pt x="643382" y="5391658"/>
                  </a:lnTo>
                  <a:lnTo>
                    <a:pt x="625348" y="5382641"/>
                  </a:lnTo>
                  <a:lnTo>
                    <a:pt x="609473" y="5375910"/>
                  </a:lnTo>
                  <a:lnTo>
                    <a:pt x="591439" y="5369941"/>
                  </a:lnTo>
                  <a:lnTo>
                    <a:pt x="574167" y="5363210"/>
                  </a:lnTo>
                  <a:lnTo>
                    <a:pt x="556895" y="5357876"/>
                  </a:lnTo>
                  <a:lnTo>
                    <a:pt x="540258" y="5351907"/>
                  </a:lnTo>
                  <a:lnTo>
                    <a:pt x="522224" y="5347335"/>
                  </a:lnTo>
                  <a:lnTo>
                    <a:pt x="504952" y="5343525"/>
                  </a:lnTo>
                  <a:lnTo>
                    <a:pt x="488315" y="5338953"/>
                  </a:lnTo>
                  <a:lnTo>
                    <a:pt x="471043" y="5336667"/>
                  </a:lnTo>
                  <a:lnTo>
                    <a:pt x="453771" y="5332857"/>
                  </a:lnTo>
                  <a:lnTo>
                    <a:pt x="434975" y="5330571"/>
                  </a:lnTo>
                  <a:lnTo>
                    <a:pt x="418338" y="5329047"/>
                  </a:lnTo>
                  <a:lnTo>
                    <a:pt x="401065" y="5326761"/>
                  </a:lnTo>
                  <a:lnTo>
                    <a:pt x="383032" y="5326761"/>
                  </a:lnTo>
                  <a:lnTo>
                    <a:pt x="365760" y="5325999"/>
                  </a:lnTo>
                  <a:lnTo>
                    <a:pt x="357505" y="5325237"/>
                  </a:lnTo>
                  <a:lnTo>
                    <a:pt x="348488" y="5325237"/>
                  </a:lnTo>
                  <a:lnTo>
                    <a:pt x="296545" y="5324475"/>
                  </a:lnTo>
                  <a:lnTo>
                    <a:pt x="227965" y="5323713"/>
                  </a:lnTo>
                  <a:lnTo>
                    <a:pt x="157861" y="5321427"/>
                  </a:lnTo>
                  <a:lnTo>
                    <a:pt x="89281" y="5320665"/>
                  </a:lnTo>
                  <a:lnTo>
                    <a:pt x="19177" y="5318379"/>
                  </a:lnTo>
                  <a:lnTo>
                    <a:pt x="762" y="5318125"/>
                  </a:lnTo>
                  <a:lnTo>
                    <a:pt x="762" y="3926713"/>
                  </a:lnTo>
                  <a:lnTo>
                    <a:pt x="19939" y="3926459"/>
                  </a:lnTo>
                  <a:lnTo>
                    <a:pt x="89281" y="3926459"/>
                  </a:lnTo>
                  <a:lnTo>
                    <a:pt x="157861" y="3927221"/>
                  </a:lnTo>
                  <a:lnTo>
                    <a:pt x="173736" y="3926459"/>
                  </a:lnTo>
                  <a:lnTo>
                    <a:pt x="200914" y="3926459"/>
                  </a:lnTo>
                  <a:lnTo>
                    <a:pt x="227330" y="3925697"/>
                  </a:lnTo>
                  <a:lnTo>
                    <a:pt x="244602" y="3923411"/>
                  </a:lnTo>
                  <a:lnTo>
                    <a:pt x="261874" y="3921125"/>
                  </a:lnTo>
                  <a:lnTo>
                    <a:pt x="279273" y="3918839"/>
                  </a:lnTo>
                  <a:lnTo>
                    <a:pt x="297307" y="3915791"/>
                  </a:lnTo>
                  <a:lnTo>
                    <a:pt x="313944" y="3912743"/>
                  </a:lnTo>
                  <a:lnTo>
                    <a:pt x="331978" y="3909695"/>
                  </a:lnTo>
                  <a:lnTo>
                    <a:pt x="349250" y="3904488"/>
                  </a:lnTo>
                  <a:lnTo>
                    <a:pt x="365887" y="3899916"/>
                  </a:lnTo>
                  <a:lnTo>
                    <a:pt x="383921" y="3895344"/>
                  </a:lnTo>
                  <a:lnTo>
                    <a:pt x="401955" y="3889375"/>
                  </a:lnTo>
                  <a:lnTo>
                    <a:pt x="418592" y="3883406"/>
                  </a:lnTo>
                  <a:lnTo>
                    <a:pt x="435228" y="3875913"/>
                  </a:lnTo>
                  <a:lnTo>
                    <a:pt x="454025" y="3869182"/>
                  </a:lnTo>
                  <a:lnTo>
                    <a:pt x="470662" y="3861689"/>
                  </a:lnTo>
                  <a:lnTo>
                    <a:pt x="487299" y="3852672"/>
                  </a:lnTo>
                  <a:lnTo>
                    <a:pt x="505333" y="3843655"/>
                  </a:lnTo>
                  <a:lnTo>
                    <a:pt x="523367" y="3833114"/>
                  </a:lnTo>
                  <a:lnTo>
                    <a:pt x="540003" y="3824097"/>
                  </a:lnTo>
                  <a:lnTo>
                    <a:pt x="557276" y="3812794"/>
                  </a:lnTo>
                  <a:lnTo>
                    <a:pt x="574548" y="3801491"/>
                  </a:lnTo>
                  <a:lnTo>
                    <a:pt x="591820" y="3787140"/>
                  </a:lnTo>
                  <a:lnTo>
                    <a:pt x="609853" y="3775075"/>
                  </a:lnTo>
                  <a:lnTo>
                    <a:pt x="626490" y="3759962"/>
                  </a:lnTo>
                  <a:lnTo>
                    <a:pt x="643128" y="3744849"/>
                  </a:lnTo>
                  <a:lnTo>
                    <a:pt x="661924" y="3728974"/>
                  </a:lnTo>
                  <a:lnTo>
                    <a:pt x="679958" y="3710940"/>
                  </a:lnTo>
                  <a:lnTo>
                    <a:pt x="695833" y="3692144"/>
                  </a:lnTo>
                  <a:lnTo>
                    <a:pt x="712470" y="3672586"/>
                  </a:lnTo>
                  <a:lnTo>
                    <a:pt x="732028" y="3648456"/>
                  </a:lnTo>
                  <a:lnTo>
                    <a:pt x="748665" y="3624326"/>
                  </a:lnTo>
                  <a:lnTo>
                    <a:pt x="765937" y="3597910"/>
                  </a:lnTo>
                  <a:lnTo>
                    <a:pt x="781812" y="3573018"/>
                  </a:lnTo>
                  <a:lnTo>
                    <a:pt x="793877" y="3551936"/>
                  </a:lnTo>
                  <a:lnTo>
                    <a:pt x="803656" y="3530092"/>
                  </a:lnTo>
                  <a:lnTo>
                    <a:pt x="813435" y="3509772"/>
                  </a:lnTo>
                  <a:lnTo>
                    <a:pt x="822452" y="3488690"/>
                  </a:lnTo>
                  <a:lnTo>
                    <a:pt x="829945" y="3466084"/>
                  </a:lnTo>
                  <a:lnTo>
                    <a:pt x="838962" y="3445002"/>
                  </a:lnTo>
                  <a:lnTo>
                    <a:pt x="844931" y="3420872"/>
                  </a:lnTo>
                  <a:lnTo>
                    <a:pt x="850900" y="3398266"/>
                  </a:lnTo>
                  <a:lnTo>
                    <a:pt x="859917" y="3357626"/>
                  </a:lnTo>
                  <a:lnTo>
                    <a:pt x="866648" y="3314700"/>
                  </a:lnTo>
                  <a:lnTo>
                    <a:pt x="869696" y="3293618"/>
                  </a:lnTo>
                  <a:lnTo>
                    <a:pt x="871220" y="3272536"/>
                  </a:lnTo>
                  <a:lnTo>
                    <a:pt x="871982" y="3250692"/>
                  </a:lnTo>
                  <a:lnTo>
                    <a:pt x="871982" y="3228086"/>
                  </a:lnTo>
                  <a:lnTo>
                    <a:pt x="871220" y="3206242"/>
                  </a:lnTo>
                  <a:lnTo>
                    <a:pt x="870458" y="3184398"/>
                  </a:lnTo>
                  <a:lnTo>
                    <a:pt x="868934" y="3163316"/>
                  </a:lnTo>
                  <a:lnTo>
                    <a:pt x="866648" y="3141472"/>
                  </a:lnTo>
                  <a:lnTo>
                    <a:pt x="860678" y="3099308"/>
                  </a:lnTo>
                  <a:lnTo>
                    <a:pt x="850900" y="3057906"/>
                  </a:lnTo>
                  <a:lnTo>
                    <a:pt x="844931" y="3035300"/>
                  </a:lnTo>
                  <a:lnTo>
                    <a:pt x="838200" y="3011932"/>
                  </a:lnTo>
                  <a:lnTo>
                    <a:pt x="829945" y="2990088"/>
                  </a:lnTo>
                  <a:lnTo>
                    <a:pt x="821690" y="2968244"/>
                  </a:lnTo>
                  <a:lnTo>
                    <a:pt x="812673" y="2947162"/>
                  </a:lnTo>
                  <a:lnTo>
                    <a:pt x="803656" y="2926080"/>
                  </a:lnTo>
                  <a:lnTo>
                    <a:pt x="793115" y="2904998"/>
                  </a:lnTo>
                  <a:lnTo>
                    <a:pt x="783336" y="2884678"/>
                  </a:lnTo>
                  <a:lnTo>
                    <a:pt x="766064" y="2858262"/>
                  </a:lnTo>
                  <a:lnTo>
                    <a:pt x="750189" y="2833370"/>
                  </a:lnTo>
                  <a:lnTo>
                    <a:pt x="732155" y="2807716"/>
                  </a:lnTo>
                  <a:lnTo>
                    <a:pt x="712597" y="2783586"/>
                  </a:lnTo>
                  <a:lnTo>
                    <a:pt x="695960" y="2764028"/>
                  </a:lnTo>
                  <a:lnTo>
                    <a:pt x="679323" y="2745994"/>
                  </a:lnTo>
                  <a:lnTo>
                    <a:pt x="662051" y="2728722"/>
                  </a:lnTo>
                  <a:lnTo>
                    <a:pt x="643255" y="2711450"/>
                  </a:lnTo>
                  <a:lnTo>
                    <a:pt x="626618" y="2696337"/>
                  </a:lnTo>
                  <a:lnTo>
                    <a:pt x="608584" y="2682748"/>
                  </a:lnTo>
                  <a:lnTo>
                    <a:pt x="591947" y="2669159"/>
                  </a:lnTo>
                  <a:lnTo>
                    <a:pt x="573913" y="2655570"/>
                  </a:lnTo>
                  <a:lnTo>
                    <a:pt x="557276" y="2643505"/>
                  </a:lnTo>
                  <a:lnTo>
                    <a:pt x="539242" y="2632964"/>
                  </a:lnTo>
                  <a:lnTo>
                    <a:pt x="523367" y="2623185"/>
                  </a:lnTo>
                  <a:lnTo>
                    <a:pt x="505333" y="2612644"/>
                  </a:lnTo>
                  <a:lnTo>
                    <a:pt x="487299" y="2603627"/>
                  </a:lnTo>
                  <a:lnTo>
                    <a:pt x="471424" y="2595372"/>
                  </a:lnTo>
                  <a:lnTo>
                    <a:pt x="453390" y="2587879"/>
                  </a:lnTo>
                  <a:lnTo>
                    <a:pt x="435356" y="2580386"/>
                  </a:lnTo>
                  <a:lnTo>
                    <a:pt x="418719" y="2572893"/>
                  </a:lnTo>
                  <a:lnTo>
                    <a:pt x="401447" y="2567559"/>
                  </a:lnTo>
                  <a:lnTo>
                    <a:pt x="382651" y="2562225"/>
                  </a:lnTo>
                  <a:lnTo>
                    <a:pt x="366014" y="2556256"/>
                  </a:lnTo>
                  <a:lnTo>
                    <a:pt x="348742" y="2552446"/>
                  </a:lnTo>
                  <a:lnTo>
                    <a:pt x="331470" y="2547112"/>
                  </a:lnTo>
                  <a:lnTo>
                    <a:pt x="314198" y="2543302"/>
                  </a:lnTo>
                  <a:lnTo>
                    <a:pt x="297561" y="2540254"/>
                  </a:lnTo>
                  <a:lnTo>
                    <a:pt x="279527" y="2537206"/>
                  </a:lnTo>
                  <a:lnTo>
                    <a:pt x="262255" y="2534920"/>
                  </a:lnTo>
                  <a:lnTo>
                    <a:pt x="245618" y="2533396"/>
                  </a:lnTo>
                  <a:lnTo>
                    <a:pt x="226822" y="2531110"/>
                  </a:lnTo>
                  <a:lnTo>
                    <a:pt x="200406" y="2528824"/>
                  </a:lnTo>
                  <a:lnTo>
                    <a:pt x="173990" y="2529586"/>
                  </a:lnTo>
                  <a:lnTo>
                    <a:pt x="158115" y="2528824"/>
                  </a:lnTo>
                  <a:lnTo>
                    <a:pt x="89535" y="2529586"/>
                  </a:lnTo>
                  <a:lnTo>
                    <a:pt x="20193" y="2529586"/>
                  </a:lnTo>
                  <a:lnTo>
                    <a:pt x="1143" y="2529586"/>
                  </a:lnTo>
                  <a:close/>
                </a:path>
              </a:pathLst>
            </a:custGeom>
            <a:blipFill>
              <a:blip r:embed="rId2"/>
              <a:stretch>
                <a:fillRect l="-59346" t="0" r="-59329" b="0"/>
              </a:stretch>
            </a:blipFill>
          </p:spPr>
        </p:sp>
      </p:grpSp>
      <p:grpSp>
        <p:nvGrpSpPr>
          <p:cNvPr name="Group 6" id="6"/>
          <p:cNvGrpSpPr/>
          <p:nvPr/>
        </p:nvGrpSpPr>
        <p:grpSpPr>
          <a:xfrm rot="0">
            <a:off x="990600" y="3287115"/>
            <a:ext cx="7922794" cy="1932113"/>
            <a:chOff x="0" y="0"/>
            <a:chExt cx="10563726" cy="2576150"/>
          </a:xfrm>
        </p:grpSpPr>
        <p:sp>
          <p:nvSpPr>
            <p:cNvPr name="Freeform 7" id="7"/>
            <p:cNvSpPr/>
            <p:nvPr/>
          </p:nvSpPr>
          <p:spPr>
            <a:xfrm flipH="false" flipV="false" rot="0">
              <a:off x="0" y="0"/>
              <a:ext cx="10563606" cy="2576195"/>
            </a:xfrm>
            <a:custGeom>
              <a:avLst/>
              <a:gdLst/>
              <a:ahLst/>
              <a:cxnLst/>
              <a:rect r="r" b="b" t="t" l="l"/>
              <a:pathLst>
                <a:path h="2576195" w="10563606">
                  <a:moveTo>
                    <a:pt x="0" y="257556"/>
                  </a:moveTo>
                  <a:cubicBezTo>
                    <a:pt x="0" y="115316"/>
                    <a:pt x="115316" y="0"/>
                    <a:pt x="257556" y="0"/>
                  </a:cubicBezTo>
                  <a:lnTo>
                    <a:pt x="10306050" y="0"/>
                  </a:lnTo>
                  <a:cubicBezTo>
                    <a:pt x="10448290" y="0"/>
                    <a:pt x="10563606" y="115316"/>
                    <a:pt x="10563606" y="257556"/>
                  </a:cubicBezTo>
                  <a:lnTo>
                    <a:pt x="10563606" y="2318512"/>
                  </a:lnTo>
                  <a:cubicBezTo>
                    <a:pt x="10563606" y="2460752"/>
                    <a:pt x="10448290" y="2576068"/>
                    <a:pt x="10306050" y="2576068"/>
                  </a:cubicBezTo>
                  <a:lnTo>
                    <a:pt x="257556" y="2576068"/>
                  </a:lnTo>
                  <a:cubicBezTo>
                    <a:pt x="115316" y="2576195"/>
                    <a:pt x="0" y="2460752"/>
                    <a:pt x="0" y="2318512"/>
                  </a:cubicBezTo>
                  <a:close/>
                </a:path>
              </a:pathLst>
            </a:custGeom>
            <a:solidFill>
              <a:srgbClr val="BFBFBF">
                <a:alpha val="19608"/>
              </a:srgbClr>
            </a:solidFill>
          </p:spPr>
        </p:sp>
      </p:grpSp>
      <p:grpSp>
        <p:nvGrpSpPr>
          <p:cNvPr name="Group 8" id="8"/>
          <p:cNvGrpSpPr/>
          <p:nvPr/>
        </p:nvGrpSpPr>
        <p:grpSpPr>
          <a:xfrm rot="0">
            <a:off x="1314600" y="3848171"/>
            <a:ext cx="810000" cy="810000"/>
            <a:chOff x="0" y="0"/>
            <a:chExt cx="1080000" cy="1080000"/>
          </a:xfrm>
        </p:grpSpPr>
        <p:sp>
          <p:nvSpPr>
            <p:cNvPr name="Freeform 9" id="9"/>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solidFill>
              <a:srgbClr val="E9A65D"/>
            </a:solidFill>
          </p:spPr>
        </p:sp>
        <p:sp>
          <p:nvSpPr>
            <p:cNvPr name="TextBox 10" id="10"/>
            <p:cNvSpPr txBox="true"/>
            <p:nvPr/>
          </p:nvSpPr>
          <p:spPr>
            <a:xfrm>
              <a:off x="0" y="-19050"/>
              <a:ext cx="1080000" cy="1099050"/>
            </a:xfrm>
            <a:prstGeom prst="rect">
              <a:avLst/>
            </a:prstGeom>
          </p:spPr>
          <p:txBody>
            <a:bodyPr anchor="ctr" rtlCol="false" tIns="50800" lIns="50800" bIns="50800" rIns="50800"/>
            <a:lstStyle/>
            <a:p>
              <a:pPr algn="ctr" marL="0" indent="0" lvl="0">
                <a:lnSpc>
                  <a:spcPts val="3600"/>
                </a:lnSpc>
                <a:spcBef>
                  <a:spcPct val="0"/>
                </a:spcBef>
              </a:pPr>
              <a:r>
                <a:rPr lang="en-US" sz="3000" strike="noStrike" u="none">
                  <a:solidFill>
                    <a:srgbClr val="FFFFFF"/>
                  </a:solidFill>
                  <a:latin typeface="可畫妞妞體-繁"/>
                  <a:ea typeface="可畫妞妞體-繁"/>
                  <a:cs typeface="可畫妞妞體-繁"/>
                  <a:sym typeface="可畫妞妞體-繁"/>
                </a:rPr>
                <a:t>01</a:t>
              </a:r>
            </a:p>
          </p:txBody>
        </p:sp>
      </p:grpSp>
      <p:grpSp>
        <p:nvGrpSpPr>
          <p:cNvPr name="Group 11" id="11"/>
          <p:cNvGrpSpPr/>
          <p:nvPr/>
        </p:nvGrpSpPr>
        <p:grpSpPr>
          <a:xfrm rot="0">
            <a:off x="990600" y="5940726"/>
            <a:ext cx="7922794" cy="1932113"/>
            <a:chOff x="0" y="0"/>
            <a:chExt cx="10563726" cy="2576150"/>
          </a:xfrm>
        </p:grpSpPr>
        <p:sp>
          <p:nvSpPr>
            <p:cNvPr name="Freeform 12" id="12"/>
            <p:cNvSpPr/>
            <p:nvPr/>
          </p:nvSpPr>
          <p:spPr>
            <a:xfrm flipH="false" flipV="false" rot="0">
              <a:off x="0" y="0"/>
              <a:ext cx="10563606" cy="2576195"/>
            </a:xfrm>
            <a:custGeom>
              <a:avLst/>
              <a:gdLst/>
              <a:ahLst/>
              <a:cxnLst/>
              <a:rect r="r" b="b" t="t" l="l"/>
              <a:pathLst>
                <a:path h="2576195" w="10563606">
                  <a:moveTo>
                    <a:pt x="0" y="257556"/>
                  </a:moveTo>
                  <a:cubicBezTo>
                    <a:pt x="0" y="115316"/>
                    <a:pt x="115316" y="0"/>
                    <a:pt x="257556" y="0"/>
                  </a:cubicBezTo>
                  <a:lnTo>
                    <a:pt x="10306050" y="0"/>
                  </a:lnTo>
                  <a:cubicBezTo>
                    <a:pt x="10448290" y="0"/>
                    <a:pt x="10563606" y="115316"/>
                    <a:pt x="10563606" y="257556"/>
                  </a:cubicBezTo>
                  <a:lnTo>
                    <a:pt x="10563606" y="2318512"/>
                  </a:lnTo>
                  <a:cubicBezTo>
                    <a:pt x="10563606" y="2460752"/>
                    <a:pt x="10448290" y="2576068"/>
                    <a:pt x="10306050" y="2576068"/>
                  </a:cubicBezTo>
                  <a:lnTo>
                    <a:pt x="257556" y="2576068"/>
                  </a:lnTo>
                  <a:cubicBezTo>
                    <a:pt x="115316" y="2576195"/>
                    <a:pt x="0" y="2460752"/>
                    <a:pt x="0" y="2318512"/>
                  </a:cubicBezTo>
                  <a:close/>
                </a:path>
              </a:pathLst>
            </a:custGeom>
            <a:solidFill>
              <a:srgbClr val="BFBFBF">
                <a:alpha val="19608"/>
              </a:srgbClr>
            </a:solidFill>
          </p:spPr>
        </p:sp>
      </p:grpSp>
      <p:grpSp>
        <p:nvGrpSpPr>
          <p:cNvPr name="Group 13" id="13"/>
          <p:cNvGrpSpPr/>
          <p:nvPr/>
        </p:nvGrpSpPr>
        <p:grpSpPr>
          <a:xfrm rot="0">
            <a:off x="1314600" y="6501782"/>
            <a:ext cx="810000" cy="810000"/>
            <a:chOff x="0" y="0"/>
            <a:chExt cx="1080000" cy="1080000"/>
          </a:xfrm>
        </p:grpSpPr>
        <p:sp>
          <p:nvSpPr>
            <p:cNvPr name="Freeform 14" id="14"/>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solidFill>
              <a:srgbClr val="E9A65D"/>
            </a:solidFill>
          </p:spPr>
        </p:sp>
        <p:sp>
          <p:nvSpPr>
            <p:cNvPr name="TextBox 15" id="15"/>
            <p:cNvSpPr txBox="true"/>
            <p:nvPr/>
          </p:nvSpPr>
          <p:spPr>
            <a:xfrm>
              <a:off x="0" y="-19050"/>
              <a:ext cx="1080000" cy="1099050"/>
            </a:xfrm>
            <a:prstGeom prst="rect">
              <a:avLst/>
            </a:prstGeom>
          </p:spPr>
          <p:txBody>
            <a:bodyPr anchor="ctr" rtlCol="false" tIns="50800" lIns="50800" bIns="50800" rIns="50800"/>
            <a:lstStyle/>
            <a:p>
              <a:pPr algn="ctr" marL="0" indent="0" lvl="0">
                <a:lnSpc>
                  <a:spcPts val="3600"/>
                </a:lnSpc>
                <a:spcBef>
                  <a:spcPct val="0"/>
                </a:spcBef>
              </a:pPr>
              <a:r>
                <a:rPr lang="en-US" sz="3000" strike="noStrike" u="none">
                  <a:solidFill>
                    <a:srgbClr val="FFFFFF"/>
                  </a:solidFill>
                  <a:latin typeface="可畫妞妞體-繁"/>
                  <a:ea typeface="可畫妞妞體-繁"/>
                  <a:cs typeface="可畫妞妞體-繁"/>
                  <a:sym typeface="可畫妞妞體-繁"/>
                </a:rPr>
                <a:t>02</a:t>
              </a:r>
            </a:p>
          </p:txBody>
        </p:sp>
      </p:grpSp>
      <p:sp>
        <p:nvSpPr>
          <p:cNvPr name="TextBox 16" id="16"/>
          <p:cNvSpPr txBox="true"/>
          <p:nvPr/>
        </p:nvSpPr>
        <p:spPr>
          <a:xfrm rot="0">
            <a:off x="2327334" y="3832663"/>
            <a:ext cx="6302316"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000000"/>
                </a:solidFill>
                <a:latin typeface="可畫妞妞體-繁"/>
                <a:ea typeface="可畫妞妞體-繁"/>
                <a:cs typeface="可畫妞妞體-繁"/>
                <a:sym typeface="可畫妞妞體-繁"/>
              </a:rPr>
              <a:t>透過深度欺騙技術侵犯個人訊息</a:t>
            </a:r>
          </a:p>
        </p:txBody>
      </p:sp>
      <p:sp>
        <p:nvSpPr>
          <p:cNvPr name="TextBox 17" id="17"/>
          <p:cNvSpPr txBox="true"/>
          <p:nvPr/>
        </p:nvSpPr>
        <p:spPr>
          <a:xfrm rot="0">
            <a:off x="2327334" y="6528567"/>
            <a:ext cx="6302316"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000000"/>
                </a:solidFill>
                <a:latin typeface="可畫妞妞體-繁"/>
                <a:ea typeface="可畫妞妞體-繁"/>
                <a:cs typeface="可畫妞妞體-繁"/>
                <a:sym typeface="可畫妞妞體-繁"/>
              </a:rPr>
              <a:t>自衛和採取法律行動的需要</a:t>
            </a:r>
          </a:p>
        </p:txBody>
      </p:sp>
      <p:sp>
        <p:nvSpPr>
          <p:cNvPr name="TextBox 18" id="18"/>
          <p:cNvSpPr txBox="true"/>
          <p:nvPr/>
        </p:nvSpPr>
        <p:spPr>
          <a:xfrm rot="0">
            <a:off x="2327335" y="4144407"/>
            <a:ext cx="6307779" cy="419100"/>
          </a:xfrm>
          <a:prstGeom prst="rect">
            <a:avLst/>
          </a:prstGeom>
        </p:spPr>
        <p:txBody>
          <a:bodyPr anchor="t" rtlCol="false" tIns="0" lIns="0" bIns="0" rIns="0">
            <a:spAutoFit/>
          </a:bodyPr>
          <a:lstStyle/>
          <a:p>
            <a:pPr algn="l" marL="0" indent="0" lvl="0">
              <a:lnSpc>
                <a:spcPts val="1621"/>
              </a:lnSpc>
              <a:spcBef>
                <a:spcPct val="0"/>
              </a:spcBef>
            </a:pPr>
            <a:r>
              <a:rPr lang="en-US" sz="1351" strike="noStrike" u="none">
                <a:solidFill>
                  <a:srgbClr val="000000"/>
                </a:solidFill>
                <a:latin typeface="可畫妞妞體-繁"/>
                <a:ea typeface="可畫妞妞體-繁"/>
                <a:cs typeface="可畫妞妞體-繁"/>
                <a:sym typeface="可畫妞妞體-繁"/>
              </a:rPr>
              <a:t>深度造假技術也被用來侵犯個人隱私和榮譽。虛假個人影片和音訊的產生可能會對受害者的聲譽和信任造成不可挽回的損害。</a:t>
            </a:r>
          </a:p>
        </p:txBody>
      </p:sp>
      <p:sp>
        <p:nvSpPr>
          <p:cNvPr name="TextBox 19" id="19"/>
          <p:cNvSpPr txBox="true"/>
          <p:nvPr/>
        </p:nvSpPr>
        <p:spPr>
          <a:xfrm rot="0">
            <a:off x="2327336" y="6840310"/>
            <a:ext cx="6302314" cy="419100"/>
          </a:xfrm>
          <a:prstGeom prst="rect">
            <a:avLst/>
          </a:prstGeom>
        </p:spPr>
        <p:txBody>
          <a:bodyPr anchor="t" rtlCol="false" tIns="0" lIns="0" bIns="0" rIns="0">
            <a:spAutoFit/>
          </a:bodyPr>
          <a:lstStyle/>
          <a:p>
            <a:pPr algn="l" marL="0" indent="0" lvl="0">
              <a:lnSpc>
                <a:spcPts val="1621"/>
              </a:lnSpc>
              <a:spcBef>
                <a:spcPct val="0"/>
              </a:spcBef>
            </a:pPr>
            <a:r>
              <a:rPr lang="en-US" sz="1351" strike="noStrike" u="none">
                <a:solidFill>
                  <a:srgbClr val="000000"/>
                </a:solidFill>
                <a:latin typeface="可畫妞妞體-繁"/>
                <a:ea typeface="可畫妞妞體-繁"/>
                <a:cs typeface="可畫妞妞體-繁"/>
                <a:sym typeface="可畫妞妞體-繁"/>
              </a:rPr>
              <a:t>為了保護自己免受此類攻擊，個人必須敏銳地辨別虛假資訊。法律對策也是必要的，對濫用深度造假技術的行為必須制定嚴格的處罰措施。</a:t>
            </a:r>
          </a:p>
        </p:txBody>
      </p:sp>
      <p:grpSp>
        <p:nvGrpSpPr>
          <p:cNvPr name="Group 20" id="20"/>
          <p:cNvGrpSpPr/>
          <p:nvPr/>
        </p:nvGrpSpPr>
        <p:grpSpPr>
          <a:xfrm rot="0">
            <a:off x="679317" y="501705"/>
            <a:ext cx="12256770" cy="982980"/>
            <a:chOff x="0" y="0"/>
            <a:chExt cx="16342360" cy="1310640"/>
          </a:xfrm>
        </p:grpSpPr>
        <p:sp>
          <p:nvSpPr>
            <p:cNvPr name="Freeform 21" id="21"/>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22" id="22"/>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損害個人隱私和名譽</a:t>
            </a:r>
          </a:p>
        </p:txBody>
      </p:sp>
      <p:sp>
        <p:nvSpPr>
          <p:cNvPr name="Freeform 23" id="23"/>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95798"/>
            <a:ext cx="10344081" cy="82867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可畫妞妞體-繁"/>
                <a:ea typeface="可畫妞妞體-繁"/>
                <a:cs typeface="可畫妞妞體-繁"/>
                <a:sym typeface="可畫妞妞體-繁"/>
              </a:rPr>
              <a:t>媒介素養的重要性</a:t>
            </a:r>
          </a:p>
        </p:txBody>
      </p:sp>
      <p:sp>
        <p:nvSpPr>
          <p:cNvPr name="TextBox 13" id="13"/>
          <p:cNvSpPr txBox="true"/>
          <p:nvPr/>
        </p:nvSpPr>
        <p:spPr>
          <a:xfrm rot="0">
            <a:off x="6738512" y="1786197"/>
            <a:ext cx="4810978" cy="27527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可畫妞妞體-繁"/>
                <a:ea typeface="可畫妞妞體-繁"/>
                <a:cs typeface="可畫妞妞體-繁"/>
                <a:sym typeface="可畫妞妞體-繁"/>
              </a:rPr>
              <a:t>02</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Freeform 4" id="4"/>
          <p:cNvSpPr/>
          <p:nvPr/>
        </p:nvSpPr>
        <p:spPr>
          <a:xfrm flipH="false" flipV="false" rot="0">
            <a:off x="0" y="1934462"/>
            <a:ext cx="18288000" cy="4050000"/>
          </a:xfrm>
          <a:custGeom>
            <a:avLst/>
            <a:gdLst/>
            <a:ahLst/>
            <a:cxnLst/>
            <a:rect r="r" b="b" t="t" l="l"/>
            <a:pathLst>
              <a:path h="4050000" w="18288000">
                <a:moveTo>
                  <a:pt x="0" y="0"/>
                </a:moveTo>
                <a:lnTo>
                  <a:pt x="18288000" y="0"/>
                </a:lnTo>
                <a:lnTo>
                  <a:pt x="18288000" y="4050000"/>
                </a:lnTo>
                <a:lnTo>
                  <a:pt x="0" y="4050000"/>
                </a:lnTo>
                <a:lnTo>
                  <a:pt x="0" y="0"/>
                </a:lnTo>
                <a:close/>
              </a:path>
            </a:pathLst>
          </a:custGeom>
          <a:blipFill>
            <a:blip r:embed="rId2"/>
            <a:stretch>
              <a:fillRect l="0" t="-42731" r="-2782" b="-117379"/>
            </a:stretch>
          </a:blipFill>
        </p:spPr>
      </p:sp>
      <p:grpSp>
        <p:nvGrpSpPr>
          <p:cNvPr name="Group 5" id="5"/>
          <p:cNvGrpSpPr/>
          <p:nvPr/>
        </p:nvGrpSpPr>
        <p:grpSpPr>
          <a:xfrm rot="0">
            <a:off x="1131192" y="6286167"/>
            <a:ext cx="810000" cy="810000"/>
            <a:chOff x="0" y="0"/>
            <a:chExt cx="1080000" cy="1080000"/>
          </a:xfrm>
        </p:grpSpPr>
        <p:sp>
          <p:nvSpPr>
            <p:cNvPr name="Freeform 6" id="6"/>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gradFill rotWithShape="true">
              <a:gsLst>
                <a:gs pos="0">
                  <a:srgbClr val="F2CA9E">
                    <a:alpha val="100000"/>
                  </a:srgbClr>
                </a:gs>
                <a:gs pos="100000">
                  <a:srgbClr val="E9A65D">
                    <a:alpha val="100000"/>
                  </a:srgbClr>
                </a:gs>
              </a:gsLst>
              <a:lin ang="2700000"/>
            </a:gradFill>
          </p:spPr>
        </p:sp>
      </p:grpSp>
      <p:sp>
        <p:nvSpPr>
          <p:cNvPr name="Freeform 7" id="7"/>
          <p:cNvSpPr/>
          <p:nvPr/>
        </p:nvSpPr>
        <p:spPr>
          <a:xfrm flipH="false" flipV="false" rot="0">
            <a:off x="1382404" y="6515535"/>
            <a:ext cx="307576" cy="351264"/>
          </a:xfrm>
          <a:custGeom>
            <a:avLst/>
            <a:gdLst/>
            <a:ahLst/>
            <a:cxnLst/>
            <a:rect r="r" b="b" t="t" l="l"/>
            <a:pathLst>
              <a:path h="351264" w="307576">
                <a:moveTo>
                  <a:pt x="0" y="0"/>
                </a:moveTo>
                <a:lnTo>
                  <a:pt x="307577" y="0"/>
                </a:lnTo>
                <a:lnTo>
                  <a:pt x="307577" y="351264"/>
                </a:lnTo>
                <a:lnTo>
                  <a:pt x="0" y="3512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225993" y="6375649"/>
            <a:ext cx="647700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評估資訊來源的可靠性</a:t>
            </a:r>
          </a:p>
        </p:txBody>
      </p:sp>
      <p:sp>
        <p:nvSpPr>
          <p:cNvPr name="TextBox 9" id="9"/>
          <p:cNvSpPr txBox="true"/>
          <p:nvPr/>
        </p:nvSpPr>
        <p:spPr>
          <a:xfrm rot="0">
            <a:off x="2225993" y="7106694"/>
            <a:ext cx="648000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媒介素養教育幫助個人培養評估資訊來源可信度、驗證資料真實性以及識別語言偏見和潛意識偏見的能力。</a:t>
            </a:r>
          </a:p>
        </p:txBody>
      </p:sp>
      <p:grpSp>
        <p:nvGrpSpPr>
          <p:cNvPr name="Group 10" id="10"/>
          <p:cNvGrpSpPr/>
          <p:nvPr/>
        </p:nvGrpSpPr>
        <p:grpSpPr>
          <a:xfrm rot="0">
            <a:off x="9557497" y="6277554"/>
            <a:ext cx="810000" cy="810000"/>
            <a:chOff x="0" y="0"/>
            <a:chExt cx="1080000" cy="1080000"/>
          </a:xfrm>
        </p:grpSpPr>
        <p:sp>
          <p:nvSpPr>
            <p:cNvPr name="Freeform 11" id="11"/>
            <p:cNvSpPr/>
            <p:nvPr/>
          </p:nvSpPr>
          <p:spPr>
            <a:xfrm flipH="false" flipV="false" rot="0">
              <a:off x="0" y="0"/>
              <a:ext cx="1080008" cy="1080008"/>
            </a:xfrm>
            <a:custGeom>
              <a:avLst/>
              <a:gdLst/>
              <a:ahLst/>
              <a:cxnLst/>
              <a:rect r="r" b="b" t="t" l="l"/>
              <a:pathLst>
                <a:path h="1080008" w="1080008">
                  <a:moveTo>
                    <a:pt x="0" y="540004"/>
                  </a:moveTo>
                  <a:cubicBezTo>
                    <a:pt x="0" y="241808"/>
                    <a:pt x="241808" y="0"/>
                    <a:pt x="540004" y="0"/>
                  </a:cubicBezTo>
                  <a:cubicBezTo>
                    <a:pt x="838200" y="0"/>
                    <a:pt x="1080008" y="241808"/>
                    <a:pt x="1080008" y="540004"/>
                  </a:cubicBezTo>
                  <a:cubicBezTo>
                    <a:pt x="1080008" y="838200"/>
                    <a:pt x="838200" y="1080008"/>
                    <a:pt x="540004" y="1080008"/>
                  </a:cubicBezTo>
                  <a:cubicBezTo>
                    <a:pt x="241808" y="1080008"/>
                    <a:pt x="0" y="838200"/>
                    <a:pt x="0" y="540004"/>
                  </a:cubicBezTo>
                  <a:close/>
                </a:path>
              </a:pathLst>
            </a:custGeom>
            <a:gradFill rotWithShape="true">
              <a:gsLst>
                <a:gs pos="0">
                  <a:srgbClr val="F2CA9E">
                    <a:alpha val="100000"/>
                  </a:srgbClr>
                </a:gs>
                <a:gs pos="100000">
                  <a:srgbClr val="E9A65D">
                    <a:alpha val="100000"/>
                  </a:srgbClr>
                </a:gs>
              </a:gsLst>
              <a:lin ang="2700000"/>
            </a:gradFill>
          </p:spPr>
        </p:sp>
      </p:grpSp>
      <p:grpSp>
        <p:nvGrpSpPr>
          <p:cNvPr name="Group 12" id="12"/>
          <p:cNvGrpSpPr/>
          <p:nvPr/>
        </p:nvGrpSpPr>
        <p:grpSpPr>
          <a:xfrm rot="0">
            <a:off x="9773496" y="6493554"/>
            <a:ext cx="378000" cy="378000"/>
            <a:chOff x="0" y="0"/>
            <a:chExt cx="504000" cy="504000"/>
          </a:xfrm>
        </p:grpSpPr>
        <p:sp>
          <p:nvSpPr>
            <p:cNvPr name="Freeform 13" id="13"/>
            <p:cNvSpPr/>
            <p:nvPr/>
          </p:nvSpPr>
          <p:spPr>
            <a:xfrm flipH="false" flipV="false" rot="0">
              <a:off x="0" y="0"/>
              <a:ext cx="503936" cy="503936"/>
            </a:xfrm>
            <a:custGeom>
              <a:avLst/>
              <a:gdLst/>
              <a:ahLst/>
              <a:cxnLst/>
              <a:rect r="r" b="b" t="t" l="l"/>
              <a:pathLst>
                <a:path h="503936" w="503936">
                  <a:moveTo>
                    <a:pt x="319913" y="40005"/>
                  </a:moveTo>
                  <a:lnTo>
                    <a:pt x="319913" y="184150"/>
                  </a:lnTo>
                  <a:lnTo>
                    <a:pt x="464058" y="184150"/>
                  </a:lnTo>
                  <a:cubicBezTo>
                    <a:pt x="461645" y="172085"/>
                    <a:pt x="457962" y="160401"/>
                    <a:pt x="453136" y="148971"/>
                  </a:cubicBezTo>
                  <a:cubicBezTo>
                    <a:pt x="443865" y="127000"/>
                    <a:pt x="430657" y="107315"/>
                    <a:pt x="413639" y="90424"/>
                  </a:cubicBezTo>
                  <a:cubicBezTo>
                    <a:pt x="396621" y="73533"/>
                    <a:pt x="377063" y="60198"/>
                    <a:pt x="355092" y="50927"/>
                  </a:cubicBezTo>
                  <a:cubicBezTo>
                    <a:pt x="343662" y="46101"/>
                    <a:pt x="331851" y="42545"/>
                    <a:pt x="319913" y="40005"/>
                  </a:cubicBezTo>
                  <a:close/>
                  <a:moveTo>
                    <a:pt x="283464" y="0"/>
                  </a:moveTo>
                  <a:cubicBezTo>
                    <a:pt x="405257" y="0"/>
                    <a:pt x="503936" y="98679"/>
                    <a:pt x="503936" y="220472"/>
                  </a:cubicBezTo>
                  <a:lnTo>
                    <a:pt x="283464" y="220472"/>
                  </a:lnTo>
                  <a:close/>
                  <a:moveTo>
                    <a:pt x="251968" y="0"/>
                  </a:moveTo>
                  <a:lnTo>
                    <a:pt x="251968" y="251968"/>
                  </a:lnTo>
                  <a:lnTo>
                    <a:pt x="503936" y="251968"/>
                  </a:lnTo>
                  <a:cubicBezTo>
                    <a:pt x="503936" y="391160"/>
                    <a:pt x="391160" y="503936"/>
                    <a:pt x="251968" y="503936"/>
                  </a:cubicBezTo>
                  <a:cubicBezTo>
                    <a:pt x="112776" y="503936"/>
                    <a:pt x="0" y="391160"/>
                    <a:pt x="0" y="251968"/>
                  </a:cubicBezTo>
                  <a:cubicBezTo>
                    <a:pt x="0" y="112776"/>
                    <a:pt x="112776" y="0"/>
                    <a:pt x="251968" y="0"/>
                  </a:cubicBezTo>
                  <a:close/>
                </a:path>
              </a:pathLst>
            </a:custGeom>
            <a:solidFill>
              <a:srgbClr val="FFFFFF"/>
            </a:solidFill>
          </p:spPr>
        </p:sp>
      </p:grpSp>
      <p:sp>
        <p:nvSpPr>
          <p:cNvPr name="TextBox 14" id="14"/>
          <p:cNvSpPr txBox="true"/>
          <p:nvPr/>
        </p:nvSpPr>
        <p:spPr>
          <a:xfrm rot="0">
            <a:off x="10657758" y="6375649"/>
            <a:ext cx="647700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如何驗證資訊的真實性</a:t>
            </a:r>
          </a:p>
        </p:txBody>
      </p:sp>
      <p:sp>
        <p:nvSpPr>
          <p:cNvPr name="TextBox 15" id="15"/>
          <p:cNvSpPr txBox="true"/>
          <p:nvPr/>
        </p:nvSpPr>
        <p:spPr>
          <a:xfrm rot="0">
            <a:off x="10657758" y="7106694"/>
            <a:ext cx="6480000" cy="952500"/>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比較多個可靠來源並使用事實檢查工具是驗證資訊真實性的建議方法。這可以讓您獲得準確的訊息，而不會被虛假資訊誤導。</a:t>
            </a:r>
          </a:p>
        </p:txBody>
      </p:sp>
      <p:grpSp>
        <p:nvGrpSpPr>
          <p:cNvPr name="Group 16" id="16"/>
          <p:cNvGrpSpPr/>
          <p:nvPr/>
        </p:nvGrpSpPr>
        <p:grpSpPr>
          <a:xfrm rot="0">
            <a:off x="679317" y="501705"/>
            <a:ext cx="12256770" cy="982980"/>
            <a:chOff x="0" y="0"/>
            <a:chExt cx="16342360" cy="1310640"/>
          </a:xfrm>
        </p:grpSpPr>
        <p:sp>
          <p:nvSpPr>
            <p:cNvPr name="Freeform 17" id="17"/>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8" id="18"/>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辨別資訊真假的能力</a:t>
            </a:r>
          </a:p>
        </p:txBody>
      </p:sp>
      <p:sp>
        <p:nvSpPr>
          <p:cNvPr name="Freeform 19" id="19"/>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3545139" y="3685550"/>
            <a:ext cx="2651760" cy="2286000"/>
            <a:chOff x="0" y="0"/>
            <a:chExt cx="3535680" cy="3048000"/>
          </a:xfrm>
        </p:grpSpPr>
        <p:sp>
          <p:nvSpPr>
            <p:cNvPr name="Freeform 5" id="5"/>
            <p:cNvSpPr/>
            <p:nvPr/>
          </p:nvSpPr>
          <p:spPr>
            <a:xfrm flipH="false" flipV="false" rot="0">
              <a:off x="0" y="0"/>
              <a:ext cx="3535680" cy="3048000"/>
            </a:xfrm>
            <a:custGeom>
              <a:avLst/>
              <a:gdLst/>
              <a:ahLst/>
              <a:cxnLst/>
              <a:rect r="r" b="b" t="t" l="l"/>
              <a:pathLst>
                <a:path h="3048000" w="3535680">
                  <a:moveTo>
                    <a:pt x="0" y="1524000"/>
                  </a:moveTo>
                  <a:lnTo>
                    <a:pt x="762000" y="0"/>
                  </a:lnTo>
                  <a:lnTo>
                    <a:pt x="2773680" y="0"/>
                  </a:lnTo>
                  <a:lnTo>
                    <a:pt x="3535680" y="1524000"/>
                  </a:lnTo>
                  <a:lnTo>
                    <a:pt x="2773680" y="3048000"/>
                  </a:lnTo>
                  <a:lnTo>
                    <a:pt x="762000" y="3048000"/>
                  </a:lnTo>
                  <a:close/>
                </a:path>
              </a:pathLst>
            </a:custGeom>
            <a:solidFill>
              <a:srgbClr val="FFFFFF"/>
            </a:solidFill>
          </p:spPr>
        </p:sp>
        <p:sp>
          <p:nvSpPr>
            <p:cNvPr name="TextBox 6" id="6"/>
            <p:cNvSpPr txBox="true"/>
            <p:nvPr/>
          </p:nvSpPr>
          <p:spPr>
            <a:xfrm>
              <a:off x="0" y="-19050"/>
              <a:ext cx="3535680" cy="3067050"/>
            </a:xfrm>
            <a:prstGeom prst="rect">
              <a:avLst/>
            </a:prstGeom>
          </p:spPr>
          <p:txBody>
            <a:bodyPr anchor="ctr" rtlCol="false" tIns="50800" lIns="50800" bIns="50800" rIns="50800"/>
            <a:lstStyle/>
            <a:p>
              <a:pPr algn="ctr" marL="0" indent="0" lvl="0">
                <a:lnSpc>
                  <a:spcPts val="5940"/>
                </a:lnSpc>
                <a:spcBef>
                  <a:spcPct val="0"/>
                </a:spcBef>
              </a:pPr>
              <a:r>
                <a:rPr lang="en-US" sz="4950" strike="noStrike" u="none">
                  <a:solidFill>
                    <a:srgbClr val="E9A65D"/>
                  </a:solidFill>
                  <a:latin typeface="可畫妞妞體-繁"/>
                  <a:ea typeface="可畫妞妞體-繁"/>
                  <a:cs typeface="可畫妞妞體-繁"/>
                  <a:sym typeface="可畫妞妞體-繁"/>
                </a:rPr>
                <a:t>01</a:t>
              </a:r>
            </a:p>
          </p:txBody>
        </p:sp>
      </p:grpSp>
      <p:grpSp>
        <p:nvGrpSpPr>
          <p:cNvPr name="Group 7" id="7"/>
          <p:cNvGrpSpPr/>
          <p:nvPr/>
        </p:nvGrpSpPr>
        <p:grpSpPr>
          <a:xfrm rot="0">
            <a:off x="5638050" y="4041240"/>
            <a:ext cx="441987" cy="381024"/>
            <a:chOff x="0" y="0"/>
            <a:chExt cx="589316" cy="508032"/>
          </a:xfrm>
        </p:grpSpPr>
        <p:sp>
          <p:nvSpPr>
            <p:cNvPr name="Freeform 8" id="8"/>
            <p:cNvSpPr/>
            <p:nvPr/>
          </p:nvSpPr>
          <p:spPr>
            <a:xfrm flipH="false" flipV="false" rot="0">
              <a:off x="0" y="0"/>
              <a:ext cx="589280" cy="508000"/>
            </a:xfrm>
            <a:custGeom>
              <a:avLst/>
              <a:gdLst/>
              <a:ahLst/>
              <a:cxnLst/>
              <a:rect r="r" b="b" t="t" l="l"/>
              <a:pathLst>
                <a:path h="508000" w="589280">
                  <a:moveTo>
                    <a:pt x="0" y="254000"/>
                  </a:moveTo>
                  <a:lnTo>
                    <a:pt x="127000" y="0"/>
                  </a:lnTo>
                  <a:lnTo>
                    <a:pt x="462280" y="0"/>
                  </a:lnTo>
                  <a:lnTo>
                    <a:pt x="589280" y="254000"/>
                  </a:lnTo>
                  <a:lnTo>
                    <a:pt x="462280" y="508000"/>
                  </a:lnTo>
                  <a:lnTo>
                    <a:pt x="127000" y="508000"/>
                  </a:lnTo>
                  <a:close/>
                </a:path>
              </a:pathLst>
            </a:custGeom>
            <a:solidFill>
              <a:srgbClr val="E9A65D"/>
            </a:solidFill>
          </p:spPr>
        </p:sp>
      </p:grpSp>
      <p:grpSp>
        <p:nvGrpSpPr>
          <p:cNvPr name="Group 9" id="9"/>
          <p:cNvGrpSpPr/>
          <p:nvPr/>
        </p:nvGrpSpPr>
        <p:grpSpPr>
          <a:xfrm rot="0">
            <a:off x="3045067" y="3278404"/>
            <a:ext cx="814809" cy="702420"/>
            <a:chOff x="0" y="0"/>
            <a:chExt cx="1086412" cy="936560"/>
          </a:xfrm>
        </p:grpSpPr>
        <p:sp>
          <p:nvSpPr>
            <p:cNvPr name="Freeform 10" id="10"/>
            <p:cNvSpPr/>
            <p:nvPr/>
          </p:nvSpPr>
          <p:spPr>
            <a:xfrm flipH="false" flipV="false" rot="0">
              <a:off x="0" y="0"/>
              <a:ext cx="1086358" cy="936498"/>
            </a:xfrm>
            <a:custGeom>
              <a:avLst/>
              <a:gdLst/>
              <a:ahLst/>
              <a:cxnLst/>
              <a:rect r="r" b="b" t="t" l="l"/>
              <a:pathLst>
                <a:path h="936498" w="1086358">
                  <a:moveTo>
                    <a:pt x="0" y="468249"/>
                  </a:moveTo>
                  <a:lnTo>
                    <a:pt x="234188" y="0"/>
                  </a:lnTo>
                  <a:lnTo>
                    <a:pt x="852297" y="0"/>
                  </a:lnTo>
                  <a:lnTo>
                    <a:pt x="1086358" y="468249"/>
                  </a:lnTo>
                  <a:lnTo>
                    <a:pt x="852297" y="936498"/>
                  </a:lnTo>
                  <a:lnTo>
                    <a:pt x="234188" y="936498"/>
                  </a:lnTo>
                  <a:close/>
                </a:path>
              </a:pathLst>
            </a:custGeom>
            <a:solidFill>
              <a:srgbClr val="F0F0F0">
                <a:alpha val="69804"/>
              </a:srgbClr>
            </a:solidFill>
          </p:spPr>
        </p:sp>
      </p:grpSp>
      <p:grpSp>
        <p:nvGrpSpPr>
          <p:cNvPr name="Group 11" id="11"/>
          <p:cNvGrpSpPr/>
          <p:nvPr/>
        </p:nvGrpSpPr>
        <p:grpSpPr>
          <a:xfrm rot="0">
            <a:off x="3545139" y="6511366"/>
            <a:ext cx="2651760" cy="2286000"/>
            <a:chOff x="0" y="0"/>
            <a:chExt cx="3535680" cy="3048000"/>
          </a:xfrm>
        </p:grpSpPr>
        <p:sp>
          <p:nvSpPr>
            <p:cNvPr name="Freeform 12" id="12"/>
            <p:cNvSpPr/>
            <p:nvPr/>
          </p:nvSpPr>
          <p:spPr>
            <a:xfrm flipH="false" flipV="false" rot="0">
              <a:off x="0" y="0"/>
              <a:ext cx="3535680" cy="3048000"/>
            </a:xfrm>
            <a:custGeom>
              <a:avLst/>
              <a:gdLst/>
              <a:ahLst/>
              <a:cxnLst/>
              <a:rect r="r" b="b" t="t" l="l"/>
              <a:pathLst>
                <a:path h="3048000" w="3535680">
                  <a:moveTo>
                    <a:pt x="0" y="1524000"/>
                  </a:moveTo>
                  <a:lnTo>
                    <a:pt x="762000" y="0"/>
                  </a:lnTo>
                  <a:lnTo>
                    <a:pt x="2773680" y="0"/>
                  </a:lnTo>
                  <a:lnTo>
                    <a:pt x="3535680" y="1524000"/>
                  </a:lnTo>
                  <a:lnTo>
                    <a:pt x="2773680" y="3048000"/>
                  </a:lnTo>
                  <a:lnTo>
                    <a:pt x="762000" y="3048000"/>
                  </a:lnTo>
                  <a:close/>
                </a:path>
              </a:pathLst>
            </a:custGeom>
            <a:solidFill>
              <a:srgbClr val="FFFFFF"/>
            </a:solidFill>
          </p:spPr>
        </p:sp>
        <p:sp>
          <p:nvSpPr>
            <p:cNvPr name="TextBox 13" id="13"/>
            <p:cNvSpPr txBox="true"/>
            <p:nvPr/>
          </p:nvSpPr>
          <p:spPr>
            <a:xfrm>
              <a:off x="0" y="-19050"/>
              <a:ext cx="3535680" cy="3067050"/>
            </a:xfrm>
            <a:prstGeom prst="rect">
              <a:avLst/>
            </a:prstGeom>
          </p:spPr>
          <p:txBody>
            <a:bodyPr anchor="ctr" rtlCol="false" tIns="50800" lIns="50800" bIns="50800" rIns="50800"/>
            <a:lstStyle/>
            <a:p>
              <a:pPr algn="ctr" marL="0" indent="0" lvl="0">
                <a:lnSpc>
                  <a:spcPts val="5940"/>
                </a:lnSpc>
                <a:spcBef>
                  <a:spcPct val="0"/>
                </a:spcBef>
              </a:pPr>
              <a:r>
                <a:rPr lang="en-US" sz="4950" strike="noStrike" u="none">
                  <a:solidFill>
                    <a:srgbClr val="E9A65D"/>
                  </a:solidFill>
                  <a:latin typeface="可畫妞妞體-繁"/>
                  <a:ea typeface="可畫妞妞體-繁"/>
                  <a:cs typeface="可畫妞妞體-繁"/>
                  <a:sym typeface="可畫妞妞體-繁"/>
                </a:rPr>
                <a:t>02</a:t>
              </a:r>
            </a:p>
          </p:txBody>
        </p:sp>
      </p:grpSp>
      <p:grpSp>
        <p:nvGrpSpPr>
          <p:cNvPr name="Group 14" id="14"/>
          <p:cNvGrpSpPr/>
          <p:nvPr/>
        </p:nvGrpSpPr>
        <p:grpSpPr>
          <a:xfrm rot="0">
            <a:off x="3638883" y="6867057"/>
            <a:ext cx="441987" cy="381024"/>
            <a:chOff x="0" y="0"/>
            <a:chExt cx="589316" cy="508032"/>
          </a:xfrm>
        </p:grpSpPr>
        <p:sp>
          <p:nvSpPr>
            <p:cNvPr name="Freeform 15" id="15"/>
            <p:cNvSpPr/>
            <p:nvPr/>
          </p:nvSpPr>
          <p:spPr>
            <a:xfrm flipH="false" flipV="false" rot="0">
              <a:off x="0" y="0"/>
              <a:ext cx="589280" cy="508000"/>
            </a:xfrm>
            <a:custGeom>
              <a:avLst/>
              <a:gdLst/>
              <a:ahLst/>
              <a:cxnLst/>
              <a:rect r="r" b="b" t="t" l="l"/>
              <a:pathLst>
                <a:path h="508000" w="589280">
                  <a:moveTo>
                    <a:pt x="0" y="254000"/>
                  </a:moveTo>
                  <a:lnTo>
                    <a:pt x="127000" y="0"/>
                  </a:lnTo>
                  <a:lnTo>
                    <a:pt x="462280" y="0"/>
                  </a:lnTo>
                  <a:lnTo>
                    <a:pt x="589280" y="254000"/>
                  </a:lnTo>
                  <a:lnTo>
                    <a:pt x="462280" y="508000"/>
                  </a:lnTo>
                  <a:lnTo>
                    <a:pt x="127000" y="508000"/>
                  </a:lnTo>
                  <a:close/>
                </a:path>
              </a:pathLst>
            </a:custGeom>
            <a:solidFill>
              <a:srgbClr val="E9A65D"/>
            </a:solidFill>
          </p:spPr>
        </p:sp>
      </p:grpSp>
      <p:grpSp>
        <p:nvGrpSpPr>
          <p:cNvPr name="Group 16" id="16"/>
          <p:cNvGrpSpPr/>
          <p:nvPr/>
        </p:nvGrpSpPr>
        <p:grpSpPr>
          <a:xfrm rot="0">
            <a:off x="5875170" y="6104222"/>
            <a:ext cx="814809" cy="702420"/>
            <a:chOff x="0" y="0"/>
            <a:chExt cx="1086412" cy="936560"/>
          </a:xfrm>
        </p:grpSpPr>
        <p:sp>
          <p:nvSpPr>
            <p:cNvPr name="Freeform 17" id="17"/>
            <p:cNvSpPr/>
            <p:nvPr/>
          </p:nvSpPr>
          <p:spPr>
            <a:xfrm flipH="false" flipV="false" rot="0">
              <a:off x="0" y="0"/>
              <a:ext cx="1086358" cy="936498"/>
            </a:xfrm>
            <a:custGeom>
              <a:avLst/>
              <a:gdLst/>
              <a:ahLst/>
              <a:cxnLst/>
              <a:rect r="r" b="b" t="t" l="l"/>
              <a:pathLst>
                <a:path h="936498" w="1086358">
                  <a:moveTo>
                    <a:pt x="0" y="468249"/>
                  </a:moveTo>
                  <a:lnTo>
                    <a:pt x="234188" y="0"/>
                  </a:lnTo>
                  <a:lnTo>
                    <a:pt x="852297" y="0"/>
                  </a:lnTo>
                  <a:lnTo>
                    <a:pt x="1086358" y="468249"/>
                  </a:lnTo>
                  <a:lnTo>
                    <a:pt x="852297" y="936498"/>
                  </a:lnTo>
                  <a:lnTo>
                    <a:pt x="234188" y="936498"/>
                  </a:lnTo>
                  <a:close/>
                </a:path>
              </a:pathLst>
            </a:custGeom>
            <a:solidFill>
              <a:srgbClr val="F0F0F0">
                <a:alpha val="69804"/>
              </a:srgbClr>
            </a:solidFill>
          </p:spPr>
        </p:sp>
      </p:grpSp>
      <p:sp>
        <p:nvSpPr>
          <p:cNvPr name="AutoShape 18" id="18"/>
          <p:cNvSpPr/>
          <p:nvPr/>
        </p:nvSpPr>
        <p:spPr>
          <a:xfrm rot="3754">
            <a:off x="7657005" y="6229350"/>
            <a:ext cx="8721235" cy="0"/>
          </a:xfrm>
          <a:prstGeom prst="line">
            <a:avLst/>
          </a:prstGeom>
          <a:ln cap="rnd" w="9525">
            <a:solidFill>
              <a:srgbClr val="000000"/>
            </a:solidFill>
            <a:prstDash val="solid"/>
            <a:headEnd type="none" len="sm" w="sm"/>
            <a:tailEnd type="none" len="sm" w="sm"/>
          </a:ln>
        </p:spPr>
      </p:sp>
      <p:grpSp>
        <p:nvGrpSpPr>
          <p:cNvPr name="Group 19" id="19"/>
          <p:cNvGrpSpPr/>
          <p:nvPr/>
        </p:nvGrpSpPr>
        <p:grpSpPr>
          <a:xfrm rot="0">
            <a:off x="3884163" y="9440584"/>
            <a:ext cx="1973712" cy="1701477"/>
            <a:chOff x="0" y="0"/>
            <a:chExt cx="2631616" cy="2268636"/>
          </a:xfrm>
        </p:grpSpPr>
        <p:sp>
          <p:nvSpPr>
            <p:cNvPr name="Freeform 20" id="20"/>
            <p:cNvSpPr/>
            <p:nvPr/>
          </p:nvSpPr>
          <p:spPr>
            <a:xfrm flipH="false" flipV="false" rot="0">
              <a:off x="0" y="0"/>
              <a:ext cx="2631694" cy="2268728"/>
            </a:xfrm>
            <a:custGeom>
              <a:avLst/>
              <a:gdLst/>
              <a:ahLst/>
              <a:cxnLst/>
              <a:rect r="r" b="b" t="t" l="l"/>
              <a:pathLst>
                <a:path h="2268728" w="2631694">
                  <a:moveTo>
                    <a:pt x="0" y="1134364"/>
                  </a:moveTo>
                  <a:lnTo>
                    <a:pt x="567182" y="0"/>
                  </a:lnTo>
                  <a:lnTo>
                    <a:pt x="2064512" y="0"/>
                  </a:lnTo>
                  <a:lnTo>
                    <a:pt x="2631694" y="1134364"/>
                  </a:lnTo>
                  <a:lnTo>
                    <a:pt x="2064512" y="2268728"/>
                  </a:lnTo>
                  <a:lnTo>
                    <a:pt x="567182" y="2268728"/>
                  </a:lnTo>
                  <a:close/>
                </a:path>
              </a:pathLst>
            </a:custGeom>
            <a:solidFill>
              <a:srgbClr val="E9A65D"/>
            </a:solidFill>
          </p:spPr>
        </p:sp>
      </p:grpSp>
      <p:grpSp>
        <p:nvGrpSpPr>
          <p:cNvPr name="Group 21" id="21"/>
          <p:cNvGrpSpPr/>
          <p:nvPr/>
        </p:nvGrpSpPr>
        <p:grpSpPr>
          <a:xfrm rot="0">
            <a:off x="4635275" y="10058400"/>
            <a:ext cx="471488" cy="514350"/>
            <a:chOff x="0" y="0"/>
            <a:chExt cx="628650" cy="685800"/>
          </a:xfrm>
        </p:grpSpPr>
        <p:sp>
          <p:nvSpPr>
            <p:cNvPr name="Freeform 22" id="22"/>
            <p:cNvSpPr/>
            <p:nvPr/>
          </p:nvSpPr>
          <p:spPr>
            <a:xfrm flipH="false" flipV="false" rot="0">
              <a:off x="0" y="0"/>
              <a:ext cx="628650" cy="685800"/>
            </a:xfrm>
            <a:custGeom>
              <a:avLst/>
              <a:gdLst/>
              <a:ahLst/>
              <a:cxnLst/>
              <a:rect r="r" b="b" t="t" l="l"/>
              <a:pathLst>
                <a:path h="685800" w="628650">
                  <a:moveTo>
                    <a:pt x="0" y="371475"/>
                  </a:moveTo>
                  <a:lnTo>
                    <a:pt x="157226" y="371475"/>
                  </a:lnTo>
                  <a:lnTo>
                    <a:pt x="157226" y="0"/>
                  </a:lnTo>
                  <a:lnTo>
                    <a:pt x="471424" y="0"/>
                  </a:lnTo>
                  <a:lnTo>
                    <a:pt x="471424" y="371475"/>
                  </a:lnTo>
                  <a:lnTo>
                    <a:pt x="628650" y="371475"/>
                  </a:lnTo>
                  <a:lnTo>
                    <a:pt x="314325" y="685800"/>
                  </a:lnTo>
                  <a:close/>
                </a:path>
              </a:pathLst>
            </a:custGeom>
            <a:solidFill>
              <a:srgbClr val="FFFFFF"/>
            </a:solidFill>
          </p:spPr>
        </p:sp>
      </p:grpSp>
      <p:sp>
        <p:nvSpPr>
          <p:cNvPr name="TextBox 23" id="23"/>
          <p:cNvSpPr txBox="true"/>
          <p:nvPr/>
        </p:nvSpPr>
        <p:spPr>
          <a:xfrm rot="0">
            <a:off x="7647483" y="4158823"/>
            <a:ext cx="796290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404040"/>
                </a:solidFill>
                <a:latin typeface="可畫妞妞體-繁"/>
                <a:ea typeface="可畫妞妞體-繁"/>
                <a:cs typeface="可畫妞妞體-繁"/>
                <a:sym typeface="可畫妞妞體-繁"/>
              </a:rPr>
              <a:t>深入分析資訊的技能</a:t>
            </a:r>
          </a:p>
        </p:txBody>
      </p:sp>
      <p:sp>
        <p:nvSpPr>
          <p:cNvPr name="TextBox 24" id="24"/>
          <p:cNvSpPr txBox="true"/>
          <p:nvPr/>
        </p:nvSpPr>
        <p:spPr>
          <a:xfrm rot="0">
            <a:off x="7647481" y="4777037"/>
            <a:ext cx="7982024"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培養批判性思考技能使消費者不僅能夠接收訊息，還能深入分析資訊並做出決策，而不會受到情緒或偏見內容的影響。</a:t>
            </a:r>
          </a:p>
        </p:txBody>
      </p:sp>
      <p:sp>
        <p:nvSpPr>
          <p:cNvPr name="TextBox 25" id="25"/>
          <p:cNvSpPr txBox="true"/>
          <p:nvPr/>
        </p:nvSpPr>
        <p:spPr>
          <a:xfrm rot="0">
            <a:off x="7647483" y="6984641"/>
            <a:ext cx="794385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404040"/>
                </a:solidFill>
                <a:latin typeface="可畫妞妞體-繁"/>
                <a:ea typeface="可畫妞妞體-繁"/>
                <a:cs typeface="可畫妞妞體-繁"/>
                <a:sym typeface="可畫妞妞體-繁"/>
              </a:rPr>
              <a:t>了解資訊的上下文</a:t>
            </a:r>
          </a:p>
        </p:txBody>
      </p:sp>
      <p:sp>
        <p:nvSpPr>
          <p:cNvPr name="TextBox 26" id="26"/>
          <p:cNvSpPr txBox="true"/>
          <p:nvPr/>
        </p:nvSpPr>
        <p:spPr>
          <a:xfrm rot="0">
            <a:off x="7647481" y="7602853"/>
            <a:ext cx="7982024"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為了正確理解訊息，了解其上下文非常重要。了解資訊的上下文和意圖可以更準確地解釋。</a:t>
            </a:r>
          </a:p>
        </p:txBody>
      </p:sp>
      <p:grpSp>
        <p:nvGrpSpPr>
          <p:cNvPr name="Group 27" id="27"/>
          <p:cNvGrpSpPr/>
          <p:nvPr/>
        </p:nvGrpSpPr>
        <p:grpSpPr>
          <a:xfrm rot="0">
            <a:off x="679317" y="501705"/>
            <a:ext cx="12256770" cy="982980"/>
            <a:chOff x="0" y="0"/>
            <a:chExt cx="16342360" cy="1310640"/>
          </a:xfrm>
        </p:grpSpPr>
        <p:sp>
          <p:nvSpPr>
            <p:cNvPr name="Freeform 28" id="28"/>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29" id="29"/>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批判的思考</a:t>
            </a:r>
          </a:p>
        </p:txBody>
      </p:sp>
      <p:sp>
        <p:nvSpPr>
          <p:cNvPr name="Freeform 30" id="30"/>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10800000">
            <a:off x="2588958" y="5346219"/>
            <a:ext cx="5845786" cy="735982"/>
            <a:chOff x="0" y="0"/>
            <a:chExt cx="7794382" cy="981310"/>
          </a:xfrm>
        </p:grpSpPr>
        <p:sp>
          <p:nvSpPr>
            <p:cNvPr name="Freeform 5" id="5"/>
            <p:cNvSpPr/>
            <p:nvPr/>
          </p:nvSpPr>
          <p:spPr>
            <a:xfrm flipH="false" flipV="false" rot="0">
              <a:off x="0" y="0"/>
              <a:ext cx="7794371" cy="981329"/>
            </a:xfrm>
            <a:custGeom>
              <a:avLst/>
              <a:gdLst/>
              <a:ahLst/>
              <a:cxnLst/>
              <a:rect r="r" b="b" t="t" l="l"/>
              <a:pathLst>
                <a:path h="981329" w="7794371">
                  <a:moveTo>
                    <a:pt x="0" y="981329"/>
                  </a:moveTo>
                  <a:lnTo>
                    <a:pt x="7303770" y="981329"/>
                  </a:lnTo>
                  <a:cubicBezTo>
                    <a:pt x="7574788" y="981329"/>
                    <a:pt x="7794371" y="761619"/>
                    <a:pt x="7794371" y="490728"/>
                  </a:cubicBezTo>
                  <a:lnTo>
                    <a:pt x="7794371" y="0"/>
                  </a:lnTo>
                  <a:lnTo>
                    <a:pt x="490601" y="0"/>
                  </a:lnTo>
                  <a:cubicBezTo>
                    <a:pt x="219710" y="0"/>
                    <a:pt x="0" y="219710"/>
                    <a:pt x="0" y="490601"/>
                  </a:cubicBezTo>
                  <a:lnTo>
                    <a:pt x="0" y="981329"/>
                  </a:lnTo>
                </a:path>
              </a:pathLst>
            </a:custGeom>
            <a:solidFill>
              <a:srgbClr val="E9A65D"/>
            </a:solidFill>
          </p:spPr>
        </p:sp>
      </p:grpSp>
      <p:grpSp>
        <p:nvGrpSpPr>
          <p:cNvPr name="Group 6" id="6"/>
          <p:cNvGrpSpPr/>
          <p:nvPr/>
        </p:nvGrpSpPr>
        <p:grpSpPr>
          <a:xfrm rot="-2709221">
            <a:off x="4510067" y="2547326"/>
            <a:ext cx="2003568" cy="2003568"/>
            <a:chOff x="0" y="0"/>
            <a:chExt cx="2671424" cy="2671424"/>
          </a:xfrm>
        </p:grpSpPr>
        <p:sp>
          <p:nvSpPr>
            <p:cNvPr name="Freeform 7" id="7"/>
            <p:cNvSpPr/>
            <p:nvPr/>
          </p:nvSpPr>
          <p:spPr>
            <a:xfrm flipH="false" flipV="false" rot="0">
              <a:off x="0" y="0"/>
              <a:ext cx="2671318" cy="2671318"/>
            </a:xfrm>
            <a:custGeom>
              <a:avLst/>
              <a:gdLst/>
              <a:ahLst/>
              <a:cxnLst/>
              <a:rect r="r" b="b" t="t" l="l"/>
              <a:pathLst>
                <a:path h="2671318" w="2671318">
                  <a:moveTo>
                    <a:pt x="0" y="93091"/>
                  </a:moveTo>
                  <a:cubicBezTo>
                    <a:pt x="0" y="41656"/>
                    <a:pt x="41656" y="0"/>
                    <a:pt x="93091" y="0"/>
                  </a:cubicBezTo>
                  <a:lnTo>
                    <a:pt x="2578227" y="0"/>
                  </a:lnTo>
                  <a:cubicBezTo>
                    <a:pt x="2629662" y="0"/>
                    <a:pt x="2671318" y="41656"/>
                    <a:pt x="2671318" y="93091"/>
                  </a:cubicBezTo>
                  <a:lnTo>
                    <a:pt x="2671318" y="2578227"/>
                  </a:lnTo>
                  <a:cubicBezTo>
                    <a:pt x="2671318" y="2629662"/>
                    <a:pt x="2629662" y="2671318"/>
                    <a:pt x="2578227" y="2671318"/>
                  </a:cubicBezTo>
                  <a:lnTo>
                    <a:pt x="93091" y="2671318"/>
                  </a:lnTo>
                  <a:cubicBezTo>
                    <a:pt x="41656" y="2671318"/>
                    <a:pt x="0" y="2629662"/>
                    <a:pt x="0" y="2578227"/>
                  </a:cubicBezTo>
                  <a:close/>
                </a:path>
              </a:pathLst>
            </a:custGeom>
            <a:gradFill rotWithShape="true">
              <a:gsLst>
                <a:gs pos="0">
                  <a:srgbClr val="E9A65D">
                    <a:alpha val="100000"/>
                  </a:srgbClr>
                </a:gs>
                <a:gs pos="100000">
                  <a:srgbClr val="ECB375">
                    <a:alpha val="100000"/>
                  </a:srgbClr>
                </a:gs>
              </a:gsLst>
              <a:lin ang="18909221"/>
            </a:gradFill>
          </p:spPr>
        </p:sp>
      </p:grpSp>
      <p:grpSp>
        <p:nvGrpSpPr>
          <p:cNvPr name="Group 8" id="8"/>
          <p:cNvGrpSpPr/>
          <p:nvPr/>
        </p:nvGrpSpPr>
        <p:grpSpPr>
          <a:xfrm rot="-2709221">
            <a:off x="4375718" y="2412975"/>
            <a:ext cx="2272268" cy="2272268"/>
            <a:chOff x="0" y="0"/>
            <a:chExt cx="3029690" cy="3029690"/>
          </a:xfrm>
        </p:grpSpPr>
        <p:sp>
          <p:nvSpPr>
            <p:cNvPr name="Freeform 9" id="9"/>
            <p:cNvSpPr/>
            <p:nvPr/>
          </p:nvSpPr>
          <p:spPr>
            <a:xfrm flipH="false" flipV="false" rot="0">
              <a:off x="0" y="0"/>
              <a:ext cx="3029712" cy="3029712"/>
            </a:xfrm>
            <a:custGeom>
              <a:avLst/>
              <a:gdLst/>
              <a:ahLst/>
              <a:cxnLst/>
              <a:rect r="r" b="b" t="t" l="l"/>
              <a:pathLst>
                <a:path h="3029712" w="3029712">
                  <a:moveTo>
                    <a:pt x="0" y="117475"/>
                  </a:moveTo>
                  <a:cubicBezTo>
                    <a:pt x="0" y="52578"/>
                    <a:pt x="52578" y="0"/>
                    <a:pt x="117475" y="0"/>
                  </a:cubicBezTo>
                  <a:lnTo>
                    <a:pt x="2912237" y="0"/>
                  </a:lnTo>
                  <a:lnTo>
                    <a:pt x="2912237" y="12700"/>
                  </a:lnTo>
                  <a:lnTo>
                    <a:pt x="2912237" y="0"/>
                  </a:lnTo>
                  <a:cubicBezTo>
                    <a:pt x="2977134" y="0"/>
                    <a:pt x="3029712" y="52578"/>
                    <a:pt x="3029712" y="117475"/>
                  </a:cubicBezTo>
                  <a:lnTo>
                    <a:pt x="3017012" y="117475"/>
                  </a:lnTo>
                  <a:lnTo>
                    <a:pt x="3029712" y="117475"/>
                  </a:lnTo>
                  <a:lnTo>
                    <a:pt x="3029712" y="2912237"/>
                  </a:lnTo>
                  <a:lnTo>
                    <a:pt x="3017012" y="2912237"/>
                  </a:lnTo>
                  <a:lnTo>
                    <a:pt x="3029712" y="2912237"/>
                  </a:lnTo>
                  <a:cubicBezTo>
                    <a:pt x="3029712" y="2977134"/>
                    <a:pt x="2977134" y="3029712"/>
                    <a:pt x="2912237" y="3029712"/>
                  </a:cubicBezTo>
                  <a:lnTo>
                    <a:pt x="2912237" y="3017012"/>
                  </a:lnTo>
                  <a:lnTo>
                    <a:pt x="2912237" y="3029712"/>
                  </a:lnTo>
                  <a:lnTo>
                    <a:pt x="117475" y="3029712"/>
                  </a:lnTo>
                  <a:lnTo>
                    <a:pt x="117475" y="3017012"/>
                  </a:lnTo>
                  <a:lnTo>
                    <a:pt x="117475" y="3029712"/>
                  </a:lnTo>
                  <a:cubicBezTo>
                    <a:pt x="52578" y="3029712"/>
                    <a:pt x="0" y="2977134"/>
                    <a:pt x="0" y="2912237"/>
                  </a:cubicBezTo>
                  <a:lnTo>
                    <a:pt x="0" y="117475"/>
                  </a:lnTo>
                  <a:lnTo>
                    <a:pt x="12700" y="117475"/>
                  </a:lnTo>
                  <a:lnTo>
                    <a:pt x="0" y="117475"/>
                  </a:lnTo>
                  <a:moveTo>
                    <a:pt x="25400" y="117475"/>
                  </a:moveTo>
                  <a:lnTo>
                    <a:pt x="25400" y="2912237"/>
                  </a:lnTo>
                  <a:lnTo>
                    <a:pt x="12700" y="2912237"/>
                  </a:lnTo>
                  <a:lnTo>
                    <a:pt x="25400" y="2912237"/>
                  </a:lnTo>
                  <a:cubicBezTo>
                    <a:pt x="25400" y="2963037"/>
                    <a:pt x="66675" y="3004312"/>
                    <a:pt x="117475" y="3004312"/>
                  </a:cubicBezTo>
                  <a:lnTo>
                    <a:pt x="2912237" y="3004312"/>
                  </a:lnTo>
                  <a:cubicBezTo>
                    <a:pt x="2963037" y="3004312"/>
                    <a:pt x="3004312" y="2963037"/>
                    <a:pt x="3004312" y="2912237"/>
                  </a:cubicBezTo>
                  <a:lnTo>
                    <a:pt x="3004312" y="117475"/>
                  </a:lnTo>
                  <a:cubicBezTo>
                    <a:pt x="3004312" y="66675"/>
                    <a:pt x="2963037" y="25400"/>
                    <a:pt x="2912237" y="25400"/>
                  </a:cubicBezTo>
                  <a:lnTo>
                    <a:pt x="117475" y="25400"/>
                  </a:lnTo>
                  <a:lnTo>
                    <a:pt x="117475" y="12700"/>
                  </a:lnTo>
                  <a:lnTo>
                    <a:pt x="117475" y="25400"/>
                  </a:lnTo>
                  <a:cubicBezTo>
                    <a:pt x="66675" y="25400"/>
                    <a:pt x="25400" y="66675"/>
                    <a:pt x="25400" y="117475"/>
                  </a:cubicBezTo>
                  <a:close/>
                </a:path>
              </a:pathLst>
            </a:custGeom>
            <a:solidFill>
              <a:srgbClr val="E9A65D"/>
            </a:solidFill>
          </p:spPr>
        </p:sp>
      </p:grpSp>
      <p:grpSp>
        <p:nvGrpSpPr>
          <p:cNvPr name="Group 10" id="10"/>
          <p:cNvGrpSpPr/>
          <p:nvPr/>
        </p:nvGrpSpPr>
        <p:grpSpPr>
          <a:xfrm rot="-10800000">
            <a:off x="9811510" y="5346221"/>
            <a:ext cx="5807686" cy="735979"/>
            <a:chOff x="0" y="0"/>
            <a:chExt cx="7743582" cy="981306"/>
          </a:xfrm>
        </p:grpSpPr>
        <p:sp>
          <p:nvSpPr>
            <p:cNvPr name="Freeform 11" id="11"/>
            <p:cNvSpPr/>
            <p:nvPr/>
          </p:nvSpPr>
          <p:spPr>
            <a:xfrm flipH="false" flipV="false" rot="0">
              <a:off x="0" y="0"/>
              <a:ext cx="7743571" cy="981329"/>
            </a:xfrm>
            <a:custGeom>
              <a:avLst/>
              <a:gdLst/>
              <a:ahLst/>
              <a:cxnLst/>
              <a:rect r="r" b="b" t="t" l="l"/>
              <a:pathLst>
                <a:path h="981329" w="7743571">
                  <a:moveTo>
                    <a:pt x="0" y="981329"/>
                  </a:moveTo>
                  <a:lnTo>
                    <a:pt x="7252970" y="981329"/>
                  </a:lnTo>
                  <a:cubicBezTo>
                    <a:pt x="7523988" y="981329"/>
                    <a:pt x="7743571" y="761619"/>
                    <a:pt x="7743571" y="490728"/>
                  </a:cubicBezTo>
                  <a:lnTo>
                    <a:pt x="7743571" y="0"/>
                  </a:lnTo>
                  <a:lnTo>
                    <a:pt x="490601" y="0"/>
                  </a:lnTo>
                  <a:cubicBezTo>
                    <a:pt x="219710" y="0"/>
                    <a:pt x="0" y="219710"/>
                    <a:pt x="0" y="490601"/>
                  </a:cubicBezTo>
                  <a:lnTo>
                    <a:pt x="0" y="981329"/>
                  </a:lnTo>
                </a:path>
              </a:pathLst>
            </a:custGeom>
            <a:solidFill>
              <a:srgbClr val="DE6258"/>
            </a:solidFill>
          </p:spPr>
        </p:sp>
      </p:grpSp>
      <p:grpSp>
        <p:nvGrpSpPr>
          <p:cNvPr name="Group 12" id="12"/>
          <p:cNvGrpSpPr/>
          <p:nvPr/>
        </p:nvGrpSpPr>
        <p:grpSpPr>
          <a:xfrm rot="-2709221">
            <a:off x="11713569" y="2478518"/>
            <a:ext cx="2003570" cy="2003570"/>
            <a:chOff x="0" y="0"/>
            <a:chExt cx="2671426" cy="2671426"/>
          </a:xfrm>
        </p:grpSpPr>
        <p:sp>
          <p:nvSpPr>
            <p:cNvPr name="Freeform 13" id="13"/>
            <p:cNvSpPr/>
            <p:nvPr/>
          </p:nvSpPr>
          <p:spPr>
            <a:xfrm flipH="false" flipV="false" rot="0">
              <a:off x="0" y="0"/>
              <a:ext cx="2671318" cy="2671318"/>
            </a:xfrm>
            <a:custGeom>
              <a:avLst/>
              <a:gdLst/>
              <a:ahLst/>
              <a:cxnLst/>
              <a:rect r="r" b="b" t="t" l="l"/>
              <a:pathLst>
                <a:path h="2671318" w="2671318">
                  <a:moveTo>
                    <a:pt x="0" y="93091"/>
                  </a:moveTo>
                  <a:cubicBezTo>
                    <a:pt x="0" y="41656"/>
                    <a:pt x="41656" y="0"/>
                    <a:pt x="93091" y="0"/>
                  </a:cubicBezTo>
                  <a:lnTo>
                    <a:pt x="2578227" y="0"/>
                  </a:lnTo>
                  <a:cubicBezTo>
                    <a:pt x="2629662" y="0"/>
                    <a:pt x="2671318" y="41656"/>
                    <a:pt x="2671318" y="93091"/>
                  </a:cubicBezTo>
                  <a:lnTo>
                    <a:pt x="2671318" y="2578227"/>
                  </a:lnTo>
                  <a:cubicBezTo>
                    <a:pt x="2671318" y="2629662"/>
                    <a:pt x="2629662" y="2671318"/>
                    <a:pt x="2578227" y="2671318"/>
                  </a:cubicBezTo>
                  <a:lnTo>
                    <a:pt x="93091" y="2671318"/>
                  </a:lnTo>
                  <a:cubicBezTo>
                    <a:pt x="41656" y="2671318"/>
                    <a:pt x="0" y="2629662"/>
                    <a:pt x="0" y="2578227"/>
                  </a:cubicBezTo>
                  <a:close/>
                </a:path>
              </a:pathLst>
            </a:custGeom>
            <a:gradFill rotWithShape="true">
              <a:gsLst>
                <a:gs pos="0">
                  <a:srgbClr val="DE6258">
                    <a:alpha val="100000"/>
                  </a:srgbClr>
                </a:gs>
                <a:gs pos="100000">
                  <a:srgbClr val="E37A71">
                    <a:alpha val="100000"/>
                  </a:srgbClr>
                </a:gs>
              </a:gsLst>
              <a:lin ang="18909221"/>
            </a:gradFill>
          </p:spPr>
        </p:sp>
      </p:grpSp>
      <p:grpSp>
        <p:nvGrpSpPr>
          <p:cNvPr name="Group 14" id="14"/>
          <p:cNvGrpSpPr/>
          <p:nvPr/>
        </p:nvGrpSpPr>
        <p:grpSpPr>
          <a:xfrm rot="-2709221">
            <a:off x="11579220" y="2344167"/>
            <a:ext cx="2272269" cy="2272269"/>
            <a:chOff x="0" y="0"/>
            <a:chExt cx="3029692" cy="3029692"/>
          </a:xfrm>
        </p:grpSpPr>
        <p:sp>
          <p:nvSpPr>
            <p:cNvPr name="Freeform 15" id="15"/>
            <p:cNvSpPr/>
            <p:nvPr/>
          </p:nvSpPr>
          <p:spPr>
            <a:xfrm flipH="false" flipV="false" rot="0">
              <a:off x="0" y="0"/>
              <a:ext cx="3029712" cy="3029712"/>
            </a:xfrm>
            <a:custGeom>
              <a:avLst/>
              <a:gdLst/>
              <a:ahLst/>
              <a:cxnLst/>
              <a:rect r="r" b="b" t="t" l="l"/>
              <a:pathLst>
                <a:path h="3029712" w="3029712">
                  <a:moveTo>
                    <a:pt x="0" y="117475"/>
                  </a:moveTo>
                  <a:cubicBezTo>
                    <a:pt x="0" y="52578"/>
                    <a:pt x="52578" y="0"/>
                    <a:pt x="117475" y="0"/>
                  </a:cubicBezTo>
                  <a:lnTo>
                    <a:pt x="2912237" y="0"/>
                  </a:lnTo>
                  <a:lnTo>
                    <a:pt x="2912237" y="12700"/>
                  </a:lnTo>
                  <a:lnTo>
                    <a:pt x="2912237" y="0"/>
                  </a:lnTo>
                  <a:cubicBezTo>
                    <a:pt x="2977134" y="0"/>
                    <a:pt x="3029712" y="52578"/>
                    <a:pt x="3029712" y="117475"/>
                  </a:cubicBezTo>
                  <a:lnTo>
                    <a:pt x="3017012" y="117475"/>
                  </a:lnTo>
                  <a:lnTo>
                    <a:pt x="3029712" y="117475"/>
                  </a:lnTo>
                  <a:lnTo>
                    <a:pt x="3029712" y="2912237"/>
                  </a:lnTo>
                  <a:lnTo>
                    <a:pt x="3017012" y="2912237"/>
                  </a:lnTo>
                  <a:lnTo>
                    <a:pt x="3029712" y="2912237"/>
                  </a:lnTo>
                  <a:cubicBezTo>
                    <a:pt x="3029712" y="2977134"/>
                    <a:pt x="2977134" y="3029712"/>
                    <a:pt x="2912237" y="3029712"/>
                  </a:cubicBezTo>
                  <a:lnTo>
                    <a:pt x="2912237" y="3017012"/>
                  </a:lnTo>
                  <a:lnTo>
                    <a:pt x="2912237" y="3029712"/>
                  </a:lnTo>
                  <a:lnTo>
                    <a:pt x="117475" y="3029712"/>
                  </a:lnTo>
                  <a:lnTo>
                    <a:pt x="117475" y="3017012"/>
                  </a:lnTo>
                  <a:lnTo>
                    <a:pt x="117475" y="3029712"/>
                  </a:lnTo>
                  <a:cubicBezTo>
                    <a:pt x="52578" y="3029712"/>
                    <a:pt x="0" y="2977134"/>
                    <a:pt x="0" y="2912237"/>
                  </a:cubicBezTo>
                  <a:lnTo>
                    <a:pt x="0" y="117475"/>
                  </a:lnTo>
                  <a:lnTo>
                    <a:pt x="12700" y="117475"/>
                  </a:lnTo>
                  <a:lnTo>
                    <a:pt x="0" y="117475"/>
                  </a:lnTo>
                  <a:moveTo>
                    <a:pt x="25400" y="117475"/>
                  </a:moveTo>
                  <a:lnTo>
                    <a:pt x="25400" y="2912237"/>
                  </a:lnTo>
                  <a:lnTo>
                    <a:pt x="12700" y="2912237"/>
                  </a:lnTo>
                  <a:lnTo>
                    <a:pt x="25400" y="2912237"/>
                  </a:lnTo>
                  <a:cubicBezTo>
                    <a:pt x="25400" y="2963037"/>
                    <a:pt x="66675" y="3004312"/>
                    <a:pt x="117475" y="3004312"/>
                  </a:cubicBezTo>
                  <a:lnTo>
                    <a:pt x="2912237" y="3004312"/>
                  </a:lnTo>
                  <a:cubicBezTo>
                    <a:pt x="2963037" y="3004312"/>
                    <a:pt x="3004312" y="2963037"/>
                    <a:pt x="3004312" y="2912237"/>
                  </a:cubicBezTo>
                  <a:lnTo>
                    <a:pt x="3004312" y="117475"/>
                  </a:lnTo>
                  <a:cubicBezTo>
                    <a:pt x="3004312" y="66675"/>
                    <a:pt x="2963037" y="25400"/>
                    <a:pt x="2912237" y="25400"/>
                  </a:cubicBezTo>
                  <a:lnTo>
                    <a:pt x="117475" y="25400"/>
                  </a:lnTo>
                  <a:lnTo>
                    <a:pt x="117475" y="12700"/>
                  </a:lnTo>
                  <a:lnTo>
                    <a:pt x="117475" y="25400"/>
                  </a:lnTo>
                  <a:cubicBezTo>
                    <a:pt x="66675" y="25400"/>
                    <a:pt x="25400" y="66675"/>
                    <a:pt x="25400" y="117475"/>
                  </a:cubicBezTo>
                  <a:close/>
                </a:path>
              </a:pathLst>
            </a:custGeom>
            <a:solidFill>
              <a:srgbClr val="DE6258"/>
            </a:solidFill>
          </p:spPr>
        </p:sp>
      </p:grpSp>
      <p:sp>
        <p:nvSpPr>
          <p:cNvPr name="TextBox 16" id="16"/>
          <p:cNvSpPr txBox="true"/>
          <p:nvPr/>
        </p:nvSpPr>
        <p:spPr>
          <a:xfrm rot="0">
            <a:off x="2587677" y="6307155"/>
            <a:ext cx="5848350" cy="952500"/>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000000"/>
                </a:solidFill>
                <a:latin typeface="可畫妞妞體-繁"/>
                <a:ea typeface="可畫妞妞體-繁"/>
                <a:cs typeface="可畫妞妞體-繁"/>
                <a:sym typeface="可畫妞妞體-繁"/>
              </a:rPr>
              <a:t>在人工智慧時代，媒體素養教育必須特別包括應對人工智慧產生的虛假資訊的培訓。例如，學習如何識別深度偽造的影片和人工智慧生成的文字非常重要。</a:t>
            </a:r>
          </a:p>
        </p:txBody>
      </p:sp>
      <p:sp>
        <p:nvSpPr>
          <p:cNvPr name="TextBox 17" id="17"/>
          <p:cNvSpPr txBox="true"/>
          <p:nvPr/>
        </p:nvSpPr>
        <p:spPr>
          <a:xfrm rot="0">
            <a:off x="4968927" y="3034758"/>
            <a:ext cx="1085850" cy="1104900"/>
          </a:xfrm>
          <a:prstGeom prst="rect">
            <a:avLst/>
          </a:prstGeom>
        </p:spPr>
        <p:txBody>
          <a:bodyPr anchor="t" rtlCol="false" tIns="0" lIns="0" bIns="0" rIns="0">
            <a:spAutoFit/>
          </a:bodyPr>
          <a:lstStyle/>
          <a:p>
            <a:pPr algn="ctr" marL="0" indent="0" lvl="0">
              <a:lnSpc>
                <a:spcPts val="8640"/>
              </a:lnSpc>
              <a:spcBef>
                <a:spcPct val="0"/>
              </a:spcBef>
            </a:pPr>
            <a:r>
              <a:rPr lang="en-US" sz="7200" strike="noStrike" u="none">
                <a:solidFill>
                  <a:srgbClr val="FFFFFF"/>
                </a:solidFill>
                <a:latin typeface="可畫妞妞體-繁"/>
                <a:ea typeface="可畫妞妞體-繁"/>
                <a:cs typeface="可畫妞妞體-繁"/>
                <a:sym typeface="可畫妞妞體-繁"/>
              </a:rPr>
              <a:t>01</a:t>
            </a:r>
          </a:p>
        </p:txBody>
      </p:sp>
      <p:sp>
        <p:nvSpPr>
          <p:cNvPr name="TextBox 18" id="18"/>
          <p:cNvSpPr txBox="true"/>
          <p:nvPr/>
        </p:nvSpPr>
        <p:spPr>
          <a:xfrm rot="0">
            <a:off x="2879142" y="5405601"/>
            <a:ext cx="526542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FFFFFF"/>
                </a:solidFill>
                <a:latin typeface="可畫妞妞體-繁"/>
                <a:ea typeface="可畫妞妞體-繁"/>
                <a:cs typeface="可畫妞妞體-繁"/>
                <a:sym typeface="可畫妞妞體-繁"/>
              </a:rPr>
              <a:t>辨識深度虛假的影片和文字</a:t>
            </a:r>
          </a:p>
        </p:txBody>
      </p:sp>
      <p:sp>
        <p:nvSpPr>
          <p:cNvPr name="TextBox 19" id="19"/>
          <p:cNvSpPr txBox="true"/>
          <p:nvPr/>
        </p:nvSpPr>
        <p:spPr>
          <a:xfrm rot="0">
            <a:off x="9810230" y="6307155"/>
            <a:ext cx="581025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000000"/>
                </a:solidFill>
                <a:latin typeface="可畫妞妞體-繁"/>
                <a:ea typeface="可畫妞妞體-繁"/>
                <a:cs typeface="可畫妞妞體-繁"/>
                <a:sym typeface="可畫妞妞體-繁"/>
              </a:rPr>
              <a:t>隨著人工智慧技術的發展，消費者本身需要了解它並有能力正確使用它。這使我們有能力反擊虛假訊息。</a:t>
            </a:r>
          </a:p>
        </p:txBody>
      </p:sp>
      <p:sp>
        <p:nvSpPr>
          <p:cNvPr name="TextBox 20" id="20"/>
          <p:cNvSpPr txBox="true"/>
          <p:nvPr/>
        </p:nvSpPr>
        <p:spPr>
          <a:xfrm rot="0">
            <a:off x="12096230" y="2965952"/>
            <a:ext cx="1238250" cy="1104900"/>
          </a:xfrm>
          <a:prstGeom prst="rect">
            <a:avLst/>
          </a:prstGeom>
        </p:spPr>
        <p:txBody>
          <a:bodyPr anchor="t" rtlCol="false" tIns="0" lIns="0" bIns="0" rIns="0">
            <a:spAutoFit/>
          </a:bodyPr>
          <a:lstStyle/>
          <a:p>
            <a:pPr algn="ctr" marL="0" indent="0" lvl="0">
              <a:lnSpc>
                <a:spcPts val="8640"/>
              </a:lnSpc>
              <a:spcBef>
                <a:spcPct val="0"/>
              </a:spcBef>
            </a:pPr>
            <a:r>
              <a:rPr lang="en-US" sz="7200" strike="noStrike" u="none">
                <a:solidFill>
                  <a:srgbClr val="FFFFFF"/>
                </a:solidFill>
                <a:latin typeface="可畫妞妞體-繁"/>
                <a:ea typeface="可畫妞妞體-繁"/>
                <a:cs typeface="可畫妞妞體-繁"/>
                <a:sym typeface="可畫妞妞體-繁"/>
              </a:rPr>
              <a:t>02</a:t>
            </a:r>
          </a:p>
        </p:txBody>
      </p:sp>
      <p:sp>
        <p:nvSpPr>
          <p:cNvPr name="TextBox 21" id="21"/>
          <p:cNvSpPr txBox="true"/>
          <p:nvPr/>
        </p:nvSpPr>
        <p:spPr>
          <a:xfrm rot="0">
            <a:off x="10111219" y="5405601"/>
            <a:ext cx="520827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FFFFFF"/>
                </a:solidFill>
                <a:latin typeface="可畫妞妞體-繁"/>
                <a:ea typeface="可畫妞妞體-繁"/>
                <a:cs typeface="可畫妞妞體-繁"/>
                <a:sym typeface="可畫妞妞體-繁"/>
              </a:rPr>
              <a:t>理解和使用人工智慧技術</a:t>
            </a:r>
          </a:p>
        </p:txBody>
      </p:sp>
      <p:grpSp>
        <p:nvGrpSpPr>
          <p:cNvPr name="Group 22" id="22"/>
          <p:cNvGrpSpPr/>
          <p:nvPr/>
        </p:nvGrpSpPr>
        <p:grpSpPr>
          <a:xfrm rot="0">
            <a:off x="679317" y="501705"/>
            <a:ext cx="12256770" cy="982980"/>
            <a:chOff x="0" y="0"/>
            <a:chExt cx="16342360" cy="1310640"/>
          </a:xfrm>
        </p:grpSpPr>
        <p:sp>
          <p:nvSpPr>
            <p:cNvPr name="Freeform 23" id="23"/>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24" id="24"/>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支援人工智慧生成的內容</a:t>
            </a:r>
          </a:p>
        </p:txBody>
      </p:sp>
      <p:sp>
        <p:nvSpPr>
          <p:cNvPr name="Freeform 25" id="25"/>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95798"/>
            <a:ext cx="10344081" cy="82867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可畫妞妞體-繁"/>
                <a:ea typeface="可畫妞妞體-繁"/>
                <a:cs typeface="可畫妞妞體-繁"/>
                <a:sym typeface="可畫妞妞體-繁"/>
              </a:rPr>
              <a:t>假訊息對策</a:t>
            </a:r>
          </a:p>
        </p:txBody>
      </p:sp>
      <p:sp>
        <p:nvSpPr>
          <p:cNvPr name="TextBox 13" id="13"/>
          <p:cNvSpPr txBox="true"/>
          <p:nvPr/>
        </p:nvSpPr>
        <p:spPr>
          <a:xfrm rot="0">
            <a:off x="6738512" y="1786197"/>
            <a:ext cx="4810978" cy="27527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可畫妞妞體-繁"/>
                <a:ea typeface="可畫妞妞體-繁"/>
                <a:cs typeface="可畫妞妞體-繁"/>
                <a:sym typeface="可畫妞妞體-繁"/>
              </a:rPr>
              <a:t>03</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Freeform 4" id="4"/>
          <p:cNvSpPr/>
          <p:nvPr/>
        </p:nvSpPr>
        <p:spPr>
          <a:xfrm flipH="false" flipV="false" rot="0">
            <a:off x="1287836" y="3004582"/>
            <a:ext cx="3976528" cy="3976528"/>
          </a:xfrm>
          <a:custGeom>
            <a:avLst/>
            <a:gdLst/>
            <a:ahLst/>
            <a:cxnLst/>
            <a:rect r="r" b="b" t="t" l="l"/>
            <a:pathLst>
              <a:path h="3976528" w="3976528">
                <a:moveTo>
                  <a:pt x="0" y="0"/>
                </a:moveTo>
                <a:lnTo>
                  <a:pt x="3976528" y="0"/>
                </a:lnTo>
                <a:lnTo>
                  <a:pt x="3976528" y="3976529"/>
                </a:lnTo>
                <a:lnTo>
                  <a:pt x="0" y="3976529"/>
                </a:lnTo>
                <a:lnTo>
                  <a:pt x="0" y="0"/>
                </a:lnTo>
                <a:close/>
              </a:path>
            </a:pathLst>
          </a:custGeom>
          <a:blipFill>
            <a:blip r:embed="rId2"/>
            <a:stretch>
              <a:fillRect l="0" t="0" r="-78431" b="0"/>
            </a:stretch>
          </a:blipFill>
        </p:spPr>
      </p:sp>
      <p:grpSp>
        <p:nvGrpSpPr>
          <p:cNvPr name="Group 5" id="5"/>
          <p:cNvGrpSpPr/>
          <p:nvPr/>
        </p:nvGrpSpPr>
        <p:grpSpPr>
          <a:xfrm rot="0">
            <a:off x="1017550" y="2812628"/>
            <a:ext cx="592428" cy="592428"/>
            <a:chOff x="0" y="0"/>
            <a:chExt cx="789904" cy="789904"/>
          </a:xfrm>
        </p:grpSpPr>
        <p:sp>
          <p:nvSpPr>
            <p:cNvPr name="Freeform 6" id="6"/>
            <p:cNvSpPr/>
            <p:nvPr/>
          </p:nvSpPr>
          <p:spPr>
            <a:xfrm flipH="false" flipV="false" rot="0">
              <a:off x="0" y="0"/>
              <a:ext cx="789940" cy="789940"/>
            </a:xfrm>
            <a:custGeom>
              <a:avLst/>
              <a:gdLst/>
              <a:ahLst/>
              <a:cxnLst/>
              <a:rect r="r" b="b" t="t" l="l"/>
              <a:pathLst>
                <a:path h="789940" w="789940">
                  <a:moveTo>
                    <a:pt x="0" y="0"/>
                  </a:moveTo>
                  <a:lnTo>
                    <a:pt x="789940" y="0"/>
                  </a:lnTo>
                  <a:lnTo>
                    <a:pt x="789940" y="789940"/>
                  </a:lnTo>
                  <a:lnTo>
                    <a:pt x="0" y="789940"/>
                  </a:lnTo>
                  <a:close/>
                </a:path>
              </a:pathLst>
            </a:custGeom>
            <a:solidFill>
              <a:srgbClr val="E9A65D"/>
            </a:solidFill>
          </p:spPr>
        </p:sp>
      </p:grpSp>
      <p:grpSp>
        <p:nvGrpSpPr>
          <p:cNvPr name="Group 7" id="7"/>
          <p:cNvGrpSpPr/>
          <p:nvPr/>
        </p:nvGrpSpPr>
        <p:grpSpPr>
          <a:xfrm rot="0">
            <a:off x="2194068" y="5831316"/>
            <a:ext cx="6504812" cy="2836434"/>
            <a:chOff x="0" y="0"/>
            <a:chExt cx="8673082" cy="3781912"/>
          </a:xfrm>
        </p:grpSpPr>
        <p:sp>
          <p:nvSpPr>
            <p:cNvPr name="Freeform 8" id="8"/>
            <p:cNvSpPr/>
            <p:nvPr/>
          </p:nvSpPr>
          <p:spPr>
            <a:xfrm flipH="false" flipV="false" rot="0">
              <a:off x="0" y="0"/>
              <a:ext cx="8673084" cy="3781933"/>
            </a:xfrm>
            <a:custGeom>
              <a:avLst/>
              <a:gdLst/>
              <a:ahLst/>
              <a:cxnLst/>
              <a:rect r="r" b="b" t="t" l="l"/>
              <a:pathLst>
                <a:path h="3781933" w="8673084">
                  <a:moveTo>
                    <a:pt x="0" y="0"/>
                  </a:moveTo>
                  <a:lnTo>
                    <a:pt x="8673084" y="0"/>
                  </a:lnTo>
                  <a:lnTo>
                    <a:pt x="8673084" y="3781933"/>
                  </a:lnTo>
                  <a:lnTo>
                    <a:pt x="0" y="3781933"/>
                  </a:lnTo>
                  <a:close/>
                </a:path>
              </a:pathLst>
            </a:custGeom>
            <a:solidFill>
              <a:srgbClr val="E9A65D"/>
            </a:solidFill>
          </p:spPr>
        </p:sp>
      </p:grpSp>
      <p:sp>
        <p:nvSpPr>
          <p:cNvPr name="TextBox 9" id="9"/>
          <p:cNvSpPr txBox="true"/>
          <p:nvPr/>
        </p:nvSpPr>
        <p:spPr>
          <a:xfrm rot="0">
            <a:off x="2811432" y="6782069"/>
            <a:ext cx="5270082" cy="952500"/>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FFFFFF"/>
                </a:solidFill>
                <a:latin typeface="可畫妞妞體-繁"/>
                <a:ea typeface="可畫妞妞體-繁"/>
                <a:cs typeface="可畫妞妞體-繁"/>
                <a:sym typeface="可畫妞妞體-繁"/>
              </a:rPr>
              <a:t>人工智慧本身也可以用來作為對抗虛假資訊的對策。自然語言處理 (NLP) 和機器學習技術可用於快速檢測潛在的錯誤訊息。</a:t>
            </a:r>
          </a:p>
        </p:txBody>
      </p:sp>
      <p:sp>
        <p:nvSpPr>
          <p:cNvPr name="TextBox 10" id="10"/>
          <p:cNvSpPr txBox="true"/>
          <p:nvPr/>
        </p:nvSpPr>
        <p:spPr>
          <a:xfrm rot="0">
            <a:off x="2804240" y="6315400"/>
            <a:ext cx="528447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FFFFFF"/>
                </a:solidFill>
                <a:latin typeface="可畫妞妞體-繁"/>
                <a:ea typeface="可畫妞妞體-繁"/>
                <a:cs typeface="可畫妞妞體-繁"/>
                <a:sym typeface="可畫妞妞體-繁"/>
              </a:rPr>
              <a:t>使用 NLP 和機器學習檢測假訊息</a:t>
            </a:r>
          </a:p>
        </p:txBody>
      </p:sp>
      <p:sp>
        <p:nvSpPr>
          <p:cNvPr name="Freeform 11" id="11"/>
          <p:cNvSpPr/>
          <p:nvPr/>
        </p:nvSpPr>
        <p:spPr>
          <a:xfrm flipH="false" flipV="false" rot="0">
            <a:off x="10050086" y="3004582"/>
            <a:ext cx="3976528" cy="3976528"/>
          </a:xfrm>
          <a:custGeom>
            <a:avLst/>
            <a:gdLst/>
            <a:ahLst/>
            <a:cxnLst/>
            <a:rect r="r" b="b" t="t" l="l"/>
            <a:pathLst>
              <a:path h="3976528" w="3976528">
                <a:moveTo>
                  <a:pt x="0" y="0"/>
                </a:moveTo>
                <a:lnTo>
                  <a:pt x="3976528" y="0"/>
                </a:lnTo>
                <a:lnTo>
                  <a:pt x="3976528" y="3976529"/>
                </a:lnTo>
                <a:lnTo>
                  <a:pt x="0" y="3976529"/>
                </a:lnTo>
                <a:lnTo>
                  <a:pt x="0" y="0"/>
                </a:lnTo>
                <a:close/>
              </a:path>
            </a:pathLst>
          </a:custGeom>
          <a:blipFill>
            <a:blip r:embed="rId3"/>
            <a:stretch>
              <a:fillRect l="0" t="0" r="-78431" b="0"/>
            </a:stretch>
          </a:blipFill>
        </p:spPr>
      </p:sp>
      <p:grpSp>
        <p:nvGrpSpPr>
          <p:cNvPr name="Group 12" id="12"/>
          <p:cNvGrpSpPr/>
          <p:nvPr/>
        </p:nvGrpSpPr>
        <p:grpSpPr>
          <a:xfrm rot="0">
            <a:off x="9750190" y="2812628"/>
            <a:ext cx="592428" cy="592428"/>
            <a:chOff x="0" y="0"/>
            <a:chExt cx="789904" cy="789904"/>
          </a:xfrm>
        </p:grpSpPr>
        <p:sp>
          <p:nvSpPr>
            <p:cNvPr name="Freeform 13" id="13"/>
            <p:cNvSpPr/>
            <p:nvPr/>
          </p:nvSpPr>
          <p:spPr>
            <a:xfrm flipH="false" flipV="false" rot="0">
              <a:off x="0" y="0"/>
              <a:ext cx="789940" cy="789940"/>
            </a:xfrm>
            <a:custGeom>
              <a:avLst/>
              <a:gdLst/>
              <a:ahLst/>
              <a:cxnLst/>
              <a:rect r="r" b="b" t="t" l="l"/>
              <a:pathLst>
                <a:path h="789940" w="789940">
                  <a:moveTo>
                    <a:pt x="0" y="0"/>
                  </a:moveTo>
                  <a:lnTo>
                    <a:pt x="789940" y="0"/>
                  </a:lnTo>
                  <a:lnTo>
                    <a:pt x="789940" y="789940"/>
                  </a:lnTo>
                  <a:lnTo>
                    <a:pt x="0" y="789940"/>
                  </a:lnTo>
                  <a:close/>
                </a:path>
              </a:pathLst>
            </a:custGeom>
            <a:solidFill>
              <a:srgbClr val="DE6258"/>
            </a:solidFill>
          </p:spPr>
        </p:sp>
      </p:grpSp>
      <p:grpSp>
        <p:nvGrpSpPr>
          <p:cNvPr name="Group 14" id="14"/>
          <p:cNvGrpSpPr/>
          <p:nvPr/>
        </p:nvGrpSpPr>
        <p:grpSpPr>
          <a:xfrm rot="0">
            <a:off x="10765636" y="5831316"/>
            <a:ext cx="6504812" cy="2841979"/>
            <a:chOff x="0" y="0"/>
            <a:chExt cx="8673082" cy="3789306"/>
          </a:xfrm>
        </p:grpSpPr>
        <p:sp>
          <p:nvSpPr>
            <p:cNvPr name="Freeform 15" id="15"/>
            <p:cNvSpPr/>
            <p:nvPr/>
          </p:nvSpPr>
          <p:spPr>
            <a:xfrm flipH="false" flipV="false" rot="0">
              <a:off x="0" y="0"/>
              <a:ext cx="8673084" cy="3789299"/>
            </a:xfrm>
            <a:custGeom>
              <a:avLst/>
              <a:gdLst/>
              <a:ahLst/>
              <a:cxnLst/>
              <a:rect r="r" b="b" t="t" l="l"/>
              <a:pathLst>
                <a:path h="3789299" w="8673084">
                  <a:moveTo>
                    <a:pt x="0" y="0"/>
                  </a:moveTo>
                  <a:lnTo>
                    <a:pt x="8673084" y="0"/>
                  </a:lnTo>
                  <a:lnTo>
                    <a:pt x="8673084" y="3789299"/>
                  </a:lnTo>
                  <a:lnTo>
                    <a:pt x="0" y="3789299"/>
                  </a:lnTo>
                  <a:close/>
                </a:path>
              </a:pathLst>
            </a:custGeom>
            <a:solidFill>
              <a:srgbClr val="DE6258"/>
            </a:solidFill>
          </p:spPr>
        </p:sp>
      </p:grpSp>
      <p:sp>
        <p:nvSpPr>
          <p:cNvPr name="TextBox 16" id="16"/>
          <p:cNvSpPr txBox="true"/>
          <p:nvPr/>
        </p:nvSpPr>
        <p:spPr>
          <a:xfrm rot="0">
            <a:off x="11370722" y="6782069"/>
            <a:ext cx="529464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FFFFFF"/>
                </a:solidFill>
                <a:latin typeface="可畫妞妞體-繁"/>
                <a:ea typeface="可畫妞妞體-繁"/>
                <a:cs typeface="可畫妞妞體-繁"/>
                <a:sym typeface="可畫妞妞體-繁"/>
              </a:rPr>
              <a:t>開發自動偵測假新聞的演算法也很重要。這使我們能夠在錯誤訊息傳播之前快速做出反應。</a:t>
            </a:r>
          </a:p>
        </p:txBody>
      </p:sp>
      <p:sp>
        <p:nvSpPr>
          <p:cNvPr name="TextBox 17" id="17"/>
          <p:cNvSpPr txBox="true"/>
          <p:nvPr/>
        </p:nvSpPr>
        <p:spPr>
          <a:xfrm rot="0">
            <a:off x="11366281" y="6324925"/>
            <a:ext cx="5303520" cy="323850"/>
          </a:xfrm>
          <a:prstGeom prst="rect">
            <a:avLst/>
          </a:prstGeom>
        </p:spPr>
        <p:txBody>
          <a:bodyPr anchor="t" rtlCol="false" tIns="0" lIns="0" bIns="0" rIns="0">
            <a:spAutoFit/>
          </a:bodyPr>
          <a:lstStyle/>
          <a:p>
            <a:pPr algn="l" marL="0" indent="0" lvl="0">
              <a:lnSpc>
                <a:spcPts val="2566"/>
              </a:lnSpc>
              <a:spcBef>
                <a:spcPct val="0"/>
              </a:spcBef>
            </a:pPr>
            <a:r>
              <a:rPr lang="en-US" sz="2139" strike="noStrike" u="none">
                <a:solidFill>
                  <a:srgbClr val="FFFFFF"/>
                </a:solidFill>
                <a:latin typeface="可畫妞妞體-繁"/>
                <a:ea typeface="可畫妞妞體-繁"/>
                <a:cs typeface="可畫妞妞體-繁"/>
                <a:sym typeface="可畫妞妞體-繁"/>
              </a:rPr>
              <a:t>假新聞檢測演算法的開發</a:t>
            </a:r>
          </a:p>
        </p:txBody>
      </p:sp>
      <p:grpSp>
        <p:nvGrpSpPr>
          <p:cNvPr name="Group 18" id="18"/>
          <p:cNvGrpSpPr/>
          <p:nvPr/>
        </p:nvGrpSpPr>
        <p:grpSpPr>
          <a:xfrm rot="0">
            <a:off x="679317" y="501705"/>
            <a:ext cx="12256770" cy="982980"/>
            <a:chOff x="0" y="0"/>
            <a:chExt cx="16342360" cy="1310640"/>
          </a:xfrm>
        </p:grpSpPr>
        <p:sp>
          <p:nvSpPr>
            <p:cNvPr name="Freeform 19" id="19"/>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20" id="20"/>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技術手段</a:t>
            </a:r>
          </a:p>
        </p:txBody>
      </p:sp>
      <p:sp>
        <p:nvSpPr>
          <p:cNvPr name="Freeform 21" id="21"/>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4225076" y="2924298"/>
            <a:ext cx="9837849" cy="2212576"/>
            <a:chOff x="0" y="0"/>
            <a:chExt cx="13117132" cy="2950102"/>
          </a:xfrm>
        </p:grpSpPr>
        <p:sp>
          <p:nvSpPr>
            <p:cNvPr name="Freeform 5" id="5"/>
            <p:cNvSpPr/>
            <p:nvPr/>
          </p:nvSpPr>
          <p:spPr>
            <a:xfrm flipH="false" flipV="false" rot="0">
              <a:off x="0" y="0"/>
              <a:ext cx="13117068" cy="2950083"/>
            </a:xfrm>
            <a:custGeom>
              <a:avLst/>
              <a:gdLst/>
              <a:ahLst/>
              <a:cxnLst/>
              <a:rect r="r" b="b" t="t" l="l"/>
              <a:pathLst>
                <a:path h="2950083" w="13117068">
                  <a:moveTo>
                    <a:pt x="0" y="2950083"/>
                  </a:moveTo>
                  <a:lnTo>
                    <a:pt x="6558534" y="0"/>
                  </a:lnTo>
                  <a:lnTo>
                    <a:pt x="13117068" y="2950083"/>
                  </a:lnTo>
                  <a:close/>
                </a:path>
              </a:pathLst>
            </a:custGeom>
            <a:gradFill rotWithShape="true">
              <a:gsLst>
                <a:gs pos="13000">
                  <a:srgbClr val="F2CA9E">
                    <a:alpha val="40000"/>
                  </a:srgbClr>
                </a:gs>
                <a:gs pos="71000">
                  <a:srgbClr val="FBEDDF">
                    <a:alpha val="0"/>
                  </a:srgbClr>
                </a:gs>
              </a:gsLst>
              <a:lin ang="5400000"/>
            </a:gradFill>
          </p:spPr>
        </p:sp>
      </p:grpSp>
      <p:grpSp>
        <p:nvGrpSpPr>
          <p:cNvPr name="Group 6" id="6"/>
          <p:cNvGrpSpPr/>
          <p:nvPr/>
        </p:nvGrpSpPr>
        <p:grpSpPr>
          <a:xfrm rot="0">
            <a:off x="8215312" y="2322130"/>
            <a:ext cx="1857375" cy="1857375"/>
            <a:chOff x="0" y="0"/>
            <a:chExt cx="2476500" cy="2476500"/>
          </a:xfrm>
        </p:grpSpPr>
        <p:sp>
          <p:nvSpPr>
            <p:cNvPr name="Freeform 7" id="7"/>
            <p:cNvSpPr/>
            <p:nvPr/>
          </p:nvSpPr>
          <p:spPr>
            <a:xfrm flipH="false" flipV="false" rot="0">
              <a:off x="0" y="0"/>
              <a:ext cx="2476500" cy="2476500"/>
            </a:xfrm>
            <a:custGeom>
              <a:avLst/>
              <a:gdLst/>
              <a:ahLst/>
              <a:cxnLst/>
              <a:rect r="r" b="b" t="t" l="l"/>
              <a:pathLst>
                <a:path h="2476500" w="2476500">
                  <a:moveTo>
                    <a:pt x="0" y="1238250"/>
                  </a:moveTo>
                  <a:cubicBezTo>
                    <a:pt x="0" y="554355"/>
                    <a:pt x="554355" y="0"/>
                    <a:pt x="1238250" y="0"/>
                  </a:cubicBezTo>
                  <a:cubicBezTo>
                    <a:pt x="1922145" y="0"/>
                    <a:pt x="2476500" y="554355"/>
                    <a:pt x="2476500" y="1238250"/>
                  </a:cubicBezTo>
                  <a:cubicBezTo>
                    <a:pt x="2476500" y="1922145"/>
                    <a:pt x="1922145" y="2476500"/>
                    <a:pt x="1238250" y="2476500"/>
                  </a:cubicBezTo>
                  <a:cubicBezTo>
                    <a:pt x="554355" y="2476500"/>
                    <a:pt x="0" y="1922145"/>
                    <a:pt x="0" y="1238250"/>
                  </a:cubicBezTo>
                  <a:close/>
                </a:path>
              </a:pathLst>
            </a:custGeom>
            <a:solidFill>
              <a:srgbClr val="E9A65D"/>
            </a:solidFill>
          </p:spPr>
        </p:sp>
      </p:grpSp>
      <p:grpSp>
        <p:nvGrpSpPr>
          <p:cNvPr name="Group 8" id="8"/>
          <p:cNvGrpSpPr/>
          <p:nvPr/>
        </p:nvGrpSpPr>
        <p:grpSpPr>
          <a:xfrm rot="0">
            <a:off x="2590800" y="4637541"/>
            <a:ext cx="6172200" cy="1019645"/>
            <a:chOff x="0" y="0"/>
            <a:chExt cx="8229600" cy="1359526"/>
          </a:xfrm>
        </p:grpSpPr>
        <p:sp>
          <p:nvSpPr>
            <p:cNvPr name="Freeform 9" id="9"/>
            <p:cNvSpPr/>
            <p:nvPr/>
          </p:nvSpPr>
          <p:spPr>
            <a:xfrm flipH="false" flipV="false" rot="0">
              <a:off x="0" y="0"/>
              <a:ext cx="8229600" cy="1359535"/>
            </a:xfrm>
            <a:custGeom>
              <a:avLst/>
              <a:gdLst/>
              <a:ahLst/>
              <a:cxnLst/>
              <a:rect r="r" b="b" t="t" l="l"/>
              <a:pathLst>
                <a:path h="1359535" w="8229600">
                  <a:moveTo>
                    <a:pt x="0" y="0"/>
                  </a:moveTo>
                  <a:lnTo>
                    <a:pt x="8229600" y="0"/>
                  </a:lnTo>
                  <a:lnTo>
                    <a:pt x="8229600" y="1359535"/>
                  </a:lnTo>
                  <a:lnTo>
                    <a:pt x="0" y="1359535"/>
                  </a:lnTo>
                  <a:close/>
                </a:path>
              </a:pathLst>
            </a:custGeom>
            <a:solidFill>
              <a:srgbClr val="FFFFFF"/>
            </a:solidFill>
          </p:spPr>
        </p:sp>
        <p:sp>
          <p:nvSpPr>
            <p:cNvPr name="TextBox 10" id="10"/>
            <p:cNvSpPr txBox="true"/>
            <p:nvPr/>
          </p:nvSpPr>
          <p:spPr>
            <a:xfrm>
              <a:off x="0" y="-9525"/>
              <a:ext cx="8229600" cy="1369051"/>
            </a:xfrm>
            <a:prstGeom prst="rect">
              <a:avLst/>
            </a:prstGeom>
          </p:spPr>
          <p:txBody>
            <a:bodyPr anchor="ctr" rtlCol="false" tIns="50800" lIns="50800" bIns="50800" rIns="50800"/>
            <a:lstStyle/>
            <a:p>
              <a:pPr algn="ctr" marL="0" indent="0" lvl="0">
                <a:lnSpc>
                  <a:spcPts val="2879"/>
                </a:lnSpc>
                <a:spcBef>
                  <a:spcPct val="0"/>
                </a:spcBef>
              </a:pPr>
              <a:r>
                <a:rPr lang="en-US" sz="2400" strike="noStrike" u="none">
                  <a:solidFill>
                    <a:srgbClr val="E9A65D"/>
                  </a:solidFill>
                  <a:latin typeface="可畫妞妞體-繁"/>
                  <a:ea typeface="可畫妞妞體-繁"/>
                  <a:cs typeface="可畫妞妞體-繁"/>
                  <a:sym typeface="可畫妞妞體-繁"/>
                </a:rPr>
                <a:t>將媒體素養引入教育系統</a:t>
              </a:r>
            </a:p>
          </p:txBody>
        </p:sp>
      </p:grpSp>
      <p:grpSp>
        <p:nvGrpSpPr>
          <p:cNvPr name="Group 11" id="11"/>
          <p:cNvGrpSpPr/>
          <p:nvPr/>
        </p:nvGrpSpPr>
        <p:grpSpPr>
          <a:xfrm rot="0">
            <a:off x="9467850" y="4637541"/>
            <a:ext cx="6229350" cy="1019645"/>
            <a:chOff x="0" y="0"/>
            <a:chExt cx="8305800" cy="1359526"/>
          </a:xfrm>
        </p:grpSpPr>
        <p:sp>
          <p:nvSpPr>
            <p:cNvPr name="Freeform 12" id="12"/>
            <p:cNvSpPr/>
            <p:nvPr/>
          </p:nvSpPr>
          <p:spPr>
            <a:xfrm flipH="false" flipV="false" rot="0">
              <a:off x="0" y="0"/>
              <a:ext cx="8305800" cy="1359535"/>
            </a:xfrm>
            <a:custGeom>
              <a:avLst/>
              <a:gdLst/>
              <a:ahLst/>
              <a:cxnLst/>
              <a:rect r="r" b="b" t="t" l="l"/>
              <a:pathLst>
                <a:path h="1359535" w="8305800">
                  <a:moveTo>
                    <a:pt x="0" y="0"/>
                  </a:moveTo>
                  <a:lnTo>
                    <a:pt x="8305800" y="0"/>
                  </a:lnTo>
                  <a:lnTo>
                    <a:pt x="8305800" y="1359535"/>
                  </a:lnTo>
                  <a:lnTo>
                    <a:pt x="0" y="1359535"/>
                  </a:lnTo>
                  <a:close/>
                </a:path>
              </a:pathLst>
            </a:custGeom>
            <a:solidFill>
              <a:srgbClr val="FFFFFF"/>
            </a:solidFill>
          </p:spPr>
        </p:sp>
        <p:sp>
          <p:nvSpPr>
            <p:cNvPr name="TextBox 13" id="13"/>
            <p:cNvSpPr txBox="true"/>
            <p:nvPr/>
          </p:nvSpPr>
          <p:spPr>
            <a:xfrm>
              <a:off x="0" y="-9525"/>
              <a:ext cx="8305800" cy="1369051"/>
            </a:xfrm>
            <a:prstGeom prst="rect">
              <a:avLst/>
            </a:prstGeom>
          </p:spPr>
          <p:txBody>
            <a:bodyPr anchor="ctr" rtlCol="false" tIns="50800" lIns="50800" bIns="50800" rIns="50800"/>
            <a:lstStyle/>
            <a:p>
              <a:pPr algn="ctr" marL="0" indent="0" lvl="0">
                <a:lnSpc>
                  <a:spcPts val="2879"/>
                </a:lnSpc>
                <a:spcBef>
                  <a:spcPct val="0"/>
                </a:spcBef>
              </a:pPr>
              <a:r>
                <a:rPr lang="en-US" sz="2400" strike="noStrike" u="none">
                  <a:solidFill>
                    <a:srgbClr val="E9A65D"/>
                  </a:solidFill>
                  <a:latin typeface="可畫妞妞體-繁"/>
                  <a:ea typeface="可畫妞妞體-繁"/>
                  <a:cs typeface="可畫妞妞體-繁"/>
                  <a:sym typeface="可畫妞妞體-繁"/>
                </a:rPr>
                <a:t>事實查核工具的普及</a:t>
              </a:r>
            </a:p>
          </p:txBody>
        </p:sp>
      </p:grpSp>
      <p:sp>
        <p:nvSpPr>
          <p:cNvPr name="TextBox 14" id="14"/>
          <p:cNvSpPr txBox="true"/>
          <p:nvPr/>
        </p:nvSpPr>
        <p:spPr>
          <a:xfrm rot="0">
            <a:off x="2590800" y="5938775"/>
            <a:ext cx="6172200" cy="6381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各國應將媒介素養課程納入教育體系，培養學生媒介素養。這使我們能夠從早期階段培養反擊虛假訊息的能力。</a:t>
            </a:r>
          </a:p>
        </p:txBody>
      </p:sp>
      <p:sp>
        <p:nvSpPr>
          <p:cNvPr name="TextBox 15" id="15"/>
          <p:cNvSpPr txBox="true"/>
          <p:nvPr/>
        </p:nvSpPr>
        <p:spPr>
          <a:xfrm rot="0">
            <a:off x="9458944" y="5941671"/>
            <a:ext cx="6236810" cy="6381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傳播事實查核工具也很重要。這將使一般老百姓獲得自行判斷資訊真偽、反擊虛假資訊的能力。</a:t>
            </a:r>
          </a:p>
        </p:txBody>
      </p:sp>
      <p:sp>
        <p:nvSpPr>
          <p:cNvPr name="Freeform 16" id="16"/>
          <p:cNvSpPr/>
          <p:nvPr/>
        </p:nvSpPr>
        <p:spPr>
          <a:xfrm flipH="false" flipV="false" rot="0">
            <a:off x="8652630" y="2772470"/>
            <a:ext cx="990501" cy="977244"/>
          </a:xfrm>
          <a:custGeom>
            <a:avLst/>
            <a:gdLst/>
            <a:ahLst/>
            <a:cxnLst/>
            <a:rect r="r" b="b" t="t" l="l"/>
            <a:pathLst>
              <a:path h="977244" w="990501">
                <a:moveTo>
                  <a:pt x="0" y="0"/>
                </a:moveTo>
                <a:lnTo>
                  <a:pt x="990501" y="0"/>
                </a:lnTo>
                <a:lnTo>
                  <a:pt x="990501" y="977244"/>
                </a:lnTo>
                <a:lnTo>
                  <a:pt x="0" y="977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679317" y="501705"/>
            <a:ext cx="12256770" cy="982980"/>
            <a:chOff x="0" y="0"/>
            <a:chExt cx="16342360" cy="1310640"/>
          </a:xfrm>
        </p:grpSpPr>
        <p:sp>
          <p:nvSpPr>
            <p:cNvPr name="Freeform 18" id="18"/>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9" id="19"/>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促進教育</a:t>
            </a:r>
          </a:p>
        </p:txBody>
      </p:sp>
      <p:sp>
        <p:nvSpPr>
          <p:cNvPr name="Freeform 20" id="20"/>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6300000">
            <a:off x="9392269" y="547098"/>
            <a:ext cx="9394095" cy="6640554"/>
            <a:chOff x="0" y="0"/>
            <a:chExt cx="12525460" cy="8854072"/>
          </a:xfrm>
        </p:grpSpPr>
        <p:sp>
          <p:nvSpPr>
            <p:cNvPr name="Freeform 5" id="5"/>
            <p:cNvSpPr/>
            <p:nvPr/>
          </p:nvSpPr>
          <p:spPr>
            <a:xfrm flipH="false" flipV="false" rot="0">
              <a:off x="0" y="0"/>
              <a:ext cx="12525502" cy="8854059"/>
            </a:xfrm>
            <a:custGeom>
              <a:avLst/>
              <a:gdLst/>
              <a:ahLst/>
              <a:cxnLst/>
              <a:rect r="r" b="b" t="t" l="l"/>
              <a:pathLst>
                <a:path h="8854059" w="12525502">
                  <a:moveTo>
                    <a:pt x="12525502" y="977392"/>
                  </a:moveTo>
                  <a:lnTo>
                    <a:pt x="12219813" y="2118233"/>
                  </a:lnTo>
                  <a:lnTo>
                    <a:pt x="12086336" y="2041525"/>
                  </a:lnTo>
                  <a:cubicBezTo>
                    <a:pt x="11036681" y="1471295"/>
                    <a:pt x="9833737" y="1147445"/>
                    <a:pt x="8555228" y="1147445"/>
                  </a:cubicBezTo>
                  <a:cubicBezTo>
                    <a:pt x="4463923" y="1147445"/>
                    <a:pt x="1147191" y="4464177"/>
                    <a:pt x="1147191" y="8555482"/>
                  </a:cubicBezTo>
                  <a:lnTo>
                    <a:pt x="1154684" y="8854059"/>
                  </a:lnTo>
                  <a:lnTo>
                    <a:pt x="0" y="8544687"/>
                  </a:lnTo>
                  <a:lnTo>
                    <a:pt x="10922" y="8115173"/>
                  </a:lnTo>
                  <a:cubicBezTo>
                    <a:pt x="240030" y="3594735"/>
                    <a:pt x="3977767" y="0"/>
                    <a:pt x="8555228" y="0"/>
                  </a:cubicBezTo>
                  <a:cubicBezTo>
                    <a:pt x="9884156" y="0"/>
                    <a:pt x="11142218" y="303022"/>
                    <a:pt x="12264390" y="843661"/>
                  </a:cubicBezTo>
                  <a:lnTo>
                    <a:pt x="12525502" y="977392"/>
                  </a:lnTo>
                  <a:close/>
                </a:path>
              </a:pathLst>
            </a:custGeom>
            <a:solidFill>
              <a:srgbClr val="E9A65D"/>
            </a:solidFill>
          </p:spPr>
        </p:sp>
      </p:grpSp>
      <p:sp>
        <p:nvSpPr>
          <p:cNvPr name="Freeform 6" id="6"/>
          <p:cNvSpPr/>
          <p:nvPr/>
        </p:nvSpPr>
        <p:spPr>
          <a:xfrm flipH="false" flipV="false" rot="0">
            <a:off x="8439017" y="6578985"/>
            <a:ext cx="8183591" cy="5634577"/>
          </a:xfrm>
          <a:custGeom>
            <a:avLst/>
            <a:gdLst/>
            <a:ahLst/>
            <a:cxnLst/>
            <a:rect r="r" b="b" t="t" l="l"/>
            <a:pathLst>
              <a:path h="5634577" w="8183591">
                <a:moveTo>
                  <a:pt x="0" y="0"/>
                </a:moveTo>
                <a:lnTo>
                  <a:pt x="8183591" y="0"/>
                </a:lnTo>
                <a:lnTo>
                  <a:pt x="8183591" y="5634576"/>
                </a:lnTo>
                <a:lnTo>
                  <a:pt x="0" y="5634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109380" y="8533884"/>
            <a:ext cx="5401537" cy="1753116"/>
          </a:xfrm>
          <a:custGeom>
            <a:avLst/>
            <a:gdLst/>
            <a:ahLst/>
            <a:cxnLst/>
            <a:rect r="r" b="b" t="t" l="l"/>
            <a:pathLst>
              <a:path h="1753116" w="5401537">
                <a:moveTo>
                  <a:pt x="0" y="0"/>
                </a:moveTo>
                <a:lnTo>
                  <a:pt x="5401538" y="0"/>
                </a:lnTo>
                <a:lnTo>
                  <a:pt x="5401538" y="1753116"/>
                </a:lnTo>
                <a:lnTo>
                  <a:pt x="0" y="1753116"/>
                </a:lnTo>
                <a:lnTo>
                  <a:pt x="0" y="0"/>
                </a:lnTo>
                <a:close/>
              </a:path>
            </a:pathLst>
          </a:custGeom>
          <a:blipFill>
            <a:blip r:embed="rId4"/>
            <a:stretch>
              <a:fillRect l="-88256" t="-222118" r="-29071" b="-53157"/>
            </a:stretch>
          </a:blipFill>
        </p:spPr>
      </p:sp>
      <p:sp>
        <p:nvSpPr>
          <p:cNvPr name="Freeform 8" id="8"/>
          <p:cNvSpPr/>
          <p:nvPr/>
        </p:nvSpPr>
        <p:spPr>
          <a:xfrm flipH="false" flipV="false" rot="0">
            <a:off x="11910574" y="4"/>
            <a:ext cx="6377429" cy="6194056"/>
          </a:xfrm>
          <a:custGeom>
            <a:avLst/>
            <a:gdLst/>
            <a:ahLst/>
            <a:cxnLst/>
            <a:rect r="r" b="b" t="t" l="l"/>
            <a:pathLst>
              <a:path h="6194056" w="6377429">
                <a:moveTo>
                  <a:pt x="0" y="0"/>
                </a:moveTo>
                <a:lnTo>
                  <a:pt x="6377429" y="0"/>
                </a:lnTo>
                <a:lnTo>
                  <a:pt x="6377429" y="6194057"/>
                </a:lnTo>
                <a:lnTo>
                  <a:pt x="0" y="6194057"/>
                </a:lnTo>
                <a:lnTo>
                  <a:pt x="0" y="0"/>
                </a:lnTo>
                <a:close/>
              </a:path>
            </a:pathLst>
          </a:custGeom>
          <a:blipFill>
            <a:blip r:embed="rId5"/>
            <a:stretch>
              <a:fillRect l="-69183" t="0" r="-48807" b="-25787"/>
            </a:stretch>
          </a:blipFill>
        </p:spPr>
      </p:sp>
      <p:sp>
        <p:nvSpPr>
          <p:cNvPr name="Freeform 9" id="9"/>
          <p:cNvSpPr/>
          <p:nvPr/>
        </p:nvSpPr>
        <p:spPr>
          <a:xfrm flipH="false" flipV="false" rot="0">
            <a:off x="990600" y="3106186"/>
            <a:ext cx="771095" cy="197119"/>
          </a:xfrm>
          <a:custGeom>
            <a:avLst/>
            <a:gdLst/>
            <a:ahLst/>
            <a:cxnLst/>
            <a:rect r="r" b="b" t="t" l="l"/>
            <a:pathLst>
              <a:path h="197119" w="771095">
                <a:moveTo>
                  <a:pt x="0" y="0"/>
                </a:moveTo>
                <a:lnTo>
                  <a:pt x="771095" y="0"/>
                </a:lnTo>
                <a:lnTo>
                  <a:pt x="771095" y="197120"/>
                </a:lnTo>
                <a:lnTo>
                  <a:pt x="0" y="1971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990595" y="3354936"/>
            <a:ext cx="8519164"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各國政府應制定法律框架來規範人工智慧技術的使用。這將防止利用人工智慧技術的虛假資訊的產生和傳播。</a:t>
            </a:r>
          </a:p>
        </p:txBody>
      </p:sp>
      <p:sp>
        <p:nvSpPr>
          <p:cNvPr name="Freeform 11" id="11"/>
          <p:cNvSpPr/>
          <p:nvPr/>
        </p:nvSpPr>
        <p:spPr>
          <a:xfrm flipH="false" flipV="false" rot="0">
            <a:off x="990600" y="6725272"/>
            <a:ext cx="771095" cy="197119"/>
          </a:xfrm>
          <a:custGeom>
            <a:avLst/>
            <a:gdLst/>
            <a:ahLst/>
            <a:cxnLst/>
            <a:rect r="r" b="b" t="t" l="l"/>
            <a:pathLst>
              <a:path h="197119" w="771095">
                <a:moveTo>
                  <a:pt x="0" y="0"/>
                </a:moveTo>
                <a:lnTo>
                  <a:pt x="771095" y="0"/>
                </a:lnTo>
                <a:lnTo>
                  <a:pt x="771095" y="197120"/>
                </a:lnTo>
                <a:lnTo>
                  <a:pt x="0" y="1971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990595" y="6149775"/>
            <a:ext cx="8519164"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加強社群媒體監控</a:t>
            </a:r>
          </a:p>
        </p:txBody>
      </p:sp>
      <p:sp>
        <p:nvSpPr>
          <p:cNvPr name="TextBox 13" id="13"/>
          <p:cNvSpPr txBox="true"/>
          <p:nvPr/>
        </p:nvSpPr>
        <p:spPr>
          <a:xfrm rot="0">
            <a:off x="990595" y="6974022"/>
            <a:ext cx="8519164"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404040"/>
                </a:solidFill>
                <a:latin typeface="可畫妞妞體-繁"/>
                <a:ea typeface="可畫妞妞體-繁"/>
                <a:cs typeface="可畫妞妞體-繁"/>
                <a:sym typeface="可畫妞妞體-繁"/>
              </a:rPr>
              <a:t>社群媒體平台也應受到監管，要求對錯誤訊息進行更嚴格的審查。這使得可以防止虛假訊息的傳播。</a:t>
            </a:r>
          </a:p>
        </p:txBody>
      </p:sp>
      <p:sp>
        <p:nvSpPr>
          <p:cNvPr name="TextBox 14" id="14"/>
          <p:cNvSpPr txBox="true"/>
          <p:nvPr/>
        </p:nvSpPr>
        <p:spPr>
          <a:xfrm rot="0">
            <a:off x="990595" y="2530689"/>
            <a:ext cx="8519164"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有關人工智慧技術使用的法律法規</a:t>
            </a:r>
          </a:p>
        </p:txBody>
      </p:sp>
      <p:grpSp>
        <p:nvGrpSpPr>
          <p:cNvPr name="Group 15" id="15"/>
          <p:cNvGrpSpPr/>
          <p:nvPr/>
        </p:nvGrpSpPr>
        <p:grpSpPr>
          <a:xfrm rot="0">
            <a:off x="679317" y="501705"/>
            <a:ext cx="12256770" cy="982980"/>
            <a:chOff x="0" y="0"/>
            <a:chExt cx="16342360" cy="1310640"/>
          </a:xfrm>
        </p:grpSpPr>
        <p:sp>
          <p:nvSpPr>
            <p:cNvPr name="Freeform 16" id="16"/>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7" id="17"/>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政策法規</a:t>
            </a:r>
          </a:p>
        </p:txBody>
      </p:sp>
      <p:sp>
        <p:nvSpPr>
          <p:cNvPr name="Freeform 18" id="18"/>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95798"/>
            <a:ext cx="10344081" cy="82867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可畫妞妞體-繁"/>
                <a:ea typeface="可畫妞妞體-繁"/>
                <a:cs typeface="可畫妞妞體-繁"/>
                <a:sym typeface="可畫妞妞體-繁"/>
              </a:rPr>
              <a:t>結論</a:t>
            </a:r>
          </a:p>
        </p:txBody>
      </p:sp>
      <p:sp>
        <p:nvSpPr>
          <p:cNvPr name="TextBox 13" id="13"/>
          <p:cNvSpPr txBox="true"/>
          <p:nvPr/>
        </p:nvSpPr>
        <p:spPr>
          <a:xfrm rot="0">
            <a:off x="6738512" y="1786197"/>
            <a:ext cx="4810978" cy="27527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可畫妞妞體-繁"/>
                <a:ea typeface="可畫妞妞體-繁"/>
                <a:cs typeface="可畫妞妞體-繁"/>
                <a:sym typeface="可畫妞妞體-繁"/>
              </a:rPr>
              <a:t>04</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990600" y="2686943"/>
            <a:ext cx="8143875" cy="216096"/>
            <a:chOff x="0" y="0"/>
            <a:chExt cx="10858500" cy="288128"/>
          </a:xfrm>
        </p:grpSpPr>
        <p:sp>
          <p:nvSpPr>
            <p:cNvPr name="Freeform 5" id="5"/>
            <p:cNvSpPr/>
            <p:nvPr/>
          </p:nvSpPr>
          <p:spPr>
            <a:xfrm flipH="false" flipV="false" rot="0">
              <a:off x="0" y="0"/>
              <a:ext cx="10858500" cy="288163"/>
            </a:xfrm>
            <a:custGeom>
              <a:avLst/>
              <a:gdLst/>
              <a:ahLst/>
              <a:cxnLst/>
              <a:rect r="r" b="b" t="t" l="l"/>
              <a:pathLst>
                <a:path h="288163" w="10858500">
                  <a:moveTo>
                    <a:pt x="0" y="0"/>
                  </a:moveTo>
                  <a:lnTo>
                    <a:pt x="10858500" y="0"/>
                  </a:lnTo>
                  <a:lnTo>
                    <a:pt x="10858500" y="288163"/>
                  </a:lnTo>
                  <a:lnTo>
                    <a:pt x="0" y="288163"/>
                  </a:lnTo>
                  <a:close/>
                </a:path>
              </a:pathLst>
            </a:custGeom>
            <a:solidFill>
              <a:srgbClr val="E9A65D"/>
            </a:solidFill>
          </p:spPr>
        </p:sp>
      </p:grpSp>
      <p:grpSp>
        <p:nvGrpSpPr>
          <p:cNvPr name="Group 6" id="6"/>
          <p:cNvGrpSpPr/>
          <p:nvPr/>
        </p:nvGrpSpPr>
        <p:grpSpPr>
          <a:xfrm rot="0">
            <a:off x="9134475" y="2686943"/>
            <a:ext cx="8143875" cy="216096"/>
            <a:chOff x="0" y="0"/>
            <a:chExt cx="10858500" cy="288128"/>
          </a:xfrm>
        </p:grpSpPr>
        <p:sp>
          <p:nvSpPr>
            <p:cNvPr name="Freeform 7" id="7"/>
            <p:cNvSpPr/>
            <p:nvPr/>
          </p:nvSpPr>
          <p:spPr>
            <a:xfrm flipH="false" flipV="false" rot="0">
              <a:off x="0" y="0"/>
              <a:ext cx="10858500" cy="288163"/>
            </a:xfrm>
            <a:custGeom>
              <a:avLst/>
              <a:gdLst/>
              <a:ahLst/>
              <a:cxnLst/>
              <a:rect r="r" b="b" t="t" l="l"/>
              <a:pathLst>
                <a:path h="288163" w="10858500">
                  <a:moveTo>
                    <a:pt x="0" y="0"/>
                  </a:moveTo>
                  <a:lnTo>
                    <a:pt x="10858500" y="0"/>
                  </a:lnTo>
                  <a:lnTo>
                    <a:pt x="10858500" y="288163"/>
                  </a:lnTo>
                  <a:lnTo>
                    <a:pt x="0" y="288163"/>
                  </a:lnTo>
                  <a:close/>
                </a:path>
              </a:pathLst>
            </a:custGeom>
            <a:solidFill>
              <a:srgbClr val="DE6258"/>
            </a:solidFill>
          </p:spPr>
        </p:sp>
      </p:grpSp>
      <p:sp>
        <p:nvSpPr>
          <p:cNvPr name="TextBox 8" id="8"/>
          <p:cNvSpPr txBox="true"/>
          <p:nvPr/>
        </p:nvSpPr>
        <p:spPr>
          <a:xfrm rot="0">
            <a:off x="990600" y="3921531"/>
            <a:ext cx="729000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假訊息的傳播及其對社會的影響</a:t>
            </a:r>
          </a:p>
        </p:txBody>
      </p:sp>
      <p:sp>
        <p:nvSpPr>
          <p:cNvPr name="TextBox 9" id="9"/>
          <p:cNvSpPr txBox="true"/>
          <p:nvPr/>
        </p:nvSpPr>
        <p:spPr>
          <a:xfrm rot="0">
            <a:off x="9134475" y="3921531"/>
            <a:ext cx="7290000"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辨別訊息真偽的能力的重要性</a:t>
            </a:r>
          </a:p>
        </p:txBody>
      </p:sp>
      <p:sp>
        <p:nvSpPr>
          <p:cNvPr name="TextBox 10" id="10"/>
          <p:cNvSpPr txBox="true"/>
          <p:nvPr/>
        </p:nvSpPr>
        <p:spPr>
          <a:xfrm rot="0">
            <a:off x="990600" y="4420133"/>
            <a:ext cx="729000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000000"/>
                </a:solidFill>
                <a:latin typeface="可畫妞妞體-繁"/>
                <a:ea typeface="可畫妞妞體-繁"/>
                <a:cs typeface="可畫妞妞體-繁"/>
                <a:sym typeface="可畫妞妞體-繁"/>
              </a:rPr>
              <a:t>隨著人工智慧技術的進步，虛假資訊的威脅不容忽視。假訊息可能對政治、社會、經濟和個人生活產生嚴重影響。</a:t>
            </a:r>
          </a:p>
        </p:txBody>
      </p:sp>
      <p:sp>
        <p:nvSpPr>
          <p:cNvPr name="TextBox 11" id="11"/>
          <p:cNvSpPr txBox="true"/>
          <p:nvPr/>
        </p:nvSpPr>
        <p:spPr>
          <a:xfrm rot="0">
            <a:off x="9134475" y="4420133"/>
            <a:ext cx="729000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000000"/>
                </a:solidFill>
                <a:latin typeface="可畫妞妞體-繁"/>
                <a:ea typeface="可畫妞妞體-繁"/>
                <a:cs typeface="可畫妞妞體-繁"/>
                <a:sym typeface="可畫妞妞體-繁"/>
              </a:rPr>
              <a:t>辨別資訊真偽的能力是個人抵禦虛假資訊的一道防線，也是維護社會穩定和民主制度的重要基礎。</a:t>
            </a:r>
          </a:p>
        </p:txBody>
      </p:sp>
      <p:grpSp>
        <p:nvGrpSpPr>
          <p:cNvPr name="Group 12" id="12"/>
          <p:cNvGrpSpPr/>
          <p:nvPr/>
        </p:nvGrpSpPr>
        <p:grpSpPr>
          <a:xfrm rot="0">
            <a:off x="679317" y="501705"/>
            <a:ext cx="12256770" cy="982980"/>
            <a:chOff x="0" y="0"/>
            <a:chExt cx="16342360" cy="1310640"/>
          </a:xfrm>
        </p:grpSpPr>
        <p:sp>
          <p:nvSpPr>
            <p:cNvPr name="Freeform 13" id="13"/>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14" id="14"/>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虛假資訊的威脅與社會意義</a:t>
            </a:r>
          </a:p>
        </p:txBody>
      </p:sp>
      <p:sp>
        <p:nvSpPr>
          <p:cNvPr name="Freeform 15" id="15"/>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1052306" y="7002567"/>
            <a:ext cx="16183389" cy="68578"/>
            <a:chOff x="0" y="0"/>
            <a:chExt cx="21577852" cy="91438"/>
          </a:xfrm>
        </p:grpSpPr>
        <p:sp>
          <p:nvSpPr>
            <p:cNvPr name="Freeform 5" id="5"/>
            <p:cNvSpPr/>
            <p:nvPr/>
          </p:nvSpPr>
          <p:spPr>
            <a:xfrm flipH="false" flipV="false" rot="0">
              <a:off x="0" y="0"/>
              <a:ext cx="21577807" cy="91440"/>
            </a:xfrm>
            <a:custGeom>
              <a:avLst/>
              <a:gdLst/>
              <a:ahLst/>
              <a:cxnLst/>
              <a:rect r="r" b="b" t="t" l="l"/>
              <a:pathLst>
                <a:path h="91440" w="21577807">
                  <a:moveTo>
                    <a:pt x="0" y="45720"/>
                  </a:moveTo>
                  <a:cubicBezTo>
                    <a:pt x="0" y="70993"/>
                    <a:pt x="20447" y="91440"/>
                    <a:pt x="45720" y="91440"/>
                  </a:cubicBezTo>
                  <a:lnTo>
                    <a:pt x="21532087" y="91440"/>
                  </a:lnTo>
                  <a:cubicBezTo>
                    <a:pt x="21557360" y="91440"/>
                    <a:pt x="21577807" y="70993"/>
                    <a:pt x="21577807" y="45720"/>
                  </a:cubicBezTo>
                  <a:cubicBezTo>
                    <a:pt x="21577807" y="20447"/>
                    <a:pt x="21557360" y="0"/>
                    <a:pt x="21532087" y="0"/>
                  </a:cubicBezTo>
                  <a:lnTo>
                    <a:pt x="45720" y="0"/>
                  </a:lnTo>
                  <a:cubicBezTo>
                    <a:pt x="20447" y="0"/>
                    <a:pt x="0" y="20447"/>
                    <a:pt x="0" y="45720"/>
                  </a:cubicBezTo>
                  <a:close/>
                </a:path>
              </a:pathLst>
            </a:custGeom>
            <a:solidFill>
              <a:srgbClr val="B1D0DA"/>
            </a:solidFill>
          </p:spPr>
        </p:sp>
      </p:grpSp>
      <p:grpSp>
        <p:nvGrpSpPr>
          <p:cNvPr name="Group 6" id="6"/>
          <p:cNvGrpSpPr/>
          <p:nvPr/>
        </p:nvGrpSpPr>
        <p:grpSpPr>
          <a:xfrm rot="-10800000">
            <a:off x="2513967" y="3061874"/>
            <a:ext cx="386034" cy="383384"/>
            <a:chOff x="0" y="0"/>
            <a:chExt cx="514712" cy="511178"/>
          </a:xfrm>
        </p:grpSpPr>
        <p:sp>
          <p:nvSpPr>
            <p:cNvPr name="Freeform 7" id="7"/>
            <p:cNvSpPr/>
            <p:nvPr/>
          </p:nvSpPr>
          <p:spPr>
            <a:xfrm flipH="false" flipV="false" rot="0">
              <a:off x="0" y="0"/>
              <a:ext cx="514731" cy="511175"/>
            </a:xfrm>
            <a:custGeom>
              <a:avLst/>
              <a:gdLst/>
              <a:ahLst/>
              <a:cxnLst/>
              <a:rect r="r" b="b" t="t" l="l"/>
              <a:pathLst>
                <a:path h="511175" w="514731">
                  <a:moveTo>
                    <a:pt x="0" y="511175"/>
                  </a:moveTo>
                  <a:lnTo>
                    <a:pt x="0" y="0"/>
                  </a:lnTo>
                  <a:lnTo>
                    <a:pt x="514731" y="511175"/>
                  </a:lnTo>
                  <a:close/>
                </a:path>
              </a:pathLst>
            </a:custGeom>
            <a:solidFill>
              <a:srgbClr val="D77E1D"/>
            </a:solidFill>
          </p:spPr>
        </p:sp>
      </p:grpSp>
      <p:grpSp>
        <p:nvGrpSpPr>
          <p:cNvPr name="Group 8" id="8"/>
          <p:cNvGrpSpPr/>
          <p:nvPr/>
        </p:nvGrpSpPr>
        <p:grpSpPr>
          <a:xfrm rot="5400000">
            <a:off x="2527933" y="2448066"/>
            <a:ext cx="4411985" cy="3996417"/>
            <a:chOff x="0" y="0"/>
            <a:chExt cx="5882646" cy="5328556"/>
          </a:xfrm>
        </p:grpSpPr>
        <p:sp>
          <p:nvSpPr>
            <p:cNvPr name="Freeform 9" id="9"/>
            <p:cNvSpPr/>
            <p:nvPr/>
          </p:nvSpPr>
          <p:spPr>
            <a:xfrm flipH="false" flipV="false" rot="0">
              <a:off x="0" y="0"/>
              <a:ext cx="5882640" cy="5328539"/>
            </a:xfrm>
            <a:custGeom>
              <a:avLst/>
              <a:gdLst/>
              <a:ahLst/>
              <a:cxnLst/>
              <a:rect r="r" b="b" t="t" l="l"/>
              <a:pathLst>
                <a:path h="5328539" w="5882640">
                  <a:moveTo>
                    <a:pt x="888111" y="0"/>
                  </a:moveTo>
                  <a:lnTo>
                    <a:pt x="5882640" y="0"/>
                  </a:lnTo>
                  <a:lnTo>
                    <a:pt x="5882640" y="4440428"/>
                  </a:lnTo>
                  <a:cubicBezTo>
                    <a:pt x="5882640" y="4930902"/>
                    <a:pt x="5485003" y="5328539"/>
                    <a:pt x="4994529" y="5328539"/>
                  </a:cubicBezTo>
                  <a:lnTo>
                    <a:pt x="0" y="5328539"/>
                  </a:lnTo>
                  <a:lnTo>
                    <a:pt x="0" y="888111"/>
                  </a:lnTo>
                  <a:cubicBezTo>
                    <a:pt x="0" y="397637"/>
                    <a:pt x="397637" y="0"/>
                    <a:pt x="888111" y="0"/>
                  </a:cubicBezTo>
                  <a:close/>
                </a:path>
              </a:pathLst>
            </a:custGeom>
            <a:solidFill>
              <a:srgbClr val="FBEDDF"/>
            </a:solidFill>
          </p:spPr>
        </p:sp>
      </p:grpSp>
      <p:grpSp>
        <p:nvGrpSpPr>
          <p:cNvPr name="Group 10" id="10"/>
          <p:cNvGrpSpPr/>
          <p:nvPr/>
        </p:nvGrpSpPr>
        <p:grpSpPr>
          <a:xfrm rot="0">
            <a:off x="4614657" y="6917589"/>
            <a:ext cx="238536" cy="238536"/>
            <a:chOff x="0" y="0"/>
            <a:chExt cx="318048" cy="318048"/>
          </a:xfrm>
        </p:grpSpPr>
        <p:sp>
          <p:nvSpPr>
            <p:cNvPr name="Freeform 11" id="11"/>
            <p:cNvSpPr/>
            <p:nvPr/>
          </p:nvSpPr>
          <p:spPr>
            <a:xfrm flipH="false" flipV="false" rot="0">
              <a:off x="0" y="0"/>
              <a:ext cx="318008" cy="318008"/>
            </a:xfrm>
            <a:custGeom>
              <a:avLst/>
              <a:gdLst/>
              <a:ahLst/>
              <a:cxnLst/>
              <a:rect r="r" b="b" t="t" l="l"/>
              <a:pathLst>
                <a:path h="318008" w="318008">
                  <a:moveTo>
                    <a:pt x="318008" y="159004"/>
                  </a:moveTo>
                  <a:cubicBezTo>
                    <a:pt x="318008" y="71247"/>
                    <a:pt x="246888" y="0"/>
                    <a:pt x="159004" y="0"/>
                  </a:cubicBezTo>
                  <a:cubicBezTo>
                    <a:pt x="71120" y="0"/>
                    <a:pt x="0" y="71247"/>
                    <a:pt x="0" y="159004"/>
                  </a:cubicBezTo>
                  <a:cubicBezTo>
                    <a:pt x="0" y="246761"/>
                    <a:pt x="71247" y="318008"/>
                    <a:pt x="159004" y="318008"/>
                  </a:cubicBezTo>
                  <a:cubicBezTo>
                    <a:pt x="246761" y="318008"/>
                    <a:pt x="318008" y="246761"/>
                    <a:pt x="318008" y="159004"/>
                  </a:cubicBezTo>
                  <a:close/>
                </a:path>
              </a:pathLst>
            </a:custGeom>
            <a:solidFill>
              <a:srgbClr val="7DB0C1"/>
            </a:solidFill>
          </p:spPr>
        </p:sp>
      </p:grpSp>
      <p:grpSp>
        <p:nvGrpSpPr>
          <p:cNvPr name="Group 12" id="12"/>
          <p:cNvGrpSpPr/>
          <p:nvPr/>
        </p:nvGrpSpPr>
        <p:grpSpPr>
          <a:xfrm rot="5400000">
            <a:off x="2791053" y="2134366"/>
            <a:ext cx="669471" cy="1223642"/>
            <a:chOff x="0" y="0"/>
            <a:chExt cx="892628" cy="1631522"/>
          </a:xfrm>
        </p:grpSpPr>
        <p:sp>
          <p:nvSpPr>
            <p:cNvPr name="Freeform 13" id="13"/>
            <p:cNvSpPr/>
            <p:nvPr/>
          </p:nvSpPr>
          <p:spPr>
            <a:xfrm flipH="false" flipV="false" rot="0">
              <a:off x="0" y="0"/>
              <a:ext cx="892683" cy="1631442"/>
            </a:xfrm>
            <a:custGeom>
              <a:avLst/>
              <a:gdLst/>
              <a:ahLst/>
              <a:cxnLst/>
              <a:rect r="r" b="b" t="t" l="l"/>
              <a:pathLst>
                <a:path h="1631442" w="892683">
                  <a:moveTo>
                    <a:pt x="446278" y="0"/>
                  </a:moveTo>
                  <a:cubicBezTo>
                    <a:pt x="692785" y="0"/>
                    <a:pt x="892683" y="199771"/>
                    <a:pt x="892683" y="446278"/>
                  </a:cubicBezTo>
                  <a:lnTo>
                    <a:pt x="892683" y="1631442"/>
                  </a:lnTo>
                  <a:lnTo>
                    <a:pt x="0" y="1631442"/>
                  </a:lnTo>
                  <a:lnTo>
                    <a:pt x="0" y="446278"/>
                  </a:lnTo>
                  <a:cubicBezTo>
                    <a:pt x="0" y="199771"/>
                    <a:pt x="199771" y="0"/>
                    <a:pt x="446278" y="0"/>
                  </a:cubicBezTo>
                  <a:close/>
                </a:path>
              </a:pathLst>
            </a:custGeom>
            <a:gradFill rotWithShape="true">
              <a:gsLst>
                <a:gs pos="0">
                  <a:srgbClr val="E9A65D">
                    <a:alpha val="100000"/>
                  </a:srgbClr>
                </a:gs>
                <a:gs pos="100000">
                  <a:srgbClr val="F2CA9E">
                    <a:alpha val="100000"/>
                  </a:srgbClr>
                </a:gs>
              </a:gsLst>
              <a:lin ang="2700000"/>
            </a:gradFill>
          </p:spPr>
        </p:sp>
      </p:grpSp>
      <p:sp>
        <p:nvSpPr>
          <p:cNvPr name="TextBox 14" id="14"/>
          <p:cNvSpPr txBox="true"/>
          <p:nvPr/>
        </p:nvSpPr>
        <p:spPr>
          <a:xfrm rot="0">
            <a:off x="2749058" y="2508061"/>
            <a:ext cx="762000" cy="552450"/>
          </a:xfrm>
          <a:prstGeom prst="rect">
            <a:avLst/>
          </a:prstGeom>
        </p:spPr>
        <p:txBody>
          <a:bodyPr anchor="t" rtlCol="false" tIns="0" lIns="0" bIns="0" rIns="0">
            <a:spAutoFit/>
          </a:bodyPr>
          <a:lstStyle/>
          <a:p>
            <a:pPr algn="ctr" marL="0" indent="0" lvl="0">
              <a:lnSpc>
                <a:spcPts val="4320"/>
              </a:lnSpc>
              <a:spcBef>
                <a:spcPct val="0"/>
              </a:spcBef>
            </a:pPr>
            <a:r>
              <a:rPr lang="en-US" sz="3600" strike="noStrike" u="none">
                <a:solidFill>
                  <a:srgbClr val="FFFFFF"/>
                </a:solidFill>
                <a:latin typeface="可畫妞妞體-繁"/>
                <a:ea typeface="可畫妞妞體-繁"/>
                <a:cs typeface="可畫妞妞體-繁"/>
                <a:sym typeface="可畫妞妞體-繁"/>
              </a:rPr>
              <a:t>01</a:t>
            </a:r>
          </a:p>
        </p:txBody>
      </p:sp>
      <p:sp>
        <p:nvSpPr>
          <p:cNvPr name="TextBox 15" id="15"/>
          <p:cNvSpPr txBox="true"/>
          <p:nvPr/>
        </p:nvSpPr>
        <p:spPr>
          <a:xfrm rot="0">
            <a:off x="5959578" y="6143353"/>
            <a:ext cx="590550" cy="733425"/>
          </a:xfrm>
          <a:prstGeom prst="rect">
            <a:avLst/>
          </a:prstGeom>
        </p:spPr>
        <p:txBody>
          <a:bodyPr anchor="t" rtlCol="false" tIns="0" lIns="0" bIns="0" rIns="0">
            <a:spAutoFit/>
          </a:bodyPr>
          <a:lstStyle/>
          <a:p>
            <a:pPr algn="r" marL="0" indent="0" lvl="0">
              <a:lnSpc>
                <a:spcPts val="5759"/>
              </a:lnSpc>
              <a:spcBef>
                <a:spcPct val="0"/>
              </a:spcBef>
            </a:pPr>
            <a:r>
              <a:rPr lang="en-US" sz="4800" strike="noStrike" u="none">
                <a:solidFill>
                  <a:srgbClr val="E9A65D"/>
                </a:solidFill>
                <a:latin typeface="可畫妞妞體-繁"/>
                <a:ea typeface="可畫妞妞體-繁"/>
                <a:cs typeface="可畫妞妞體-繁"/>
                <a:sym typeface="可畫妞妞體-繁"/>
              </a:rPr>
              <a:t>」</a:t>
            </a:r>
          </a:p>
        </p:txBody>
      </p:sp>
      <p:sp>
        <p:nvSpPr>
          <p:cNvPr name="Freeform 16" id="16"/>
          <p:cNvSpPr/>
          <p:nvPr/>
        </p:nvSpPr>
        <p:spPr>
          <a:xfrm flipH="false" flipV="false" rot="0">
            <a:off x="2891556" y="3272614"/>
            <a:ext cx="3684738" cy="2678629"/>
          </a:xfrm>
          <a:custGeom>
            <a:avLst/>
            <a:gdLst/>
            <a:ahLst/>
            <a:cxnLst/>
            <a:rect r="r" b="b" t="t" l="l"/>
            <a:pathLst>
              <a:path h="2678629" w="3684738">
                <a:moveTo>
                  <a:pt x="0" y="0"/>
                </a:moveTo>
                <a:lnTo>
                  <a:pt x="3684738" y="0"/>
                </a:lnTo>
                <a:lnTo>
                  <a:pt x="3684738" y="2678630"/>
                </a:lnTo>
                <a:lnTo>
                  <a:pt x="0" y="2678630"/>
                </a:lnTo>
                <a:lnTo>
                  <a:pt x="0" y="0"/>
                </a:lnTo>
                <a:close/>
              </a:path>
            </a:pathLst>
          </a:custGeom>
          <a:blipFill>
            <a:blip r:embed="rId2"/>
            <a:stretch>
              <a:fillRect l="-5281" t="0" r="-24429" b="0"/>
            </a:stretch>
          </a:blipFill>
        </p:spPr>
      </p:sp>
      <p:sp>
        <p:nvSpPr>
          <p:cNvPr name="TextBox 17" id="17"/>
          <p:cNvSpPr txBox="true"/>
          <p:nvPr/>
        </p:nvSpPr>
        <p:spPr>
          <a:xfrm rot="0">
            <a:off x="990600" y="7966389"/>
            <a:ext cx="7486650" cy="6381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有效防止錯誤訊息的傳播需要採取技術、教育和政策等多方面的方法。這使得維持整個資訊生態系統的健康成為可能。</a:t>
            </a:r>
          </a:p>
        </p:txBody>
      </p:sp>
      <p:sp>
        <p:nvSpPr>
          <p:cNvPr name="TextBox 18" id="18"/>
          <p:cNvSpPr txBox="true"/>
          <p:nvPr/>
        </p:nvSpPr>
        <p:spPr>
          <a:xfrm rot="0">
            <a:off x="990600" y="7549246"/>
            <a:ext cx="748665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需要採取多方面的方法</a:t>
            </a:r>
          </a:p>
        </p:txBody>
      </p:sp>
      <p:grpSp>
        <p:nvGrpSpPr>
          <p:cNvPr name="Group 19" id="19"/>
          <p:cNvGrpSpPr/>
          <p:nvPr/>
        </p:nvGrpSpPr>
        <p:grpSpPr>
          <a:xfrm rot="-10800000">
            <a:off x="11315067" y="3061875"/>
            <a:ext cx="386034" cy="383384"/>
            <a:chOff x="0" y="0"/>
            <a:chExt cx="514712" cy="511178"/>
          </a:xfrm>
        </p:grpSpPr>
        <p:sp>
          <p:nvSpPr>
            <p:cNvPr name="Freeform 20" id="20"/>
            <p:cNvSpPr/>
            <p:nvPr/>
          </p:nvSpPr>
          <p:spPr>
            <a:xfrm flipH="false" flipV="false" rot="0">
              <a:off x="0" y="0"/>
              <a:ext cx="514731" cy="511175"/>
            </a:xfrm>
            <a:custGeom>
              <a:avLst/>
              <a:gdLst/>
              <a:ahLst/>
              <a:cxnLst/>
              <a:rect r="r" b="b" t="t" l="l"/>
              <a:pathLst>
                <a:path h="511175" w="514731">
                  <a:moveTo>
                    <a:pt x="0" y="511175"/>
                  </a:moveTo>
                  <a:lnTo>
                    <a:pt x="0" y="0"/>
                  </a:lnTo>
                  <a:lnTo>
                    <a:pt x="514731" y="511175"/>
                  </a:lnTo>
                  <a:close/>
                </a:path>
              </a:pathLst>
            </a:custGeom>
            <a:solidFill>
              <a:srgbClr val="D77E1D"/>
            </a:solidFill>
          </p:spPr>
        </p:sp>
      </p:grpSp>
      <p:grpSp>
        <p:nvGrpSpPr>
          <p:cNvPr name="Group 21" id="21"/>
          <p:cNvGrpSpPr/>
          <p:nvPr/>
        </p:nvGrpSpPr>
        <p:grpSpPr>
          <a:xfrm rot="5400000">
            <a:off x="11329034" y="2448067"/>
            <a:ext cx="4411984" cy="3996417"/>
            <a:chOff x="0" y="0"/>
            <a:chExt cx="5882646" cy="5328556"/>
          </a:xfrm>
        </p:grpSpPr>
        <p:sp>
          <p:nvSpPr>
            <p:cNvPr name="Freeform 22" id="22"/>
            <p:cNvSpPr/>
            <p:nvPr/>
          </p:nvSpPr>
          <p:spPr>
            <a:xfrm flipH="false" flipV="false" rot="0">
              <a:off x="0" y="0"/>
              <a:ext cx="5882640" cy="5328539"/>
            </a:xfrm>
            <a:custGeom>
              <a:avLst/>
              <a:gdLst/>
              <a:ahLst/>
              <a:cxnLst/>
              <a:rect r="r" b="b" t="t" l="l"/>
              <a:pathLst>
                <a:path h="5328539" w="5882640">
                  <a:moveTo>
                    <a:pt x="888111" y="0"/>
                  </a:moveTo>
                  <a:lnTo>
                    <a:pt x="5882640" y="0"/>
                  </a:lnTo>
                  <a:lnTo>
                    <a:pt x="5882640" y="4440428"/>
                  </a:lnTo>
                  <a:cubicBezTo>
                    <a:pt x="5882640" y="4930902"/>
                    <a:pt x="5485003" y="5328539"/>
                    <a:pt x="4994529" y="5328539"/>
                  </a:cubicBezTo>
                  <a:lnTo>
                    <a:pt x="0" y="5328539"/>
                  </a:lnTo>
                  <a:lnTo>
                    <a:pt x="0" y="888111"/>
                  </a:lnTo>
                  <a:cubicBezTo>
                    <a:pt x="0" y="397637"/>
                    <a:pt x="397637" y="0"/>
                    <a:pt x="888111" y="0"/>
                  </a:cubicBezTo>
                  <a:close/>
                </a:path>
              </a:pathLst>
            </a:custGeom>
            <a:solidFill>
              <a:srgbClr val="FBEDDF"/>
            </a:solidFill>
          </p:spPr>
        </p:sp>
      </p:grpSp>
      <p:grpSp>
        <p:nvGrpSpPr>
          <p:cNvPr name="Group 23" id="23"/>
          <p:cNvGrpSpPr/>
          <p:nvPr/>
        </p:nvGrpSpPr>
        <p:grpSpPr>
          <a:xfrm rot="0">
            <a:off x="13415758" y="6917591"/>
            <a:ext cx="238536" cy="238536"/>
            <a:chOff x="0" y="0"/>
            <a:chExt cx="318048" cy="318048"/>
          </a:xfrm>
        </p:grpSpPr>
        <p:sp>
          <p:nvSpPr>
            <p:cNvPr name="Freeform 24" id="24"/>
            <p:cNvSpPr/>
            <p:nvPr/>
          </p:nvSpPr>
          <p:spPr>
            <a:xfrm flipH="false" flipV="false" rot="0">
              <a:off x="0" y="0"/>
              <a:ext cx="318008" cy="318008"/>
            </a:xfrm>
            <a:custGeom>
              <a:avLst/>
              <a:gdLst/>
              <a:ahLst/>
              <a:cxnLst/>
              <a:rect r="r" b="b" t="t" l="l"/>
              <a:pathLst>
                <a:path h="318008" w="318008">
                  <a:moveTo>
                    <a:pt x="318008" y="159004"/>
                  </a:moveTo>
                  <a:cubicBezTo>
                    <a:pt x="318008" y="71247"/>
                    <a:pt x="246888" y="0"/>
                    <a:pt x="159004" y="0"/>
                  </a:cubicBezTo>
                  <a:cubicBezTo>
                    <a:pt x="71120" y="0"/>
                    <a:pt x="0" y="71247"/>
                    <a:pt x="0" y="159004"/>
                  </a:cubicBezTo>
                  <a:cubicBezTo>
                    <a:pt x="0" y="246761"/>
                    <a:pt x="71247" y="318008"/>
                    <a:pt x="159004" y="318008"/>
                  </a:cubicBezTo>
                  <a:cubicBezTo>
                    <a:pt x="246761" y="318008"/>
                    <a:pt x="318008" y="246761"/>
                    <a:pt x="318008" y="159004"/>
                  </a:cubicBezTo>
                  <a:close/>
                </a:path>
              </a:pathLst>
            </a:custGeom>
            <a:solidFill>
              <a:srgbClr val="7DB0C1"/>
            </a:solidFill>
          </p:spPr>
        </p:sp>
      </p:grpSp>
      <p:grpSp>
        <p:nvGrpSpPr>
          <p:cNvPr name="Group 25" id="25"/>
          <p:cNvGrpSpPr/>
          <p:nvPr/>
        </p:nvGrpSpPr>
        <p:grpSpPr>
          <a:xfrm rot="5400000">
            <a:off x="11592153" y="2134368"/>
            <a:ext cx="669471" cy="1223642"/>
            <a:chOff x="0" y="0"/>
            <a:chExt cx="892628" cy="1631522"/>
          </a:xfrm>
        </p:grpSpPr>
        <p:sp>
          <p:nvSpPr>
            <p:cNvPr name="Freeform 26" id="26"/>
            <p:cNvSpPr/>
            <p:nvPr/>
          </p:nvSpPr>
          <p:spPr>
            <a:xfrm flipH="false" flipV="false" rot="0">
              <a:off x="0" y="0"/>
              <a:ext cx="892683" cy="1631442"/>
            </a:xfrm>
            <a:custGeom>
              <a:avLst/>
              <a:gdLst/>
              <a:ahLst/>
              <a:cxnLst/>
              <a:rect r="r" b="b" t="t" l="l"/>
              <a:pathLst>
                <a:path h="1631442" w="892683">
                  <a:moveTo>
                    <a:pt x="446278" y="0"/>
                  </a:moveTo>
                  <a:cubicBezTo>
                    <a:pt x="692785" y="0"/>
                    <a:pt x="892683" y="199771"/>
                    <a:pt x="892683" y="446278"/>
                  </a:cubicBezTo>
                  <a:lnTo>
                    <a:pt x="892683" y="1631442"/>
                  </a:lnTo>
                  <a:lnTo>
                    <a:pt x="0" y="1631442"/>
                  </a:lnTo>
                  <a:lnTo>
                    <a:pt x="0" y="446278"/>
                  </a:lnTo>
                  <a:cubicBezTo>
                    <a:pt x="0" y="199771"/>
                    <a:pt x="199771" y="0"/>
                    <a:pt x="446278" y="0"/>
                  </a:cubicBezTo>
                  <a:close/>
                </a:path>
              </a:pathLst>
            </a:custGeom>
            <a:gradFill rotWithShape="true">
              <a:gsLst>
                <a:gs pos="0">
                  <a:srgbClr val="E9A65D">
                    <a:alpha val="100000"/>
                  </a:srgbClr>
                </a:gs>
                <a:gs pos="100000">
                  <a:srgbClr val="F2CA9E">
                    <a:alpha val="100000"/>
                  </a:srgbClr>
                </a:gs>
              </a:gsLst>
              <a:lin ang="2700000"/>
            </a:gradFill>
          </p:spPr>
        </p:sp>
      </p:grpSp>
      <p:sp>
        <p:nvSpPr>
          <p:cNvPr name="TextBox 27" id="27"/>
          <p:cNvSpPr txBox="true"/>
          <p:nvPr/>
        </p:nvSpPr>
        <p:spPr>
          <a:xfrm rot="0">
            <a:off x="11550158" y="2508061"/>
            <a:ext cx="762000" cy="552450"/>
          </a:xfrm>
          <a:prstGeom prst="rect">
            <a:avLst/>
          </a:prstGeom>
        </p:spPr>
        <p:txBody>
          <a:bodyPr anchor="t" rtlCol="false" tIns="0" lIns="0" bIns="0" rIns="0">
            <a:spAutoFit/>
          </a:bodyPr>
          <a:lstStyle/>
          <a:p>
            <a:pPr algn="ctr" marL="0" indent="0" lvl="0">
              <a:lnSpc>
                <a:spcPts val="4320"/>
              </a:lnSpc>
              <a:spcBef>
                <a:spcPct val="0"/>
              </a:spcBef>
            </a:pPr>
            <a:r>
              <a:rPr lang="en-US" sz="3600" strike="noStrike" u="none">
                <a:solidFill>
                  <a:srgbClr val="FFFFFF"/>
                </a:solidFill>
                <a:latin typeface="可畫妞妞體-繁"/>
                <a:ea typeface="可畫妞妞體-繁"/>
                <a:cs typeface="可畫妞妞體-繁"/>
                <a:sym typeface="可畫妞妞體-繁"/>
              </a:rPr>
              <a:t>02</a:t>
            </a:r>
          </a:p>
        </p:txBody>
      </p:sp>
      <p:sp>
        <p:nvSpPr>
          <p:cNvPr name="TextBox 28" id="28"/>
          <p:cNvSpPr txBox="true"/>
          <p:nvPr/>
        </p:nvSpPr>
        <p:spPr>
          <a:xfrm rot="0">
            <a:off x="14760678" y="6143355"/>
            <a:ext cx="590550" cy="733425"/>
          </a:xfrm>
          <a:prstGeom prst="rect">
            <a:avLst/>
          </a:prstGeom>
        </p:spPr>
        <p:txBody>
          <a:bodyPr anchor="t" rtlCol="false" tIns="0" lIns="0" bIns="0" rIns="0">
            <a:spAutoFit/>
          </a:bodyPr>
          <a:lstStyle/>
          <a:p>
            <a:pPr algn="r" marL="0" indent="0" lvl="0">
              <a:lnSpc>
                <a:spcPts val="5759"/>
              </a:lnSpc>
              <a:spcBef>
                <a:spcPct val="0"/>
              </a:spcBef>
            </a:pPr>
            <a:r>
              <a:rPr lang="en-US" sz="4800" strike="noStrike" u="none">
                <a:solidFill>
                  <a:srgbClr val="E9A65D"/>
                </a:solidFill>
                <a:latin typeface="可畫妞妞體-繁"/>
                <a:ea typeface="可畫妞妞體-繁"/>
                <a:cs typeface="可畫妞妞體-繁"/>
                <a:sym typeface="可畫妞妞體-繁"/>
              </a:rPr>
              <a:t>」</a:t>
            </a:r>
          </a:p>
        </p:txBody>
      </p:sp>
      <p:sp>
        <p:nvSpPr>
          <p:cNvPr name="Freeform 29" id="29"/>
          <p:cNvSpPr/>
          <p:nvPr/>
        </p:nvSpPr>
        <p:spPr>
          <a:xfrm flipH="false" flipV="false" rot="0">
            <a:off x="11692656" y="3272616"/>
            <a:ext cx="3684738" cy="2678629"/>
          </a:xfrm>
          <a:custGeom>
            <a:avLst/>
            <a:gdLst/>
            <a:ahLst/>
            <a:cxnLst/>
            <a:rect r="r" b="b" t="t" l="l"/>
            <a:pathLst>
              <a:path h="2678629" w="3684738">
                <a:moveTo>
                  <a:pt x="0" y="0"/>
                </a:moveTo>
                <a:lnTo>
                  <a:pt x="3684738" y="0"/>
                </a:lnTo>
                <a:lnTo>
                  <a:pt x="3684738" y="2678630"/>
                </a:lnTo>
                <a:lnTo>
                  <a:pt x="0" y="2678630"/>
                </a:lnTo>
                <a:lnTo>
                  <a:pt x="0" y="0"/>
                </a:lnTo>
                <a:close/>
              </a:path>
            </a:pathLst>
          </a:custGeom>
          <a:blipFill>
            <a:blip r:embed="rId3"/>
            <a:stretch>
              <a:fillRect l="-5281" t="0" r="-24429" b="0"/>
            </a:stretch>
          </a:blipFill>
        </p:spPr>
      </p:sp>
      <p:sp>
        <p:nvSpPr>
          <p:cNvPr name="TextBox 30" id="30"/>
          <p:cNvSpPr txBox="true"/>
          <p:nvPr/>
        </p:nvSpPr>
        <p:spPr>
          <a:xfrm rot="0">
            <a:off x="9791700" y="7966391"/>
            <a:ext cx="7486650" cy="6381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262626"/>
                </a:solidFill>
                <a:latin typeface="可畫妞妞體-繁"/>
                <a:ea typeface="可畫妞妞體-繁"/>
                <a:cs typeface="可畫妞妞體-繁"/>
                <a:sym typeface="可畫妞妞體-繁"/>
              </a:rPr>
              <a:t>為了建立可持續發展的資訊社會，同時跟上技術的發展，所有社會系統需要合作並採取綜合措施打擊虛假資訊。</a:t>
            </a:r>
          </a:p>
        </p:txBody>
      </p:sp>
      <p:sp>
        <p:nvSpPr>
          <p:cNvPr name="TextBox 31" id="31"/>
          <p:cNvSpPr txBox="true"/>
          <p:nvPr/>
        </p:nvSpPr>
        <p:spPr>
          <a:xfrm rot="0">
            <a:off x="9791700" y="7549248"/>
            <a:ext cx="7486650" cy="3714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可畫妞妞體-繁"/>
                <a:ea typeface="可畫妞妞體-繁"/>
                <a:cs typeface="可畫妞妞體-繁"/>
                <a:sym typeface="可畫妞妞體-繁"/>
              </a:rPr>
              <a:t>建構永續發展的資訊社會</a:t>
            </a:r>
          </a:p>
        </p:txBody>
      </p:sp>
      <p:grpSp>
        <p:nvGrpSpPr>
          <p:cNvPr name="Group 32" id="32"/>
          <p:cNvGrpSpPr/>
          <p:nvPr/>
        </p:nvGrpSpPr>
        <p:grpSpPr>
          <a:xfrm rot="0">
            <a:off x="679317" y="501705"/>
            <a:ext cx="12256770" cy="982980"/>
            <a:chOff x="0" y="0"/>
            <a:chExt cx="16342360" cy="1310640"/>
          </a:xfrm>
        </p:grpSpPr>
        <p:sp>
          <p:nvSpPr>
            <p:cNvPr name="Freeform 33" id="33"/>
            <p:cNvSpPr/>
            <p:nvPr/>
          </p:nvSpPr>
          <p:spPr>
            <a:xfrm flipH="false" flipV="false" rot="0">
              <a:off x="0" y="0"/>
              <a:ext cx="16342359" cy="1310640"/>
            </a:xfrm>
            <a:custGeom>
              <a:avLst/>
              <a:gdLst/>
              <a:ahLst/>
              <a:cxnLst/>
              <a:rect r="r" b="b" t="t" l="l"/>
              <a:pathLst>
                <a:path h="1310640" w="16342359">
                  <a:moveTo>
                    <a:pt x="0" y="655320"/>
                  </a:moveTo>
                  <a:cubicBezTo>
                    <a:pt x="0" y="293370"/>
                    <a:pt x="293370" y="0"/>
                    <a:pt x="655320" y="0"/>
                  </a:cubicBezTo>
                  <a:lnTo>
                    <a:pt x="15687039" y="0"/>
                  </a:lnTo>
                  <a:cubicBezTo>
                    <a:pt x="16048989" y="0"/>
                    <a:pt x="16342359" y="293370"/>
                    <a:pt x="16342359" y="655320"/>
                  </a:cubicBezTo>
                  <a:cubicBezTo>
                    <a:pt x="16342359" y="1017270"/>
                    <a:pt x="16048989" y="1310640"/>
                    <a:pt x="15687039" y="1310640"/>
                  </a:cubicBezTo>
                  <a:lnTo>
                    <a:pt x="655320" y="1310640"/>
                  </a:lnTo>
                  <a:cubicBezTo>
                    <a:pt x="293370" y="1310640"/>
                    <a:pt x="0" y="1017270"/>
                    <a:pt x="0" y="655320"/>
                  </a:cubicBezTo>
                  <a:close/>
                </a:path>
              </a:pathLst>
            </a:custGeom>
            <a:gradFill rotWithShape="true">
              <a:gsLst>
                <a:gs pos="0">
                  <a:srgbClr val="F2F2F2">
                    <a:alpha val="100000"/>
                  </a:srgbClr>
                </a:gs>
                <a:gs pos="80000">
                  <a:srgbClr val="FFFFFF">
                    <a:alpha val="100000"/>
                  </a:srgbClr>
                </a:gs>
              </a:gsLst>
              <a:lin ang="0"/>
            </a:gradFill>
          </p:spPr>
        </p:sp>
      </p:grpSp>
      <p:sp>
        <p:nvSpPr>
          <p:cNvPr name="TextBox 34" id="34"/>
          <p:cNvSpPr txBox="true"/>
          <p:nvPr/>
        </p:nvSpPr>
        <p:spPr>
          <a:xfrm rot="0">
            <a:off x="1443712" y="698873"/>
            <a:ext cx="16006762" cy="6477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可畫妞妞體-繁"/>
                <a:ea typeface="可畫妞妞體-繁"/>
                <a:cs typeface="可畫妞妞體-繁"/>
                <a:sym typeface="可畫妞妞體-繁"/>
              </a:rPr>
              <a:t>科技、教育和政策的合作</a:t>
            </a:r>
          </a:p>
        </p:txBody>
      </p:sp>
      <p:sp>
        <p:nvSpPr>
          <p:cNvPr name="Freeform 35" id="35"/>
          <p:cNvSpPr/>
          <p:nvPr/>
        </p:nvSpPr>
        <p:spPr>
          <a:xfrm flipH="false" flipV="false" rot="0">
            <a:off x="139274" y="486775"/>
            <a:ext cx="1258435" cy="1012964"/>
          </a:xfrm>
          <a:custGeom>
            <a:avLst/>
            <a:gdLst/>
            <a:ahLst/>
            <a:cxnLst/>
            <a:rect r="r" b="b" t="t" l="l"/>
            <a:pathLst>
              <a:path h="1012964" w="1258435">
                <a:moveTo>
                  <a:pt x="0" y="0"/>
                </a:moveTo>
                <a:lnTo>
                  <a:pt x="1258435" y="0"/>
                </a:lnTo>
                <a:lnTo>
                  <a:pt x="1258435" y="1012964"/>
                </a:lnTo>
                <a:lnTo>
                  <a:pt x="0" y="10129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DBBE"/>
        </a:solidFill>
      </p:bgPr>
    </p:bg>
    <p:spTree>
      <p:nvGrpSpPr>
        <p:cNvPr id="1" name=""/>
        <p:cNvGrpSpPr/>
        <p:nvPr/>
      </p:nvGrpSpPr>
      <p:grpSpPr>
        <a:xfrm>
          <a:off x="0" y="0"/>
          <a:ext cx="0" cy="0"/>
          <a:chOff x="0" y="0"/>
          <a:chExt cx="0" cy="0"/>
        </a:xfrm>
      </p:grpSpPr>
      <p:grpSp>
        <p:nvGrpSpPr>
          <p:cNvPr name="Group 2" id="2"/>
          <p:cNvGrpSpPr/>
          <p:nvPr/>
        </p:nvGrpSpPr>
        <p:grpSpPr>
          <a:xfrm rot="176969">
            <a:off x="3118278" y="1882936"/>
            <a:ext cx="12578661" cy="6400736"/>
            <a:chOff x="0" y="0"/>
            <a:chExt cx="16771548" cy="8534314"/>
          </a:xfrm>
        </p:grpSpPr>
        <p:sp>
          <p:nvSpPr>
            <p:cNvPr name="Freeform 3" id="3"/>
            <p:cNvSpPr/>
            <p:nvPr/>
          </p:nvSpPr>
          <p:spPr>
            <a:xfrm flipH="false" flipV="false" rot="0">
              <a:off x="0" y="0"/>
              <a:ext cx="16771493" cy="8534273"/>
            </a:xfrm>
            <a:custGeom>
              <a:avLst/>
              <a:gdLst/>
              <a:ahLst/>
              <a:cxnLst/>
              <a:rect r="r" b="b" t="t" l="l"/>
              <a:pathLst>
                <a:path h="8534273" w="16771493">
                  <a:moveTo>
                    <a:pt x="0" y="0"/>
                  </a:moveTo>
                  <a:lnTo>
                    <a:pt x="16771493" y="0"/>
                  </a:lnTo>
                  <a:lnTo>
                    <a:pt x="16771493" y="8534273"/>
                  </a:lnTo>
                  <a:lnTo>
                    <a:pt x="0" y="8534273"/>
                  </a:lnTo>
                  <a:close/>
                </a:path>
              </a:pathLst>
            </a:custGeom>
            <a:solidFill>
              <a:srgbClr val="DE6258"/>
            </a:solidFill>
          </p:spPr>
        </p:sp>
      </p:grpSp>
      <p:grpSp>
        <p:nvGrpSpPr>
          <p:cNvPr name="Group 4" id="4"/>
          <p:cNvGrpSpPr/>
          <p:nvPr/>
        </p:nvGrpSpPr>
        <p:grpSpPr>
          <a:xfrm rot="2725">
            <a:off x="3231730" y="1736535"/>
            <a:ext cx="12578661" cy="6400736"/>
            <a:chOff x="0" y="0"/>
            <a:chExt cx="16771548" cy="8534314"/>
          </a:xfrm>
        </p:grpSpPr>
        <p:sp>
          <p:nvSpPr>
            <p:cNvPr name="Freeform 5" id="5"/>
            <p:cNvSpPr/>
            <p:nvPr/>
          </p:nvSpPr>
          <p:spPr>
            <a:xfrm flipH="false" flipV="false" rot="0">
              <a:off x="0" y="0"/>
              <a:ext cx="16771493" cy="8534274"/>
            </a:xfrm>
            <a:custGeom>
              <a:avLst/>
              <a:gdLst/>
              <a:ahLst/>
              <a:cxnLst/>
              <a:rect r="r" b="b" t="t" l="l"/>
              <a:pathLst>
                <a:path h="8534274" w="16771493">
                  <a:moveTo>
                    <a:pt x="0" y="0"/>
                  </a:moveTo>
                  <a:lnTo>
                    <a:pt x="16771493" y="0"/>
                  </a:lnTo>
                  <a:lnTo>
                    <a:pt x="16771493" y="6247003"/>
                  </a:lnTo>
                  <a:lnTo>
                    <a:pt x="14484223" y="8534274"/>
                  </a:lnTo>
                  <a:lnTo>
                    <a:pt x="0" y="8534274"/>
                  </a:lnTo>
                  <a:close/>
                </a:path>
              </a:pathLst>
            </a:custGeom>
            <a:solidFill>
              <a:srgbClr val="F2CA9E"/>
            </a:solidFill>
          </p:spPr>
        </p:sp>
        <p:sp>
          <p:nvSpPr>
            <p:cNvPr name="Freeform 6" id="6"/>
            <p:cNvSpPr/>
            <p:nvPr/>
          </p:nvSpPr>
          <p:spPr>
            <a:xfrm flipH="false" flipV="false" rot="0">
              <a:off x="14484223" y="6247003"/>
              <a:ext cx="2287270" cy="2287270"/>
            </a:xfrm>
            <a:custGeom>
              <a:avLst/>
              <a:gdLst/>
              <a:ahLst/>
              <a:cxnLst/>
              <a:rect r="r" b="b" t="t" l="l"/>
              <a:pathLst>
                <a:path h="2287270" w="2287270">
                  <a:moveTo>
                    <a:pt x="0" y="2287270"/>
                  </a:moveTo>
                  <a:lnTo>
                    <a:pt x="457454" y="457454"/>
                  </a:lnTo>
                  <a:lnTo>
                    <a:pt x="2287270" y="0"/>
                  </a:lnTo>
                  <a:close/>
                </a:path>
              </a:pathLst>
            </a:custGeom>
            <a:solidFill>
              <a:srgbClr val="C1A17E"/>
            </a:solidFill>
          </p:spPr>
        </p:sp>
        <p:sp>
          <p:nvSpPr>
            <p:cNvPr name="Freeform 7" id="7"/>
            <p:cNvSpPr/>
            <p:nvPr/>
          </p:nvSpPr>
          <p:spPr>
            <a:xfrm flipH="false" flipV="false" rot="0">
              <a:off x="0" y="0"/>
              <a:ext cx="16771493" cy="8534273"/>
            </a:xfrm>
            <a:custGeom>
              <a:avLst/>
              <a:gdLst/>
              <a:ahLst/>
              <a:cxnLst/>
              <a:rect r="r" b="b" t="t" l="l"/>
              <a:pathLst>
                <a:path h="8534273" w="16771493">
                  <a:moveTo>
                    <a:pt x="14484223" y="8534273"/>
                  </a:moveTo>
                  <a:lnTo>
                    <a:pt x="14941677" y="6704457"/>
                  </a:lnTo>
                  <a:lnTo>
                    <a:pt x="16771493" y="6247003"/>
                  </a:lnTo>
                  <a:lnTo>
                    <a:pt x="14484223" y="8534273"/>
                  </a:lnTo>
                  <a:lnTo>
                    <a:pt x="0" y="8534273"/>
                  </a:lnTo>
                  <a:lnTo>
                    <a:pt x="0" y="0"/>
                  </a:lnTo>
                  <a:lnTo>
                    <a:pt x="16771493" y="0"/>
                  </a:lnTo>
                  <a:lnTo>
                    <a:pt x="16771493" y="6247003"/>
                  </a:lnTo>
                </a:path>
              </a:pathLst>
            </a:custGeom>
            <a:solidFill>
              <a:srgbClr val="000000">
                <a:alpha val="0"/>
              </a:srgbClr>
            </a:solidFill>
          </p:spPr>
        </p:sp>
      </p:grpSp>
      <p:grpSp>
        <p:nvGrpSpPr>
          <p:cNvPr name="Group 8" id="8"/>
          <p:cNvGrpSpPr/>
          <p:nvPr/>
        </p:nvGrpSpPr>
        <p:grpSpPr>
          <a:xfrm rot="-447427">
            <a:off x="3416526" y="1909875"/>
            <a:ext cx="263322" cy="263322"/>
            <a:chOff x="0" y="0"/>
            <a:chExt cx="351096" cy="351096"/>
          </a:xfrm>
        </p:grpSpPr>
        <p:sp>
          <p:nvSpPr>
            <p:cNvPr name="Freeform 9" id="9"/>
            <p:cNvSpPr/>
            <p:nvPr/>
          </p:nvSpPr>
          <p:spPr>
            <a:xfrm flipH="false" flipV="false" rot="0">
              <a:off x="0" y="0"/>
              <a:ext cx="351155" cy="351155"/>
            </a:xfrm>
            <a:custGeom>
              <a:avLst/>
              <a:gdLst/>
              <a:ahLst/>
              <a:cxnLst/>
              <a:rect r="r" b="b" t="t" l="l"/>
              <a:pathLst>
                <a:path h="351155" w="351155">
                  <a:moveTo>
                    <a:pt x="0" y="175514"/>
                  </a:moveTo>
                  <a:cubicBezTo>
                    <a:pt x="0" y="78613"/>
                    <a:pt x="78613" y="0"/>
                    <a:pt x="175514" y="0"/>
                  </a:cubicBezTo>
                  <a:cubicBezTo>
                    <a:pt x="272415" y="0"/>
                    <a:pt x="351155" y="78613"/>
                    <a:pt x="351155" y="175514"/>
                  </a:cubicBezTo>
                  <a:cubicBezTo>
                    <a:pt x="351155" y="272415"/>
                    <a:pt x="272542" y="351155"/>
                    <a:pt x="175514" y="351155"/>
                  </a:cubicBezTo>
                  <a:cubicBezTo>
                    <a:pt x="78486" y="351155"/>
                    <a:pt x="0" y="272542"/>
                    <a:pt x="0" y="175514"/>
                  </a:cubicBezTo>
                  <a:close/>
                </a:path>
              </a:pathLst>
            </a:custGeom>
            <a:solidFill>
              <a:srgbClr val="D77E1D"/>
            </a:solidFill>
          </p:spPr>
        </p:sp>
      </p:grpSp>
      <p:sp>
        <p:nvSpPr>
          <p:cNvPr name="TextBox 10" id="10"/>
          <p:cNvSpPr txBox="true"/>
          <p:nvPr/>
        </p:nvSpPr>
        <p:spPr>
          <a:xfrm rot="0">
            <a:off x="3585814" y="3755023"/>
            <a:ext cx="11870490" cy="82867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可畫妞妞體-繁"/>
                <a:ea typeface="可畫妞妞體-繁"/>
                <a:cs typeface="可畫妞妞體-繁"/>
                <a:sym typeface="可畫妞妞體-繁"/>
              </a:rPr>
              <a:t>感謝您的關注</a:t>
            </a:r>
          </a:p>
        </p:txBody>
      </p:sp>
      <p:sp>
        <p:nvSpPr>
          <p:cNvPr name="TextBox 11" id="11"/>
          <p:cNvSpPr txBox="true"/>
          <p:nvPr/>
        </p:nvSpPr>
        <p:spPr>
          <a:xfrm rot="0">
            <a:off x="5499219" y="6321763"/>
            <a:ext cx="7289562" cy="276225"/>
          </a:xfrm>
          <a:prstGeom prst="rect">
            <a:avLst/>
          </a:prstGeom>
        </p:spPr>
        <p:txBody>
          <a:bodyPr anchor="t" rtlCol="false" tIns="0" lIns="0" bIns="0" rIns="0">
            <a:spAutoFit/>
          </a:bodyPr>
          <a:lstStyle/>
          <a:p>
            <a:pPr algn="ctr" marL="0" indent="0" lvl="0">
              <a:lnSpc>
                <a:spcPts val="2160"/>
              </a:lnSpc>
              <a:spcBef>
                <a:spcPct val="0"/>
              </a:spcBef>
            </a:pPr>
            <a:r>
              <a:rPr lang="en-US" sz="1800" strike="noStrike" u="none">
                <a:solidFill>
                  <a:srgbClr val="000000"/>
                </a:solidFill>
                <a:latin typeface="可畫妞妞體-繁"/>
                <a:ea typeface="可畫妞妞體-繁"/>
                <a:cs typeface="可畫妞妞體-繁"/>
                <a:sym typeface="可畫妞妞體-繁"/>
              </a:rPr>
              <a:t>您的演示從這裡開始</a:t>
            </a:r>
          </a:p>
        </p:txBody>
      </p:sp>
      <p:sp>
        <p:nvSpPr>
          <p:cNvPr name="Freeform 12" id="12"/>
          <p:cNvSpPr/>
          <p:nvPr/>
        </p:nvSpPr>
        <p:spPr>
          <a:xfrm flipH="false" flipV="false" rot="0">
            <a:off x="361796" y="4419322"/>
            <a:ext cx="8251135" cy="6215142"/>
          </a:xfrm>
          <a:custGeom>
            <a:avLst/>
            <a:gdLst/>
            <a:ahLst/>
            <a:cxnLst/>
            <a:rect r="r" b="b" t="t" l="l"/>
            <a:pathLst>
              <a:path h="6215142" w="8251135">
                <a:moveTo>
                  <a:pt x="0" y="0"/>
                </a:moveTo>
                <a:lnTo>
                  <a:pt x="8251135" y="0"/>
                </a:lnTo>
                <a:lnTo>
                  <a:pt x="8251135" y="6215142"/>
                </a:lnTo>
                <a:lnTo>
                  <a:pt x="0" y="6215142"/>
                </a:lnTo>
                <a:lnTo>
                  <a:pt x="0" y="0"/>
                </a:lnTo>
                <a:close/>
              </a:path>
            </a:pathLst>
          </a:custGeom>
          <a:blipFill>
            <a:blip r:embed="rId2"/>
            <a:stretch>
              <a:fillRect l="0" t="0" r="0" b="0"/>
            </a:stretch>
          </a:blipFill>
        </p:spPr>
      </p:sp>
      <p:sp>
        <p:nvSpPr>
          <p:cNvPr name="Freeform 13" id="13"/>
          <p:cNvSpPr/>
          <p:nvPr/>
        </p:nvSpPr>
        <p:spPr>
          <a:xfrm flipH="false" flipV="false" rot="0">
            <a:off x="366632" y="9370885"/>
            <a:ext cx="723219" cy="332974"/>
          </a:xfrm>
          <a:custGeom>
            <a:avLst/>
            <a:gdLst/>
            <a:ahLst/>
            <a:cxnLst/>
            <a:rect r="r" b="b" t="t" l="l"/>
            <a:pathLst>
              <a:path h="332974" w="723219">
                <a:moveTo>
                  <a:pt x="0" y="0"/>
                </a:moveTo>
                <a:lnTo>
                  <a:pt x="723218" y="0"/>
                </a:lnTo>
                <a:lnTo>
                  <a:pt x="723218" y="332974"/>
                </a:lnTo>
                <a:lnTo>
                  <a:pt x="0" y="3329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5"/>
            <a:stretch>
              <a:fillRect l="10265" t="3623" r="-2" b="8293"/>
            </a:stretch>
          </a:blipFill>
        </p:spPr>
      </p:sp>
      <p:sp>
        <p:nvSpPr>
          <p:cNvPr name="Freeform 15" id="15"/>
          <p:cNvSpPr/>
          <p:nvPr/>
        </p:nvSpPr>
        <p:spPr>
          <a:xfrm flipH="false" flipV="false" rot="1800000">
            <a:off x="16766488" y="2995848"/>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6"/>
            <a:stretch>
              <a:fillRect l="525" t="15594" r="10373" b="966"/>
            </a:stretch>
          </a:blipFill>
        </p:spPr>
      </p:sp>
      <p:sp>
        <p:nvSpPr>
          <p:cNvPr name="Freeform 16" id="16"/>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7"/>
            <a:stretch>
              <a:fillRect l="3912" t="13374" r="23842" b="0"/>
            </a:stretch>
          </a:blipFill>
        </p:spPr>
      </p:sp>
      <p:sp>
        <p:nvSpPr>
          <p:cNvPr name="Freeform 17" id="17"/>
          <p:cNvSpPr/>
          <p:nvPr/>
        </p:nvSpPr>
        <p:spPr>
          <a:xfrm flipH="false" flipV="false" rot="3600000">
            <a:off x="14086644" y="195992"/>
            <a:ext cx="3022517" cy="2503563"/>
          </a:xfrm>
          <a:custGeom>
            <a:avLst/>
            <a:gdLst/>
            <a:ahLst/>
            <a:cxnLst/>
            <a:rect r="r" b="b" t="t" l="l"/>
            <a:pathLst>
              <a:path h="2503563" w="3022517">
                <a:moveTo>
                  <a:pt x="0" y="0"/>
                </a:moveTo>
                <a:lnTo>
                  <a:pt x="3022517" y="0"/>
                </a:lnTo>
                <a:lnTo>
                  <a:pt x="3022517" y="2503563"/>
                </a:lnTo>
                <a:lnTo>
                  <a:pt x="0" y="2503563"/>
                </a:lnTo>
                <a:lnTo>
                  <a:pt x="0" y="0"/>
                </a:lnTo>
                <a:close/>
              </a:path>
            </a:pathLst>
          </a:custGeom>
          <a:blipFill>
            <a:blip r:embed="rId8"/>
            <a:stretch>
              <a:fillRect l="-1041" t="0" r="-1041" b="0"/>
            </a:stretch>
          </a:blipFill>
        </p:spPr>
      </p:sp>
      <p:sp>
        <p:nvSpPr>
          <p:cNvPr name="Freeform 18" id="18"/>
          <p:cNvSpPr/>
          <p:nvPr/>
        </p:nvSpPr>
        <p:spPr>
          <a:xfrm flipH="false" flipV="false" rot="0">
            <a:off x="13971762" y="6153741"/>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9"/>
            <a:stretch>
              <a:fillRect l="0" t="0" r="0" b="0"/>
            </a:stretch>
          </a:blipFill>
        </p:spPr>
      </p:sp>
      <p:sp>
        <p:nvSpPr>
          <p:cNvPr name="Freeform 19" id="19"/>
          <p:cNvSpPr/>
          <p:nvPr/>
        </p:nvSpPr>
        <p:spPr>
          <a:xfrm flipH="false" flipV="false" rot="0">
            <a:off x="12457181" y="1179021"/>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0"/>
            <a:stretch>
              <a:fillRect l="14395" t="21072" r="15182" b="20634"/>
            </a:stretch>
          </a:blipFill>
        </p:spPr>
      </p:sp>
      <p:sp>
        <p:nvSpPr>
          <p:cNvPr name="Freeform 20" id="20"/>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1"/>
            <a:stretch>
              <a:fillRect l="20526" t="10668" r="10720" b="6217"/>
            </a:stretch>
          </a:blipFill>
        </p:spPr>
      </p:sp>
      <p:grpSp>
        <p:nvGrpSpPr>
          <p:cNvPr name="Group 21" id="21"/>
          <p:cNvGrpSpPr/>
          <p:nvPr/>
        </p:nvGrpSpPr>
        <p:grpSpPr>
          <a:xfrm rot="0">
            <a:off x="7710825" y="6805620"/>
            <a:ext cx="2866351" cy="469638"/>
            <a:chOff x="0" y="0"/>
            <a:chExt cx="3821802" cy="626184"/>
          </a:xfrm>
        </p:grpSpPr>
        <p:sp>
          <p:nvSpPr>
            <p:cNvPr name="Freeform 22" id="22"/>
            <p:cNvSpPr/>
            <p:nvPr/>
          </p:nvSpPr>
          <p:spPr>
            <a:xfrm flipH="false" flipV="false" rot="0">
              <a:off x="0" y="0"/>
              <a:ext cx="3821811" cy="626237"/>
            </a:xfrm>
            <a:custGeom>
              <a:avLst/>
              <a:gdLst/>
              <a:ahLst/>
              <a:cxnLst/>
              <a:rect r="r" b="b" t="t" l="l"/>
              <a:pathLst>
                <a:path h="626237" w="3821811">
                  <a:moveTo>
                    <a:pt x="284734" y="0"/>
                  </a:moveTo>
                  <a:lnTo>
                    <a:pt x="1846580" y="0"/>
                  </a:lnTo>
                  <a:lnTo>
                    <a:pt x="1975231" y="0"/>
                  </a:lnTo>
                  <a:lnTo>
                    <a:pt x="3537077" y="0"/>
                  </a:lnTo>
                  <a:cubicBezTo>
                    <a:pt x="3694303" y="0"/>
                    <a:pt x="3821811" y="117856"/>
                    <a:pt x="3821811" y="263017"/>
                  </a:cubicBezTo>
                  <a:lnTo>
                    <a:pt x="3821811" y="363220"/>
                  </a:lnTo>
                  <a:cubicBezTo>
                    <a:pt x="3821811" y="508381"/>
                    <a:pt x="3694176" y="626237"/>
                    <a:pt x="3537077" y="626237"/>
                  </a:cubicBezTo>
                  <a:lnTo>
                    <a:pt x="1975231" y="626237"/>
                  </a:lnTo>
                  <a:lnTo>
                    <a:pt x="1846580" y="626237"/>
                  </a:lnTo>
                  <a:lnTo>
                    <a:pt x="284734" y="626237"/>
                  </a:lnTo>
                  <a:cubicBezTo>
                    <a:pt x="127635" y="626237"/>
                    <a:pt x="0" y="508381"/>
                    <a:pt x="0" y="363220"/>
                  </a:cubicBezTo>
                  <a:lnTo>
                    <a:pt x="0" y="263017"/>
                  </a:lnTo>
                  <a:cubicBezTo>
                    <a:pt x="0" y="117856"/>
                    <a:pt x="127635" y="0"/>
                    <a:pt x="284734" y="0"/>
                  </a:cubicBezTo>
                  <a:close/>
                </a:path>
              </a:pathLst>
            </a:custGeom>
            <a:solidFill>
              <a:srgbClr val="81211A"/>
            </a:solidFill>
          </p:spPr>
        </p:sp>
      </p:grpSp>
      <p:sp>
        <p:nvSpPr>
          <p:cNvPr name="TextBox 23" id="23"/>
          <p:cNvSpPr txBox="true"/>
          <p:nvPr/>
        </p:nvSpPr>
        <p:spPr>
          <a:xfrm rot="0">
            <a:off x="7951772" y="6849354"/>
            <a:ext cx="2384458" cy="323850"/>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FFFFFF"/>
                </a:solidFill>
                <a:latin typeface="可畫妞妞體-繁"/>
                <a:ea typeface="可畫妞妞體-繁"/>
                <a:cs typeface="可畫妞妞體-繁"/>
                <a:sym typeface="可畫妞妞體-繁"/>
              </a:rPr>
              <a:t>20XX年XX月XX日</a:t>
            </a:r>
          </a:p>
        </p:txBody>
      </p:sp>
      <p:sp>
        <p:nvSpPr>
          <p:cNvPr name="Freeform 24" id="24"/>
          <p:cNvSpPr/>
          <p:nvPr/>
        </p:nvSpPr>
        <p:spPr>
          <a:xfrm flipH="false" flipV="false" rot="0">
            <a:off x="1208008" y="630687"/>
            <a:ext cx="1819600" cy="225956"/>
          </a:xfrm>
          <a:custGeom>
            <a:avLst/>
            <a:gdLst/>
            <a:ahLst/>
            <a:cxnLst/>
            <a:rect r="r" b="b" t="t" l="l"/>
            <a:pathLst>
              <a:path h="225956" w="1819600">
                <a:moveTo>
                  <a:pt x="0" y="0"/>
                </a:moveTo>
                <a:lnTo>
                  <a:pt x="1819601" y="0"/>
                </a:lnTo>
                <a:lnTo>
                  <a:pt x="1819601" y="225955"/>
                </a:lnTo>
                <a:lnTo>
                  <a:pt x="0" y="2259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606219" y="503781"/>
            <a:ext cx="479769" cy="479769"/>
          </a:xfrm>
          <a:custGeom>
            <a:avLst/>
            <a:gdLst/>
            <a:ahLst/>
            <a:cxnLst/>
            <a:rect r="r" b="b" t="t" l="l"/>
            <a:pathLst>
              <a:path h="479769" w="479769">
                <a:moveTo>
                  <a:pt x="0" y="0"/>
                </a:moveTo>
                <a:lnTo>
                  <a:pt x="479769" y="0"/>
                </a:lnTo>
                <a:lnTo>
                  <a:pt x="479769" y="479769"/>
                </a:lnTo>
                <a:lnTo>
                  <a:pt x="0" y="479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DAGYf7yP3gc</dc:identifier>
  <dcterms:modified xsi:type="dcterms:W3CDTF">2011-08-01T06:04:30Z</dcterms:modified>
  <cp:revision>1</cp:revision>
  <dc:title>AI時代における偽情報とメディアリテラシーの重要性.pptx (繁體中文)</dc:title>
</cp:coreProperties>
</file>