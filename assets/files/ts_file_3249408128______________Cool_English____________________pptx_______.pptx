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王漢宗特黑體" charset="1" panose="02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 Id="rId3"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8.png" Type="http://schemas.openxmlformats.org/officeDocument/2006/relationships/image"/><Relationship Id="rId12" Target="../media/image9.png" Type="http://schemas.openxmlformats.org/officeDocument/2006/relationships/image"/><Relationship Id="rId13" Target="../media/image10.png" Type="http://schemas.openxmlformats.org/officeDocument/2006/relationships/image"/><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DBBE"/>
        </a:solidFill>
      </p:bgPr>
    </p:bg>
    <p:spTree>
      <p:nvGrpSpPr>
        <p:cNvPr id="1" name=""/>
        <p:cNvGrpSpPr/>
        <p:nvPr/>
      </p:nvGrpSpPr>
      <p:grpSpPr>
        <a:xfrm>
          <a:off x="0" y="0"/>
          <a:ext cx="0" cy="0"/>
          <a:chOff x="0" y="0"/>
          <a:chExt cx="0" cy="0"/>
        </a:xfrm>
      </p:grpSpPr>
      <p:grpSp>
        <p:nvGrpSpPr>
          <p:cNvPr name="Group 2" id="2"/>
          <p:cNvGrpSpPr/>
          <p:nvPr/>
        </p:nvGrpSpPr>
        <p:grpSpPr>
          <a:xfrm rot="176969">
            <a:off x="3118278" y="1882936"/>
            <a:ext cx="12578661" cy="6400736"/>
            <a:chOff x="0" y="0"/>
            <a:chExt cx="16771548" cy="8534314"/>
          </a:xfrm>
        </p:grpSpPr>
        <p:sp>
          <p:nvSpPr>
            <p:cNvPr name="Freeform 3" id="3"/>
            <p:cNvSpPr/>
            <p:nvPr/>
          </p:nvSpPr>
          <p:spPr>
            <a:xfrm flipH="false" flipV="false" rot="0">
              <a:off x="0" y="0"/>
              <a:ext cx="16771493" cy="8534273"/>
            </a:xfrm>
            <a:custGeom>
              <a:avLst/>
              <a:gdLst/>
              <a:ahLst/>
              <a:cxnLst/>
              <a:rect r="r" b="b" t="t" l="l"/>
              <a:pathLst>
                <a:path h="8534273" w="16771493">
                  <a:moveTo>
                    <a:pt x="0" y="0"/>
                  </a:moveTo>
                  <a:lnTo>
                    <a:pt x="16771493" y="0"/>
                  </a:lnTo>
                  <a:lnTo>
                    <a:pt x="16771493" y="8534273"/>
                  </a:lnTo>
                  <a:lnTo>
                    <a:pt x="0" y="8534273"/>
                  </a:lnTo>
                  <a:close/>
                </a:path>
              </a:pathLst>
            </a:custGeom>
            <a:solidFill>
              <a:srgbClr val="DE6258"/>
            </a:solidFill>
          </p:spPr>
        </p:sp>
      </p:grpSp>
      <p:grpSp>
        <p:nvGrpSpPr>
          <p:cNvPr name="Group 4" id="4"/>
          <p:cNvGrpSpPr/>
          <p:nvPr/>
        </p:nvGrpSpPr>
        <p:grpSpPr>
          <a:xfrm rot="2725">
            <a:off x="3231730" y="1736535"/>
            <a:ext cx="12578661" cy="6400736"/>
            <a:chOff x="0" y="0"/>
            <a:chExt cx="16771548" cy="8534314"/>
          </a:xfrm>
        </p:grpSpPr>
        <p:sp>
          <p:nvSpPr>
            <p:cNvPr name="Freeform 5" id="5"/>
            <p:cNvSpPr/>
            <p:nvPr/>
          </p:nvSpPr>
          <p:spPr>
            <a:xfrm flipH="false" flipV="false" rot="0">
              <a:off x="0" y="0"/>
              <a:ext cx="16771493" cy="8534274"/>
            </a:xfrm>
            <a:custGeom>
              <a:avLst/>
              <a:gdLst/>
              <a:ahLst/>
              <a:cxnLst/>
              <a:rect r="r" b="b" t="t" l="l"/>
              <a:pathLst>
                <a:path h="8534274" w="16771493">
                  <a:moveTo>
                    <a:pt x="0" y="0"/>
                  </a:moveTo>
                  <a:lnTo>
                    <a:pt x="16771493" y="0"/>
                  </a:lnTo>
                  <a:lnTo>
                    <a:pt x="16771493" y="6247003"/>
                  </a:lnTo>
                  <a:lnTo>
                    <a:pt x="14484223" y="8534274"/>
                  </a:lnTo>
                  <a:lnTo>
                    <a:pt x="0" y="8534274"/>
                  </a:lnTo>
                  <a:close/>
                </a:path>
              </a:pathLst>
            </a:custGeom>
            <a:solidFill>
              <a:srgbClr val="F2CA9E"/>
            </a:solidFill>
          </p:spPr>
        </p:sp>
        <p:sp>
          <p:nvSpPr>
            <p:cNvPr name="Freeform 6" id="6"/>
            <p:cNvSpPr/>
            <p:nvPr/>
          </p:nvSpPr>
          <p:spPr>
            <a:xfrm flipH="false" flipV="false" rot="0">
              <a:off x="14484223" y="6247003"/>
              <a:ext cx="2287270" cy="2287270"/>
            </a:xfrm>
            <a:custGeom>
              <a:avLst/>
              <a:gdLst/>
              <a:ahLst/>
              <a:cxnLst/>
              <a:rect r="r" b="b" t="t" l="l"/>
              <a:pathLst>
                <a:path h="2287270" w="2287270">
                  <a:moveTo>
                    <a:pt x="0" y="2287270"/>
                  </a:moveTo>
                  <a:lnTo>
                    <a:pt x="457454" y="457454"/>
                  </a:lnTo>
                  <a:lnTo>
                    <a:pt x="2287270" y="0"/>
                  </a:lnTo>
                  <a:close/>
                </a:path>
              </a:pathLst>
            </a:custGeom>
            <a:solidFill>
              <a:srgbClr val="C1A17E"/>
            </a:solidFill>
          </p:spPr>
        </p:sp>
        <p:sp>
          <p:nvSpPr>
            <p:cNvPr name="Freeform 7" id="7"/>
            <p:cNvSpPr/>
            <p:nvPr/>
          </p:nvSpPr>
          <p:spPr>
            <a:xfrm flipH="false" flipV="false" rot="0">
              <a:off x="0" y="0"/>
              <a:ext cx="16771493" cy="8534273"/>
            </a:xfrm>
            <a:custGeom>
              <a:avLst/>
              <a:gdLst/>
              <a:ahLst/>
              <a:cxnLst/>
              <a:rect r="r" b="b" t="t" l="l"/>
              <a:pathLst>
                <a:path h="8534273" w="16771493">
                  <a:moveTo>
                    <a:pt x="14484223" y="8534273"/>
                  </a:moveTo>
                  <a:lnTo>
                    <a:pt x="14941677" y="6704457"/>
                  </a:lnTo>
                  <a:lnTo>
                    <a:pt x="16771493" y="6247003"/>
                  </a:lnTo>
                  <a:lnTo>
                    <a:pt x="14484223" y="8534273"/>
                  </a:lnTo>
                  <a:lnTo>
                    <a:pt x="0" y="8534273"/>
                  </a:lnTo>
                  <a:lnTo>
                    <a:pt x="0" y="0"/>
                  </a:lnTo>
                  <a:lnTo>
                    <a:pt x="16771493" y="0"/>
                  </a:lnTo>
                  <a:lnTo>
                    <a:pt x="16771493" y="6247003"/>
                  </a:lnTo>
                </a:path>
              </a:pathLst>
            </a:custGeom>
            <a:solidFill>
              <a:srgbClr val="000000">
                <a:alpha val="0"/>
              </a:srgbClr>
            </a:solidFill>
          </p:spPr>
        </p:sp>
      </p:grpSp>
      <p:grpSp>
        <p:nvGrpSpPr>
          <p:cNvPr name="Group 8" id="8"/>
          <p:cNvGrpSpPr/>
          <p:nvPr/>
        </p:nvGrpSpPr>
        <p:grpSpPr>
          <a:xfrm rot="-447427">
            <a:off x="3416526" y="1909875"/>
            <a:ext cx="263322" cy="263322"/>
            <a:chOff x="0" y="0"/>
            <a:chExt cx="351096" cy="351096"/>
          </a:xfrm>
        </p:grpSpPr>
        <p:sp>
          <p:nvSpPr>
            <p:cNvPr name="Freeform 9" id="9"/>
            <p:cNvSpPr/>
            <p:nvPr/>
          </p:nvSpPr>
          <p:spPr>
            <a:xfrm flipH="false" flipV="false" rot="0">
              <a:off x="0" y="0"/>
              <a:ext cx="351155" cy="351155"/>
            </a:xfrm>
            <a:custGeom>
              <a:avLst/>
              <a:gdLst/>
              <a:ahLst/>
              <a:cxnLst/>
              <a:rect r="r" b="b" t="t" l="l"/>
              <a:pathLst>
                <a:path h="351155" w="351155">
                  <a:moveTo>
                    <a:pt x="0" y="175514"/>
                  </a:moveTo>
                  <a:cubicBezTo>
                    <a:pt x="0" y="78613"/>
                    <a:pt x="78613" y="0"/>
                    <a:pt x="175514" y="0"/>
                  </a:cubicBezTo>
                  <a:cubicBezTo>
                    <a:pt x="272415" y="0"/>
                    <a:pt x="351155" y="78613"/>
                    <a:pt x="351155" y="175514"/>
                  </a:cubicBezTo>
                  <a:cubicBezTo>
                    <a:pt x="351155" y="272415"/>
                    <a:pt x="272542" y="351155"/>
                    <a:pt x="175514" y="351155"/>
                  </a:cubicBezTo>
                  <a:cubicBezTo>
                    <a:pt x="78486" y="351155"/>
                    <a:pt x="0" y="272542"/>
                    <a:pt x="0" y="175514"/>
                  </a:cubicBezTo>
                  <a:close/>
                </a:path>
              </a:pathLst>
            </a:custGeom>
            <a:solidFill>
              <a:srgbClr val="D77E1D"/>
            </a:solidFill>
          </p:spPr>
        </p:sp>
      </p:grpSp>
      <p:sp>
        <p:nvSpPr>
          <p:cNvPr name="TextBox 10" id="10"/>
          <p:cNvSpPr txBox="true"/>
          <p:nvPr/>
        </p:nvSpPr>
        <p:spPr>
          <a:xfrm rot="0">
            <a:off x="3400552" y="4126938"/>
            <a:ext cx="12095576" cy="1148967"/>
          </a:xfrm>
          <a:prstGeom prst="rect">
            <a:avLst/>
          </a:prstGeom>
        </p:spPr>
        <p:txBody>
          <a:bodyPr anchor="t" rtlCol="false" tIns="0" lIns="0" bIns="0" rIns="0">
            <a:spAutoFit/>
          </a:bodyPr>
          <a:lstStyle/>
          <a:p>
            <a:pPr algn="ctr" marL="0" indent="0" lvl="0">
              <a:lnSpc>
                <a:spcPts val="8026"/>
              </a:lnSpc>
              <a:spcBef>
                <a:spcPct val="0"/>
              </a:spcBef>
            </a:pPr>
            <a:r>
              <a:rPr lang="en-US" sz="6688" strike="noStrike" u="none">
                <a:solidFill>
                  <a:srgbClr val="000000"/>
                </a:solidFill>
                <a:latin typeface="王漢宗特黑體"/>
                <a:ea typeface="王漢宗特黑體"/>
                <a:cs typeface="王漢宗特黑體"/>
                <a:sym typeface="王漢宗特黑體"/>
              </a:rPr>
              <a:t>酷英語在英語教育的優勢與挑戰</a:t>
            </a:r>
          </a:p>
        </p:txBody>
      </p:sp>
      <p:sp>
        <p:nvSpPr>
          <p:cNvPr name="TextBox 11" id="11"/>
          <p:cNvSpPr txBox="true"/>
          <p:nvPr/>
        </p:nvSpPr>
        <p:spPr>
          <a:xfrm rot="0">
            <a:off x="5499219" y="6293188"/>
            <a:ext cx="7289562" cy="304800"/>
          </a:xfrm>
          <a:prstGeom prst="rect">
            <a:avLst/>
          </a:prstGeom>
        </p:spPr>
        <p:txBody>
          <a:bodyPr anchor="t" rtlCol="false" tIns="0" lIns="0" bIns="0" rIns="0">
            <a:spAutoFit/>
          </a:bodyPr>
          <a:lstStyle/>
          <a:p>
            <a:pPr algn="ctr" marL="0" indent="0" lvl="0">
              <a:lnSpc>
                <a:spcPts val="2160"/>
              </a:lnSpc>
              <a:spcBef>
                <a:spcPct val="0"/>
              </a:spcBef>
            </a:pPr>
            <a:r>
              <a:rPr lang="en-US" sz="1800" strike="noStrike" u="none">
                <a:solidFill>
                  <a:srgbClr val="000000"/>
                </a:solidFill>
                <a:latin typeface="王漢宗特黑體"/>
                <a:ea typeface="王漢宗特黑體"/>
                <a:cs typeface="王漢宗特黑體"/>
                <a:sym typeface="王漢宗特黑體"/>
              </a:rPr>
              <a:t>您的演示從這裡開始</a:t>
            </a:r>
          </a:p>
        </p:txBody>
      </p:sp>
      <p:sp>
        <p:nvSpPr>
          <p:cNvPr name="Freeform 12" id="12"/>
          <p:cNvSpPr/>
          <p:nvPr/>
        </p:nvSpPr>
        <p:spPr>
          <a:xfrm flipH="false" flipV="false" rot="0">
            <a:off x="361796" y="4419322"/>
            <a:ext cx="8251135" cy="6215142"/>
          </a:xfrm>
          <a:custGeom>
            <a:avLst/>
            <a:gdLst/>
            <a:ahLst/>
            <a:cxnLst/>
            <a:rect r="r" b="b" t="t" l="l"/>
            <a:pathLst>
              <a:path h="6215142" w="8251135">
                <a:moveTo>
                  <a:pt x="0" y="0"/>
                </a:moveTo>
                <a:lnTo>
                  <a:pt x="8251135" y="0"/>
                </a:lnTo>
                <a:lnTo>
                  <a:pt x="8251135" y="6215142"/>
                </a:lnTo>
                <a:lnTo>
                  <a:pt x="0" y="6215142"/>
                </a:lnTo>
                <a:lnTo>
                  <a:pt x="0" y="0"/>
                </a:lnTo>
                <a:close/>
              </a:path>
            </a:pathLst>
          </a:custGeom>
          <a:blipFill>
            <a:blip r:embed="rId2"/>
            <a:stretch>
              <a:fillRect l="0" t="0" r="0" b="0"/>
            </a:stretch>
          </a:blipFill>
        </p:spPr>
      </p:sp>
      <p:sp>
        <p:nvSpPr>
          <p:cNvPr name="Freeform 13" id="13"/>
          <p:cNvSpPr/>
          <p:nvPr/>
        </p:nvSpPr>
        <p:spPr>
          <a:xfrm flipH="false" flipV="false" rot="0">
            <a:off x="366632" y="9370885"/>
            <a:ext cx="723219" cy="332974"/>
          </a:xfrm>
          <a:custGeom>
            <a:avLst/>
            <a:gdLst/>
            <a:ahLst/>
            <a:cxnLst/>
            <a:rect r="r" b="b" t="t" l="l"/>
            <a:pathLst>
              <a:path h="332974" w="723219">
                <a:moveTo>
                  <a:pt x="0" y="0"/>
                </a:moveTo>
                <a:lnTo>
                  <a:pt x="723218" y="0"/>
                </a:lnTo>
                <a:lnTo>
                  <a:pt x="723218" y="332974"/>
                </a:lnTo>
                <a:lnTo>
                  <a:pt x="0" y="3329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5"/>
            <a:stretch>
              <a:fillRect l="10265" t="3623" r="-2" b="8293"/>
            </a:stretch>
          </a:blipFill>
        </p:spPr>
      </p:sp>
      <p:sp>
        <p:nvSpPr>
          <p:cNvPr name="Freeform 15" id="15"/>
          <p:cNvSpPr/>
          <p:nvPr/>
        </p:nvSpPr>
        <p:spPr>
          <a:xfrm flipH="false" flipV="false" rot="1800000">
            <a:off x="16766488" y="2995848"/>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6"/>
            <a:stretch>
              <a:fillRect l="525" t="15594" r="10373" b="966"/>
            </a:stretch>
          </a:blipFill>
        </p:spPr>
      </p:sp>
      <p:sp>
        <p:nvSpPr>
          <p:cNvPr name="Freeform 16" id="16"/>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7"/>
            <a:stretch>
              <a:fillRect l="3912" t="13374" r="23842" b="0"/>
            </a:stretch>
          </a:blipFill>
        </p:spPr>
      </p:sp>
      <p:sp>
        <p:nvSpPr>
          <p:cNvPr name="Freeform 17" id="17"/>
          <p:cNvSpPr/>
          <p:nvPr/>
        </p:nvSpPr>
        <p:spPr>
          <a:xfrm flipH="false" flipV="false" rot="3600000">
            <a:off x="14086644" y="195992"/>
            <a:ext cx="3022517" cy="2503563"/>
          </a:xfrm>
          <a:custGeom>
            <a:avLst/>
            <a:gdLst/>
            <a:ahLst/>
            <a:cxnLst/>
            <a:rect r="r" b="b" t="t" l="l"/>
            <a:pathLst>
              <a:path h="2503563" w="3022517">
                <a:moveTo>
                  <a:pt x="0" y="0"/>
                </a:moveTo>
                <a:lnTo>
                  <a:pt x="3022517" y="0"/>
                </a:lnTo>
                <a:lnTo>
                  <a:pt x="3022517" y="2503563"/>
                </a:lnTo>
                <a:lnTo>
                  <a:pt x="0" y="2503563"/>
                </a:lnTo>
                <a:lnTo>
                  <a:pt x="0" y="0"/>
                </a:lnTo>
                <a:close/>
              </a:path>
            </a:pathLst>
          </a:custGeom>
          <a:blipFill>
            <a:blip r:embed="rId8"/>
            <a:stretch>
              <a:fillRect l="-1041" t="0" r="-1041" b="0"/>
            </a:stretch>
          </a:blipFill>
        </p:spPr>
      </p:sp>
      <p:sp>
        <p:nvSpPr>
          <p:cNvPr name="Freeform 18" id="18"/>
          <p:cNvSpPr/>
          <p:nvPr/>
        </p:nvSpPr>
        <p:spPr>
          <a:xfrm flipH="false" flipV="false" rot="0">
            <a:off x="13971762" y="6153741"/>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9"/>
            <a:stretch>
              <a:fillRect l="0" t="0" r="0" b="0"/>
            </a:stretch>
          </a:blipFill>
        </p:spPr>
      </p:sp>
      <p:sp>
        <p:nvSpPr>
          <p:cNvPr name="Freeform 19" id="19"/>
          <p:cNvSpPr/>
          <p:nvPr/>
        </p:nvSpPr>
        <p:spPr>
          <a:xfrm flipH="false" flipV="false" rot="0">
            <a:off x="12457181" y="1179021"/>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0"/>
            <a:stretch>
              <a:fillRect l="14395" t="21072" r="15182" b="20634"/>
            </a:stretch>
          </a:blipFill>
        </p:spPr>
      </p:sp>
      <p:sp>
        <p:nvSpPr>
          <p:cNvPr name="Freeform 20" id="20"/>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1"/>
            <a:stretch>
              <a:fillRect l="20526" t="10668" r="10720" b="6217"/>
            </a:stretch>
          </a:blipFill>
        </p:spPr>
      </p:sp>
      <p:grpSp>
        <p:nvGrpSpPr>
          <p:cNvPr name="Group 21" id="21"/>
          <p:cNvGrpSpPr/>
          <p:nvPr/>
        </p:nvGrpSpPr>
        <p:grpSpPr>
          <a:xfrm rot="0">
            <a:off x="7710825" y="6805620"/>
            <a:ext cx="2866351" cy="469638"/>
            <a:chOff x="0" y="0"/>
            <a:chExt cx="3821802" cy="626184"/>
          </a:xfrm>
        </p:grpSpPr>
        <p:sp>
          <p:nvSpPr>
            <p:cNvPr name="Freeform 22" id="22"/>
            <p:cNvSpPr/>
            <p:nvPr/>
          </p:nvSpPr>
          <p:spPr>
            <a:xfrm flipH="false" flipV="false" rot="0">
              <a:off x="0" y="0"/>
              <a:ext cx="3821811" cy="626237"/>
            </a:xfrm>
            <a:custGeom>
              <a:avLst/>
              <a:gdLst/>
              <a:ahLst/>
              <a:cxnLst/>
              <a:rect r="r" b="b" t="t" l="l"/>
              <a:pathLst>
                <a:path h="626237" w="3821811">
                  <a:moveTo>
                    <a:pt x="284734" y="0"/>
                  </a:moveTo>
                  <a:lnTo>
                    <a:pt x="1846580" y="0"/>
                  </a:lnTo>
                  <a:lnTo>
                    <a:pt x="1975231" y="0"/>
                  </a:lnTo>
                  <a:lnTo>
                    <a:pt x="3537077" y="0"/>
                  </a:lnTo>
                  <a:cubicBezTo>
                    <a:pt x="3694303" y="0"/>
                    <a:pt x="3821811" y="117856"/>
                    <a:pt x="3821811" y="263017"/>
                  </a:cubicBezTo>
                  <a:lnTo>
                    <a:pt x="3821811" y="363220"/>
                  </a:lnTo>
                  <a:cubicBezTo>
                    <a:pt x="3821811" y="508381"/>
                    <a:pt x="3694176" y="626237"/>
                    <a:pt x="3537077" y="626237"/>
                  </a:cubicBezTo>
                  <a:lnTo>
                    <a:pt x="1975231" y="626237"/>
                  </a:lnTo>
                  <a:lnTo>
                    <a:pt x="1846580" y="626237"/>
                  </a:lnTo>
                  <a:lnTo>
                    <a:pt x="284734" y="626237"/>
                  </a:lnTo>
                  <a:cubicBezTo>
                    <a:pt x="127635" y="626237"/>
                    <a:pt x="0" y="508381"/>
                    <a:pt x="0" y="363220"/>
                  </a:cubicBezTo>
                  <a:lnTo>
                    <a:pt x="0" y="263017"/>
                  </a:lnTo>
                  <a:cubicBezTo>
                    <a:pt x="0" y="117856"/>
                    <a:pt x="127635" y="0"/>
                    <a:pt x="284734" y="0"/>
                  </a:cubicBezTo>
                  <a:close/>
                </a:path>
              </a:pathLst>
            </a:custGeom>
            <a:solidFill>
              <a:srgbClr val="81211A"/>
            </a:solidFill>
          </p:spPr>
        </p:sp>
      </p:grpSp>
      <p:sp>
        <p:nvSpPr>
          <p:cNvPr name="TextBox 23" id="23"/>
          <p:cNvSpPr txBox="true"/>
          <p:nvPr/>
        </p:nvSpPr>
        <p:spPr>
          <a:xfrm rot="0">
            <a:off x="7951772" y="6811254"/>
            <a:ext cx="2384458" cy="6762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FFFFFF"/>
                </a:solidFill>
                <a:latin typeface="王漢宗特黑體"/>
                <a:ea typeface="王漢宗特黑體"/>
                <a:cs typeface="王漢宗特黑體"/>
                <a:sym typeface="王漢宗特黑體"/>
              </a:rPr>
              <a:t>20XX年XX月XX日</a:t>
            </a:r>
          </a:p>
        </p:txBody>
      </p:sp>
      <p:sp>
        <p:nvSpPr>
          <p:cNvPr name="Freeform 24" id="24"/>
          <p:cNvSpPr/>
          <p:nvPr/>
        </p:nvSpPr>
        <p:spPr>
          <a:xfrm flipH="false" flipV="false" rot="0">
            <a:off x="1208008" y="630687"/>
            <a:ext cx="1819600" cy="225956"/>
          </a:xfrm>
          <a:custGeom>
            <a:avLst/>
            <a:gdLst/>
            <a:ahLst/>
            <a:cxnLst/>
            <a:rect r="r" b="b" t="t" l="l"/>
            <a:pathLst>
              <a:path h="225956" w="1819600">
                <a:moveTo>
                  <a:pt x="0" y="0"/>
                </a:moveTo>
                <a:lnTo>
                  <a:pt x="1819601" y="0"/>
                </a:lnTo>
                <a:lnTo>
                  <a:pt x="1819601" y="225955"/>
                </a:lnTo>
                <a:lnTo>
                  <a:pt x="0" y="2259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606219" y="503781"/>
            <a:ext cx="479769" cy="479769"/>
          </a:xfrm>
          <a:custGeom>
            <a:avLst/>
            <a:gdLst/>
            <a:ahLst/>
            <a:cxnLst/>
            <a:rect r="r" b="b" t="t" l="l"/>
            <a:pathLst>
              <a:path h="479769" w="479769">
                <a:moveTo>
                  <a:pt x="0" y="0"/>
                </a:moveTo>
                <a:lnTo>
                  <a:pt x="479769" y="0"/>
                </a:lnTo>
                <a:lnTo>
                  <a:pt x="479769" y="479769"/>
                </a:lnTo>
                <a:lnTo>
                  <a:pt x="0" y="479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10800000">
            <a:off x="-929" y="0"/>
            <a:ext cx="18375548" cy="3446890"/>
            <a:chOff x="0" y="0"/>
            <a:chExt cx="24500730" cy="4595854"/>
          </a:xfrm>
        </p:grpSpPr>
        <p:sp>
          <p:nvSpPr>
            <p:cNvPr name="Freeform 5" id="5"/>
            <p:cNvSpPr/>
            <p:nvPr/>
          </p:nvSpPr>
          <p:spPr>
            <a:xfrm flipH="false" flipV="false" rot="0">
              <a:off x="0" y="0"/>
              <a:ext cx="24500714" cy="4595876"/>
            </a:xfrm>
            <a:custGeom>
              <a:avLst/>
              <a:gdLst/>
              <a:ahLst/>
              <a:cxnLst/>
              <a:rect r="r" b="b" t="t" l="l"/>
              <a:pathLst>
                <a:path h="4595876" w="24500714">
                  <a:moveTo>
                    <a:pt x="24500712" y="4595876"/>
                  </a:moveTo>
                  <a:lnTo>
                    <a:pt x="111379" y="4595876"/>
                  </a:lnTo>
                  <a:lnTo>
                    <a:pt x="90424" y="4572889"/>
                  </a:lnTo>
                  <a:cubicBezTo>
                    <a:pt x="32131" y="4491228"/>
                    <a:pt x="0" y="4401439"/>
                    <a:pt x="0" y="4307332"/>
                  </a:cubicBezTo>
                  <a:lnTo>
                    <a:pt x="0" y="1285367"/>
                  </a:lnTo>
                  <a:cubicBezTo>
                    <a:pt x="0" y="908558"/>
                    <a:pt x="514731" y="602996"/>
                    <a:pt x="1149858" y="602996"/>
                  </a:cubicBezTo>
                  <a:lnTo>
                    <a:pt x="20447000" y="602996"/>
                  </a:lnTo>
                  <a:lnTo>
                    <a:pt x="21551900" y="0"/>
                  </a:lnTo>
                  <a:lnTo>
                    <a:pt x="22656800" y="602996"/>
                  </a:lnTo>
                  <a:lnTo>
                    <a:pt x="24500714" y="602996"/>
                  </a:lnTo>
                  <a:close/>
                </a:path>
              </a:pathLst>
            </a:custGeom>
            <a:solidFill>
              <a:srgbClr val="E9A65D"/>
            </a:solidFill>
          </p:spPr>
        </p:sp>
      </p:grpSp>
      <p:sp>
        <p:nvSpPr>
          <p:cNvPr name="Freeform 6" id="6"/>
          <p:cNvSpPr/>
          <p:nvPr/>
        </p:nvSpPr>
        <p:spPr>
          <a:xfrm flipH="false" flipV="false" rot="0">
            <a:off x="-2434425" y="-403118"/>
            <a:ext cx="21178347" cy="4135604"/>
          </a:xfrm>
          <a:custGeom>
            <a:avLst/>
            <a:gdLst/>
            <a:ahLst/>
            <a:cxnLst/>
            <a:rect r="r" b="b" t="t" l="l"/>
            <a:pathLst>
              <a:path h="4135604" w="21178347">
                <a:moveTo>
                  <a:pt x="0" y="0"/>
                </a:moveTo>
                <a:lnTo>
                  <a:pt x="21178347" y="0"/>
                </a:lnTo>
                <a:lnTo>
                  <a:pt x="21178347" y="4135604"/>
                </a:lnTo>
                <a:lnTo>
                  <a:pt x="0" y="41356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316563" y="986373"/>
            <a:ext cx="9929811" cy="1552575"/>
          </a:xfrm>
          <a:prstGeom prst="rect">
            <a:avLst/>
          </a:prstGeom>
        </p:spPr>
        <p:txBody>
          <a:bodyPr anchor="t" rtlCol="false" tIns="0" lIns="0" bIns="0" rIns="0">
            <a:spAutoFit/>
          </a:bodyPr>
          <a:lstStyle/>
          <a:p>
            <a:pPr algn="l" marL="0" indent="0" lvl="0">
              <a:lnSpc>
                <a:spcPts val="10800"/>
              </a:lnSpc>
              <a:spcBef>
                <a:spcPct val="0"/>
              </a:spcBef>
            </a:pPr>
            <a:r>
              <a:rPr lang="en-US" sz="9000" strike="noStrike" u="none">
                <a:solidFill>
                  <a:srgbClr val="FFFFFF"/>
                </a:solidFill>
                <a:latin typeface="王漢宗特黑體"/>
                <a:ea typeface="王漢宗特黑體"/>
                <a:cs typeface="王漢宗特黑體"/>
                <a:sym typeface="王漢宗特黑體"/>
              </a:rPr>
              <a:t>內容</a:t>
            </a:r>
          </a:p>
        </p:txBody>
      </p:sp>
      <p:grpSp>
        <p:nvGrpSpPr>
          <p:cNvPr name="Group 8" id="8"/>
          <p:cNvGrpSpPr/>
          <p:nvPr/>
        </p:nvGrpSpPr>
        <p:grpSpPr>
          <a:xfrm rot="0">
            <a:off x="1676386" y="4854116"/>
            <a:ext cx="500061" cy="500061"/>
            <a:chOff x="0" y="0"/>
            <a:chExt cx="666748" cy="666748"/>
          </a:xfrm>
        </p:grpSpPr>
        <p:sp>
          <p:nvSpPr>
            <p:cNvPr name="Freeform 9" id="9"/>
            <p:cNvSpPr/>
            <p:nvPr/>
          </p:nvSpPr>
          <p:spPr>
            <a:xfrm flipH="false" flipV="false" rot="0">
              <a:off x="0" y="0"/>
              <a:ext cx="666750" cy="666750"/>
            </a:xfrm>
            <a:custGeom>
              <a:avLst/>
              <a:gdLst/>
              <a:ahLst/>
              <a:cxnLst/>
              <a:rect r="r" b="b" t="t" l="l"/>
              <a:pathLst>
                <a:path h="666750" w="666750">
                  <a:moveTo>
                    <a:pt x="0" y="333375"/>
                  </a:moveTo>
                  <a:cubicBezTo>
                    <a:pt x="0" y="149225"/>
                    <a:pt x="149225" y="0"/>
                    <a:pt x="333375" y="0"/>
                  </a:cubicBezTo>
                  <a:cubicBezTo>
                    <a:pt x="517525" y="0"/>
                    <a:pt x="666750" y="149225"/>
                    <a:pt x="666750" y="333375"/>
                  </a:cubicBezTo>
                  <a:cubicBezTo>
                    <a:pt x="666750" y="517525"/>
                    <a:pt x="517525" y="666750"/>
                    <a:pt x="333375" y="666750"/>
                  </a:cubicBezTo>
                  <a:cubicBezTo>
                    <a:pt x="149225" y="666750"/>
                    <a:pt x="0" y="517525"/>
                    <a:pt x="0" y="333375"/>
                  </a:cubicBezTo>
                  <a:close/>
                </a:path>
              </a:pathLst>
            </a:custGeom>
            <a:solidFill>
              <a:srgbClr val="F8E0DE"/>
            </a:solidFill>
          </p:spPr>
        </p:sp>
      </p:grpSp>
      <p:grpSp>
        <p:nvGrpSpPr>
          <p:cNvPr name="Group 10" id="10"/>
          <p:cNvGrpSpPr/>
          <p:nvPr/>
        </p:nvGrpSpPr>
        <p:grpSpPr>
          <a:xfrm rot="0">
            <a:off x="1676386" y="6828770"/>
            <a:ext cx="500061" cy="500061"/>
            <a:chOff x="0" y="0"/>
            <a:chExt cx="666748" cy="666748"/>
          </a:xfrm>
        </p:grpSpPr>
        <p:sp>
          <p:nvSpPr>
            <p:cNvPr name="Freeform 11" id="11"/>
            <p:cNvSpPr/>
            <p:nvPr/>
          </p:nvSpPr>
          <p:spPr>
            <a:xfrm flipH="false" flipV="false" rot="0">
              <a:off x="0" y="0"/>
              <a:ext cx="666750" cy="666750"/>
            </a:xfrm>
            <a:custGeom>
              <a:avLst/>
              <a:gdLst/>
              <a:ahLst/>
              <a:cxnLst/>
              <a:rect r="r" b="b" t="t" l="l"/>
              <a:pathLst>
                <a:path h="666750" w="666750">
                  <a:moveTo>
                    <a:pt x="0" y="333375"/>
                  </a:moveTo>
                  <a:cubicBezTo>
                    <a:pt x="0" y="149225"/>
                    <a:pt x="149225" y="0"/>
                    <a:pt x="333375" y="0"/>
                  </a:cubicBezTo>
                  <a:cubicBezTo>
                    <a:pt x="517525" y="0"/>
                    <a:pt x="666750" y="149225"/>
                    <a:pt x="666750" y="333375"/>
                  </a:cubicBezTo>
                  <a:cubicBezTo>
                    <a:pt x="666750" y="517525"/>
                    <a:pt x="517525" y="666750"/>
                    <a:pt x="333375" y="666750"/>
                  </a:cubicBezTo>
                  <a:cubicBezTo>
                    <a:pt x="149225" y="666750"/>
                    <a:pt x="0" y="517525"/>
                    <a:pt x="0" y="333375"/>
                  </a:cubicBezTo>
                  <a:close/>
                </a:path>
              </a:pathLst>
            </a:custGeom>
            <a:solidFill>
              <a:srgbClr val="F8E0DE"/>
            </a:solidFill>
          </p:spPr>
        </p:sp>
      </p:grpSp>
      <p:grpSp>
        <p:nvGrpSpPr>
          <p:cNvPr name="Group 12" id="12"/>
          <p:cNvGrpSpPr/>
          <p:nvPr/>
        </p:nvGrpSpPr>
        <p:grpSpPr>
          <a:xfrm rot="0">
            <a:off x="9921030" y="4871260"/>
            <a:ext cx="500061" cy="500061"/>
            <a:chOff x="0" y="0"/>
            <a:chExt cx="666748" cy="666748"/>
          </a:xfrm>
        </p:grpSpPr>
        <p:sp>
          <p:nvSpPr>
            <p:cNvPr name="Freeform 13" id="13"/>
            <p:cNvSpPr/>
            <p:nvPr/>
          </p:nvSpPr>
          <p:spPr>
            <a:xfrm flipH="false" flipV="false" rot="0">
              <a:off x="0" y="0"/>
              <a:ext cx="666750" cy="666750"/>
            </a:xfrm>
            <a:custGeom>
              <a:avLst/>
              <a:gdLst/>
              <a:ahLst/>
              <a:cxnLst/>
              <a:rect r="r" b="b" t="t" l="l"/>
              <a:pathLst>
                <a:path h="666750" w="666750">
                  <a:moveTo>
                    <a:pt x="0" y="333375"/>
                  </a:moveTo>
                  <a:cubicBezTo>
                    <a:pt x="0" y="149225"/>
                    <a:pt x="149225" y="0"/>
                    <a:pt x="333375" y="0"/>
                  </a:cubicBezTo>
                  <a:cubicBezTo>
                    <a:pt x="517525" y="0"/>
                    <a:pt x="666750" y="149225"/>
                    <a:pt x="666750" y="333375"/>
                  </a:cubicBezTo>
                  <a:cubicBezTo>
                    <a:pt x="666750" y="517525"/>
                    <a:pt x="517525" y="666750"/>
                    <a:pt x="333375" y="666750"/>
                  </a:cubicBezTo>
                  <a:cubicBezTo>
                    <a:pt x="149225" y="666750"/>
                    <a:pt x="0" y="517525"/>
                    <a:pt x="0" y="333375"/>
                  </a:cubicBezTo>
                  <a:close/>
                </a:path>
              </a:pathLst>
            </a:custGeom>
            <a:solidFill>
              <a:srgbClr val="F8E0DE"/>
            </a:solidFill>
          </p:spPr>
        </p:sp>
      </p:grpSp>
      <p:sp>
        <p:nvSpPr>
          <p:cNvPr name="TextBox 14" id="14"/>
          <p:cNvSpPr txBox="true"/>
          <p:nvPr/>
        </p:nvSpPr>
        <p:spPr>
          <a:xfrm rot="0">
            <a:off x="1676386" y="4817582"/>
            <a:ext cx="1242000" cy="1133475"/>
          </a:xfrm>
          <a:prstGeom prst="rect">
            <a:avLst/>
          </a:prstGeom>
        </p:spPr>
        <p:txBody>
          <a:bodyPr anchor="t" rtlCol="false" tIns="0" lIns="0" bIns="0" rIns="0">
            <a:spAutoFit/>
          </a:bodyPr>
          <a:lstStyle/>
          <a:p>
            <a:pPr algn="l" marL="0" indent="0" lvl="0">
              <a:lnSpc>
                <a:spcPts val="7920"/>
              </a:lnSpc>
              <a:spcBef>
                <a:spcPct val="0"/>
              </a:spcBef>
            </a:pPr>
            <a:r>
              <a:rPr lang="en-US" sz="6600" strike="noStrike" u="none">
                <a:solidFill>
                  <a:srgbClr val="E9A65D"/>
                </a:solidFill>
                <a:latin typeface="王漢宗特黑體"/>
                <a:ea typeface="王漢宗特黑體"/>
                <a:cs typeface="王漢宗特黑體"/>
                <a:sym typeface="王漢宗特黑體"/>
              </a:rPr>
              <a:t>01</a:t>
            </a:r>
          </a:p>
        </p:txBody>
      </p:sp>
      <p:sp>
        <p:nvSpPr>
          <p:cNvPr name="TextBox 15" id="15"/>
          <p:cNvSpPr txBox="true"/>
          <p:nvPr/>
        </p:nvSpPr>
        <p:spPr>
          <a:xfrm rot="0">
            <a:off x="2992374" y="5174994"/>
            <a:ext cx="6048000" cy="466725"/>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王漢宗特黑體"/>
                <a:ea typeface="王漢宗特黑體"/>
                <a:cs typeface="王漢宗特黑體"/>
                <a:sym typeface="王漢宗特黑體"/>
              </a:rPr>
              <a:t>酷英語概述</a:t>
            </a:r>
          </a:p>
        </p:txBody>
      </p:sp>
      <p:sp>
        <p:nvSpPr>
          <p:cNvPr name="TextBox 16" id="16"/>
          <p:cNvSpPr txBox="true"/>
          <p:nvPr/>
        </p:nvSpPr>
        <p:spPr>
          <a:xfrm rot="0">
            <a:off x="1676386" y="6764613"/>
            <a:ext cx="1242000" cy="1133475"/>
          </a:xfrm>
          <a:prstGeom prst="rect">
            <a:avLst/>
          </a:prstGeom>
        </p:spPr>
        <p:txBody>
          <a:bodyPr anchor="t" rtlCol="false" tIns="0" lIns="0" bIns="0" rIns="0">
            <a:spAutoFit/>
          </a:bodyPr>
          <a:lstStyle/>
          <a:p>
            <a:pPr algn="l" marL="0" indent="0" lvl="0">
              <a:lnSpc>
                <a:spcPts val="7920"/>
              </a:lnSpc>
              <a:spcBef>
                <a:spcPct val="0"/>
              </a:spcBef>
            </a:pPr>
            <a:r>
              <a:rPr lang="en-US" sz="6600" strike="noStrike" u="none">
                <a:solidFill>
                  <a:srgbClr val="E9A65D"/>
                </a:solidFill>
                <a:latin typeface="王漢宗特黑體"/>
                <a:ea typeface="王漢宗特黑體"/>
                <a:cs typeface="王漢宗特黑體"/>
                <a:sym typeface="王漢宗特黑體"/>
              </a:rPr>
              <a:t>02</a:t>
            </a:r>
          </a:p>
        </p:txBody>
      </p:sp>
      <p:sp>
        <p:nvSpPr>
          <p:cNvPr name="TextBox 17" id="17"/>
          <p:cNvSpPr txBox="true"/>
          <p:nvPr/>
        </p:nvSpPr>
        <p:spPr>
          <a:xfrm rot="0">
            <a:off x="2992374" y="7122026"/>
            <a:ext cx="6048000" cy="466725"/>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王漢宗特黑體"/>
                <a:ea typeface="王漢宗特黑體"/>
                <a:cs typeface="王漢宗特黑體"/>
                <a:sym typeface="王漢宗特黑體"/>
              </a:rPr>
              <a:t>酷英語的優勢</a:t>
            </a:r>
          </a:p>
        </p:txBody>
      </p:sp>
      <p:sp>
        <p:nvSpPr>
          <p:cNvPr name="TextBox 18" id="18"/>
          <p:cNvSpPr txBox="true"/>
          <p:nvPr/>
        </p:nvSpPr>
        <p:spPr>
          <a:xfrm rot="0">
            <a:off x="9921030" y="4817582"/>
            <a:ext cx="1242000" cy="1133475"/>
          </a:xfrm>
          <a:prstGeom prst="rect">
            <a:avLst/>
          </a:prstGeom>
        </p:spPr>
        <p:txBody>
          <a:bodyPr anchor="t" rtlCol="false" tIns="0" lIns="0" bIns="0" rIns="0">
            <a:spAutoFit/>
          </a:bodyPr>
          <a:lstStyle/>
          <a:p>
            <a:pPr algn="l" marL="0" indent="0" lvl="0">
              <a:lnSpc>
                <a:spcPts val="7920"/>
              </a:lnSpc>
              <a:spcBef>
                <a:spcPct val="0"/>
              </a:spcBef>
            </a:pPr>
            <a:r>
              <a:rPr lang="en-US" sz="6600" strike="noStrike" u="none">
                <a:solidFill>
                  <a:srgbClr val="E9A65D"/>
                </a:solidFill>
                <a:latin typeface="王漢宗特黑體"/>
                <a:ea typeface="王漢宗特黑體"/>
                <a:cs typeface="王漢宗特黑體"/>
                <a:sym typeface="王漢宗特黑體"/>
              </a:rPr>
              <a:t>03</a:t>
            </a:r>
          </a:p>
        </p:txBody>
      </p:sp>
      <p:sp>
        <p:nvSpPr>
          <p:cNvPr name="TextBox 19" id="19"/>
          <p:cNvSpPr txBox="true"/>
          <p:nvPr/>
        </p:nvSpPr>
        <p:spPr>
          <a:xfrm rot="0">
            <a:off x="11230350" y="5174994"/>
            <a:ext cx="6048000" cy="466725"/>
          </a:xfrm>
          <a:prstGeom prst="rect">
            <a:avLst/>
          </a:prstGeom>
        </p:spPr>
        <p:txBody>
          <a:bodyPr anchor="t" rtlCol="false" tIns="0" lIns="0" bIns="0" rIns="0">
            <a:spAutoFit/>
          </a:bodyPr>
          <a:lstStyle/>
          <a:p>
            <a:pPr algn="l" marL="0" indent="0" lvl="0">
              <a:lnSpc>
                <a:spcPts val="3240"/>
              </a:lnSpc>
              <a:spcBef>
                <a:spcPct val="0"/>
              </a:spcBef>
            </a:pPr>
            <a:r>
              <a:rPr lang="en-US" sz="2700" strike="noStrike" u="none">
                <a:solidFill>
                  <a:srgbClr val="262626"/>
                </a:solidFill>
                <a:latin typeface="王漢宗特黑體"/>
                <a:ea typeface="王漢宗特黑體"/>
                <a:cs typeface="王漢宗特黑體"/>
                <a:sym typeface="王漢宗特黑體"/>
              </a:rPr>
              <a:t>酷英語挑戰</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00548"/>
            <a:ext cx="10344081" cy="92392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王漢宗特黑體"/>
                <a:ea typeface="王漢宗特黑體"/>
                <a:cs typeface="王漢宗特黑體"/>
                <a:sym typeface="王漢宗特黑體"/>
              </a:rPr>
              <a:t>酷英語概述</a:t>
            </a:r>
          </a:p>
        </p:txBody>
      </p:sp>
      <p:sp>
        <p:nvSpPr>
          <p:cNvPr name="TextBox 13" id="13"/>
          <p:cNvSpPr txBox="true"/>
          <p:nvPr/>
        </p:nvSpPr>
        <p:spPr>
          <a:xfrm rot="0">
            <a:off x="6738512" y="1443297"/>
            <a:ext cx="4810978" cy="30956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王漢宗特黑體"/>
                <a:ea typeface="王漢宗特黑體"/>
                <a:cs typeface="王漢宗特黑體"/>
                <a:sym typeface="王漢宗特黑體"/>
              </a:rPr>
              <a:t>01</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Freeform 4" id="4"/>
          <p:cNvSpPr/>
          <p:nvPr/>
        </p:nvSpPr>
        <p:spPr>
          <a:xfrm flipH="false" flipV="false" rot="0">
            <a:off x="8537883" y="3396256"/>
            <a:ext cx="1193182" cy="68673"/>
          </a:xfrm>
          <a:custGeom>
            <a:avLst/>
            <a:gdLst/>
            <a:ahLst/>
            <a:cxnLst/>
            <a:rect r="r" b="b" t="t" l="l"/>
            <a:pathLst>
              <a:path h="68673" w="1193182">
                <a:moveTo>
                  <a:pt x="0" y="0"/>
                </a:moveTo>
                <a:lnTo>
                  <a:pt x="1193182" y="0"/>
                </a:lnTo>
                <a:lnTo>
                  <a:pt x="1193182" y="68674"/>
                </a:lnTo>
                <a:lnTo>
                  <a:pt x="0" y="68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4379446" y="2674593"/>
            <a:ext cx="1512000" cy="1512000"/>
            <a:chOff x="0" y="0"/>
            <a:chExt cx="2016000" cy="2016000"/>
          </a:xfrm>
        </p:grpSpPr>
        <p:sp>
          <p:nvSpPr>
            <p:cNvPr name="Freeform 6" id="6"/>
            <p:cNvSpPr/>
            <p:nvPr/>
          </p:nvSpPr>
          <p:spPr>
            <a:xfrm flipH="false" flipV="false" rot="0">
              <a:off x="0" y="0"/>
              <a:ext cx="2015998" cy="2015998"/>
            </a:xfrm>
            <a:custGeom>
              <a:avLst/>
              <a:gdLst/>
              <a:ahLst/>
              <a:cxnLst/>
              <a:rect r="r" b="b" t="t" l="l"/>
              <a:pathLst>
                <a:path h="2015998" w="2015998">
                  <a:moveTo>
                    <a:pt x="2015998" y="1007999"/>
                  </a:moveTo>
                  <a:cubicBezTo>
                    <a:pt x="2015998" y="1564640"/>
                    <a:pt x="1564640" y="2015998"/>
                    <a:pt x="1007999" y="2015998"/>
                  </a:cubicBezTo>
                  <a:cubicBezTo>
                    <a:pt x="451358" y="2015998"/>
                    <a:pt x="0" y="1564640"/>
                    <a:pt x="0" y="1007999"/>
                  </a:cubicBezTo>
                  <a:cubicBezTo>
                    <a:pt x="0" y="451358"/>
                    <a:pt x="451358" y="0"/>
                    <a:pt x="1007999" y="0"/>
                  </a:cubicBezTo>
                  <a:cubicBezTo>
                    <a:pt x="1564640" y="0"/>
                    <a:pt x="2015998" y="451358"/>
                    <a:pt x="2015998" y="1007999"/>
                  </a:cubicBezTo>
                  <a:close/>
                </a:path>
              </a:pathLst>
            </a:custGeom>
            <a:solidFill>
              <a:srgbClr val="E9A65D">
                <a:alpha val="7843"/>
              </a:srgbClr>
            </a:solidFill>
          </p:spPr>
        </p:sp>
      </p:grpSp>
      <p:grpSp>
        <p:nvGrpSpPr>
          <p:cNvPr name="Group 7" id="7"/>
          <p:cNvGrpSpPr/>
          <p:nvPr/>
        </p:nvGrpSpPr>
        <p:grpSpPr>
          <a:xfrm rot="0">
            <a:off x="4514445" y="2809593"/>
            <a:ext cx="1242000" cy="1242000"/>
            <a:chOff x="0" y="0"/>
            <a:chExt cx="1656000" cy="1656000"/>
          </a:xfrm>
        </p:grpSpPr>
        <p:sp>
          <p:nvSpPr>
            <p:cNvPr name="Freeform 8" id="8"/>
            <p:cNvSpPr/>
            <p:nvPr/>
          </p:nvSpPr>
          <p:spPr>
            <a:xfrm flipH="false" flipV="false" rot="0">
              <a:off x="0" y="0"/>
              <a:ext cx="1656080" cy="1656080"/>
            </a:xfrm>
            <a:custGeom>
              <a:avLst/>
              <a:gdLst/>
              <a:ahLst/>
              <a:cxnLst/>
              <a:rect r="r" b="b" t="t" l="l"/>
              <a:pathLst>
                <a:path h="1656080" w="1656080">
                  <a:moveTo>
                    <a:pt x="1655953" y="828040"/>
                  </a:moveTo>
                  <a:cubicBezTo>
                    <a:pt x="1655953" y="1285367"/>
                    <a:pt x="1285240" y="1656080"/>
                    <a:pt x="827913" y="1656080"/>
                  </a:cubicBezTo>
                  <a:cubicBezTo>
                    <a:pt x="370586" y="1656080"/>
                    <a:pt x="0" y="1285240"/>
                    <a:pt x="0" y="828040"/>
                  </a:cubicBezTo>
                  <a:cubicBezTo>
                    <a:pt x="0" y="370840"/>
                    <a:pt x="370713" y="0"/>
                    <a:pt x="828040" y="0"/>
                  </a:cubicBezTo>
                  <a:cubicBezTo>
                    <a:pt x="1285367" y="0"/>
                    <a:pt x="1656080" y="370713"/>
                    <a:pt x="1656080" y="828040"/>
                  </a:cubicBezTo>
                  <a:close/>
                </a:path>
              </a:pathLst>
            </a:custGeom>
            <a:solidFill>
              <a:srgbClr val="E9A65D"/>
            </a:solidFill>
          </p:spPr>
        </p:sp>
      </p:grpSp>
      <p:sp>
        <p:nvSpPr>
          <p:cNvPr name="Freeform 9" id="9"/>
          <p:cNvSpPr/>
          <p:nvPr/>
        </p:nvSpPr>
        <p:spPr>
          <a:xfrm flipH="false" flipV="false" rot="0">
            <a:off x="4838445" y="3133593"/>
            <a:ext cx="594000" cy="594000"/>
          </a:xfrm>
          <a:custGeom>
            <a:avLst/>
            <a:gdLst/>
            <a:ahLst/>
            <a:cxnLst/>
            <a:rect r="r" b="b" t="t" l="l"/>
            <a:pathLst>
              <a:path h="594000" w="594000">
                <a:moveTo>
                  <a:pt x="0" y="0"/>
                </a:moveTo>
                <a:lnTo>
                  <a:pt x="594000" y="0"/>
                </a:lnTo>
                <a:lnTo>
                  <a:pt x="594000" y="594000"/>
                </a:lnTo>
                <a:lnTo>
                  <a:pt x="0" y="594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2377505" y="2674593"/>
            <a:ext cx="1512000" cy="1512000"/>
            <a:chOff x="0" y="0"/>
            <a:chExt cx="2016000" cy="2016000"/>
          </a:xfrm>
        </p:grpSpPr>
        <p:sp>
          <p:nvSpPr>
            <p:cNvPr name="Freeform 11" id="11"/>
            <p:cNvSpPr/>
            <p:nvPr/>
          </p:nvSpPr>
          <p:spPr>
            <a:xfrm flipH="false" flipV="false" rot="0">
              <a:off x="0" y="0"/>
              <a:ext cx="2015998" cy="2015998"/>
            </a:xfrm>
            <a:custGeom>
              <a:avLst/>
              <a:gdLst/>
              <a:ahLst/>
              <a:cxnLst/>
              <a:rect r="r" b="b" t="t" l="l"/>
              <a:pathLst>
                <a:path h="2015998" w="2015998">
                  <a:moveTo>
                    <a:pt x="2015998" y="1007999"/>
                  </a:moveTo>
                  <a:cubicBezTo>
                    <a:pt x="2015998" y="1564640"/>
                    <a:pt x="1564640" y="2015998"/>
                    <a:pt x="1007999" y="2015998"/>
                  </a:cubicBezTo>
                  <a:cubicBezTo>
                    <a:pt x="451358" y="2015998"/>
                    <a:pt x="0" y="1564640"/>
                    <a:pt x="0" y="1007999"/>
                  </a:cubicBezTo>
                  <a:cubicBezTo>
                    <a:pt x="0" y="451358"/>
                    <a:pt x="451358" y="0"/>
                    <a:pt x="1007999" y="0"/>
                  </a:cubicBezTo>
                  <a:cubicBezTo>
                    <a:pt x="1564640" y="0"/>
                    <a:pt x="2015998" y="451358"/>
                    <a:pt x="2015998" y="1007999"/>
                  </a:cubicBezTo>
                  <a:close/>
                </a:path>
              </a:pathLst>
            </a:custGeom>
            <a:solidFill>
              <a:srgbClr val="DE6258">
                <a:alpha val="7843"/>
              </a:srgbClr>
            </a:solidFill>
          </p:spPr>
        </p:sp>
      </p:grpSp>
      <p:grpSp>
        <p:nvGrpSpPr>
          <p:cNvPr name="Group 12" id="12"/>
          <p:cNvGrpSpPr/>
          <p:nvPr/>
        </p:nvGrpSpPr>
        <p:grpSpPr>
          <a:xfrm rot="0">
            <a:off x="12512505" y="2809593"/>
            <a:ext cx="1242000" cy="1242000"/>
            <a:chOff x="0" y="0"/>
            <a:chExt cx="1656000" cy="1656000"/>
          </a:xfrm>
        </p:grpSpPr>
        <p:sp>
          <p:nvSpPr>
            <p:cNvPr name="Freeform 13" id="13"/>
            <p:cNvSpPr/>
            <p:nvPr/>
          </p:nvSpPr>
          <p:spPr>
            <a:xfrm flipH="false" flipV="false" rot="0">
              <a:off x="0" y="0"/>
              <a:ext cx="1656080" cy="1656080"/>
            </a:xfrm>
            <a:custGeom>
              <a:avLst/>
              <a:gdLst/>
              <a:ahLst/>
              <a:cxnLst/>
              <a:rect r="r" b="b" t="t" l="l"/>
              <a:pathLst>
                <a:path h="1656080" w="1656080">
                  <a:moveTo>
                    <a:pt x="1655953" y="828040"/>
                  </a:moveTo>
                  <a:cubicBezTo>
                    <a:pt x="1655953" y="1285367"/>
                    <a:pt x="1285240" y="1656080"/>
                    <a:pt x="827913" y="1656080"/>
                  </a:cubicBezTo>
                  <a:cubicBezTo>
                    <a:pt x="370586" y="1656080"/>
                    <a:pt x="0" y="1285240"/>
                    <a:pt x="0" y="828040"/>
                  </a:cubicBezTo>
                  <a:cubicBezTo>
                    <a:pt x="0" y="370840"/>
                    <a:pt x="370713" y="0"/>
                    <a:pt x="828040" y="0"/>
                  </a:cubicBezTo>
                  <a:cubicBezTo>
                    <a:pt x="1285367" y="0"/>
                    <a:pt x="1656080" y="370713"/>
                    <a:pt x="1656080" y="828040"/>
                  </a:cubicBezTo>
                  <a:close/>
                </a:path>
              </a:pathLst>
            </a:custGeom>
            <a:solidFill>
              <a:srgbClr val="DE6258"/>
            </a:solidFill>
          </p:spPr>
        </p:sp>
      </p:grpSp>
      <p:sp>
        <p:nvSpPr>
          <p:cNvPr name="Freeform 14" id="14"/>
          <p:cNvSpPr/>
          <p:nvPr/>
        </p:nvSpPr>
        <p:spPr>
          <a:xfrm flipH="false" flipV="false" rot="0">
            <a:off x="12836548" y="3133593"/>
            <a:ext cx="593913" cy="594000"/>
          </a:xfrm>
          <a:custGeom>
            <a:avLst/>
            <a:gdLst/>
            <a:ahLst/>
            <a:cxnLst/>
            <a:rect r="r" b="b" t="t" l="l"/>
            <a:pathLst>
              <a:path h="594000" w="593913">
                <a:moveTo>
                  <a:pt x="0" y="0"/>
                </a:moveTo>
                <a:lnTo>
                  <a:pt x="593914" y="0"/>
                </a:lnTo>
                <a:lnTo>
                  <a:pt x="593914" y="594000"/>
                </a:lnTo>
                <a:lnTo>
                  <a:pt x="0" y="5940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585887" y="5208018"/>
            <a:ext cx="7099119"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酷英語成立背景</a:t>
            </a:r>
          </a:p>
        </p:txBody>
      </p:sp>
      <p:sp>
        <p:nvSpPr>
          <p:cNvPr name="TextBox 16" id="16"/>
          <p:cNvSpPr txBox="true"/>
          <p:nvPr/>
        </p:nvSpPr>
        <p:spPr>
          <a:xfrm rot="0">
            <a:off x="1585887" y="5712843"/>
            <a:ext cx="7099119" cy="1295400"/>
          </a:xfrm>
          <a:prstGeom prst="rect">
            <a:avLst/>
          </a:prstGeom>
        </p:spPr>
        <p:txBody>
          <a:bodyPr anchor="t" rtlCol="false" tIns="0" lIns="0" bIns="0" rIns="0">
            <a:spAutoFit/>
          </a:bodyPr>
          <a:lstStyle/>
          <a:p>
            <a:pPr algn="ctr" marL="0" indent="0" lvl="0">
              <a:lnSpc>
                <a:spcPts val="1708"/>
              </a:lnSpc>
              <a:spcBef>
                <a:spcPct val="0"/>
              </a:spcBef>
            </a:pPr>
            <a:r>
              <a:rPr lang="en-US" sz="1423" strike="noStrike" u="none">
                <a:solidFill>
                  <a:srgbClr val="262626"/>
                </a:solidFill>
                <a:latin typeface="王漢宗特黑體"/>
                <a:ea typeface="王漢宗特黑體"/>
                <a:cs typeface="王漢宗特黑體"/>
                <a:sym typeface="王漢宗特黑體"/>
              </a:rPr>
              <a:t>酷英語是教育部委託國立台灣師範大學英語系創建的免費英語線上學習平台，主要針對小學、國中、高中、職業高中學生。該平台旨在提高學生的英語水平，提供廣泛的英語學習資源，包括聽、說、讀、寫。</a:t>
            </a:r>
          </a:p>
          <a:p>
            <a:pPr algn="ctr" marL="0" indent="0" lvl="0">
              <a:lnSpc>
                <a:spcPts val="1708"/>
              </a:lnSpc>
              <a:spcBef>
                <a:spcPct val="0"/>
              </a:spcBef>
            </a:pPr>
            <a:r>
              <a:rPr lang="en-US" sz="1423" strike="noStrike" u="none">
                <a:solidFill>
                  <a:srgbClr val="262626"/>
                </a:solidFill>
                <a:latin typeface="王漢宗特黑體"/>
                <a:ea typeface="王漢宗特黑體"/>
                <a:cs typeface="王漢宗特黑體"/>
                <a:sym typeface="王漢宗特黑體"/>
              </a:rPr>
              <a:t>內容根據教育部英語教育學習目標設計，並在台灣師範大學英語教育專家監督下開發，確保教育品質。此外，由於它適合所有年級和程度的學生，因此可以根據每個學習者的個人需求量身定制學習。</a:t>
            </a:r>
          </a:p>
        </p:txBody>
      </p:sp>
      <p:sp>
        <p:nvSpPr>
          <p:cNvPr name="TextBox 17" id="17"/>
          <p:cNvSpPr txBox="true"/>
          <p:nvPr/>
        </p:nvSpPr>
        <p:spPr>
          <a:xfrm rot="0">
            <a:off x="9583944" y="5208018"/>
            <a:ext cx="7099119"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DE6258"/>
                </a:solidFill>
                <a:latin typeface="王漢宗特黑體"/>
                <a:ea typeface="王漢宗特黑體"/>
                <a:cs typeface="王漢宗特黑體"/>
                <a:sym typeface="王漢宗特黑體"/>
              </a:rPr>
              <a:t>主要特點</a:t>
            </a:r>
          </a:p>
        </p:txBody>
      </p:sp>
      <p:sp>
        <p:nvSpPr>
          <p:cNvPr name="TextBox 18" id="18"/>
          <p:cNvSpPr txBox="true"/>
          <p:nvPr/>
        </p:nvSpPr>
        <p:spPr>
          <a:xfrm rot="0">
            <a:off x="9583944" y="5712843"/>
            <a:ext cx="7099119" cy="1085850"/>
          </a:xfrm>
          <a:prstGeom prst="rect">
            <a:avLst/>
          </a:prstGeom>
        </p:spPr>
        <p:txBody>
          <a:bodyPr anchor="t" rtlCol="false" tIns="0" lIns="0" bIns="0" rIns="0">
            <a:spAutoFit/>
          </a:bodyPr>
          <a:lstStyle/>
          <a:p>
            <a:pPr algn="ctr" marL="0" indent="0" lvl="0">
              <a:lnSpc>
                <a:spcPts val="1708"/>
              </a:lnSpc>
              <a:spcBef>
                <a:spcPct val="0"/>
              </a:spcBef>
            </a:pPr>
            <a:r>
              <a:rPr lang="en-US" sz="1423" strike="noStrike" u="none">
                <a:solidFill>
                  <a:srgbClr val="262626"/>
                </a:solidFill>
                <a:latin typeface="王漢宗特黑體"/>
                <a:ea typeface="王漢宗特黑體"/>
                <a:cs typeface="王漢宗特黑體"/>
                <a:sym typeface="王漢宗特黑體"/>
              </a:rPr>
              <a:t>酷英語的主要功能包括風景動畫、主題詞彙練習、文法問答遊戲和角色扮演任務，所有這些都旨在幫助您以互動方式學習英語。它還包含“教材強化包”和“入學考試準備營”，幫助學生有效率地準備學習、複習和準備。</a:t>
            </a:r>
          </a:p>
          <a:p>
            <a:pPr algn="ctr" marL="0" indent="0" lvl="0">
              <a:lnSpc>
                <a:spcPts val="1708"/>
              </a:lnSpc>
              <a:spcBef>
                <a:spcPct val="0"/>
              </a:spcBef>
            </a:pPr>
            <a:r>
              <a:rPr lang="en-US" sz="1423" strike="noStrike" u="none">
                <a:solidFill>
                  <a:srgbClr val="262626"/>
                </a:solidFill>
                <a:latin typeface="王漢宗特黑體"/>
                <a:ea typeface="王漢宗特黑體"/>
                <a:cs typeface="王漢宗特黑體"/>
                <a:sym typeface="王漢宗特黑體"/>
              </a:rPr>
              <a:t>該平台為學生提供了獨立規劃學習和追蹤學習進度的能力，有助於學生自主學習能力的提升。此外，您還可以使用語音辨識和聽寫工具來培養實用的英語口語和聽力技能。</a:t>
            </a:r>
          </a:p>
        </p:txBody>
      </p:sp>
      <p:sp>
        <p:nvSpPr>
          <p:cNvPr name="TextBox 19" id="19"/>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飛台簡介</a:t>
            </a:r>
          </a:p>
        </p:txBody>
      </p:sp>
      <p:grpSp>
        <p:nvGrpSpPr>
          <p:cNvPr name="Group 20" id="20"/>
          <p:cNvGrpSpPr/>
          <p:nvPr/>
        </p:nvGrpSpPr>
        <p:grpSpPr>
          <a:xfrm rot="0">
            <a:off x="507207" y="541823"/>
            <a:ext cx="483393" cy="347514"/>
            <a:chOff x="0" y="0"/>
            <a:chExt cx="644524" cy="463352"/>
          </a:xfrm>
        </p:grpSpPr>
        <p:sp>
          <p:nvSpPr>
            <p:cNvPr name="Freeform 21" id="21"/>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2" id="22"/>
          <p:cNvGrpSpPr/>
          <p:nvPr/>
        </p:nvGrpSpPr>
        <p:grpSpPr>
          <a:xfrm rot="0">
            <a:off x="735807" y="974172"/>
            <a:ext cx="254793" cy="183173"/>
            <a:chOff x="0" y="0"/>
            <a:chExt cx="339724" cy="244230"/>
          </a:xfrm>
        </p:grpSpPr>
        <p:sp>
          <p:nvSpPr>
            <p:cNvPr name="Freeform 23" id="23"/>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4" id="24"/>
          <p:cNvGrpSpPr/>
          <p:nvPr/>
        </p:nvGrpSpPr>
        <p:grpSpPr>
          <a:xfrm rot="0">
            <a:off x="735807" y="1242180"/>
            <a:ext cx="254793" cy="183173"/>
            <a:chOff x="0" y="0"/>
            <a:chExt cx="339724" cy="244230"/>
          </a:xfrm>
        </p:grpSpPr>
        <p:sp>
          <p:nvSpPr>
            <p:cNvPr name="Freeform 25" id="25"/>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1800000">
            <a:off x="12369888" y="2857418"/>
            <a:ext cx="1620000" cy="2916000"/>
            <a:chOff x="0" y="0"/>
            <a:chExt cx="2160000" cy="3888000"/>
          </a:xfrm>
        </p:grpSpPr>
        <p:sp>
          <p:nvSpPr>
            <p:cNvPr name="Freeform 5" id="5"/>
            <p:cNvSpPr/>
            <p:nvPr/>
          </p:nvSpPr>
          <p:spPr>
            <a:xfrm flipH="false" flipV="false" rot="0">
              <a:off x="0" y="0"/>
              <a:ext cx="2160016" cy="3887978"/>
            </a:xfrm>
            <a:custGeom>
              <a:avLst/>
              <a:gdLst/>
              <a:ahLst/>
              <a:cxnLst/>
              <a:rect r="r" b="b" t="t" l="l"/>
              <a:pathLst>
                <a:path h="3887978" w="2160016">
                  <a:moveTo>
                    <a:pt x="0" y="360045"/>
                  </a:moveTo>
                  <a:cubicBezTo>
                    <a:pt x="0" y="161163"/>
                    <a:pt x="161163" y="0"/>
                    <a:pt x="360045" y="0"/>
                  </a:cubicBezTo>
                  <a:lnTo>
                    <a:pt x="1799971" y="0"/>
                  </a:lnTo>
                  <a:cubicBezTo>
                    <a:pt x="1998853" y="0"/>
                    <a:pt x="2160016" y="161163"/>
                    <a:pt x="2160016" y="360045"/>
                  </a:cubicBezTo>
                  <a:lnTo>
                    <a:pt x="2160016" y="3527933"/>
                  </a:lnTo>
                  <a:cubicBezTo>
                    <a:pt x="2160016" y="3726815"/>
                    <a:pt x="1998853" y="3887978"/>
                    <a:pt x="1799971" y="3887978"/>
                  </a:cubicBezTo>
                  <a:lnTo>
                    <a:pt x="360045" y="3887978"/>
                  </a:lnTo>
                  <a:cubicBezTo>
                    <a:pt x="161163" y="3887978"/>
                    <a:pt x="0" y="3726815"/>
                    <a:pt x="0" y="3527933"/>
                  </a:cubicBezTo>
                  <a:close/>
                </a:path>
              </a:pathLst>
            </a:custGeom>
            <a:solidFill>
              <a:srgbClr val="E9A65D"/>
            </a:solidFill>
          </p:spPr>
        </p:sp>
      </p:grpSp>
      <p:sp>
        <p:nvSpPr>
          <p:cNvPr name="TextBox 6" id="6"/>
          <p:cNvSpPr txBox="true"/>
          <p:nvPr/>
        </p:nvSpPr>
        <p:spPr>
          <a:xfrm rot="1800000">
            <a:off x="13007770" y="3237352"/>
            <a:ext cx="1080000" cy="819150"/>
          </a:xfrm>
          <a:prstGeom prst="rect">
            <a:avLst/>
          </a:prstGeom>
        </p:spPr>
        <p:txBody>
          <a:bodyPr anchor="t" rtlCol="false" tIns="0" lIns="0" bIns="0" rIns="0">
            <a:spAutoFit/>
          </a:bodyPr>
          <a:lstStyle/>
          <a:p>
            <a:pPr algn="ctr" marL="0" indent="0" lvl="0">
              <a:lnSpc>
                <a:spcPts val="5759"/>
              </a:lnSpc>
              <a:spcBef>
                <a:spcPct val="0"/>
              </a:spcBef>
            </a:pPr>
            <a:r>
              <a:rPr lang="en-US" sz="4800" strike="noStrike" u="none">
                <a:solidFill>
                  <a:srgbClr val="FFFFFF"/>
                </a:solidFill>
                <a:latin typeface="王漢宗特黑體"/>
                <a:ea typeface="王漢宗特黑體"/>
                <a:cs typeface="王漢宗特黑體"/>
                <a:sym typeface="王漢宗特黑體"/>
              </a:rPr>
              <a:t>02</a:t>
            </a:r>
          </a:p>
        </p:txBody>
      </p:sp>
      <p:grpSp>
        <p:nvGrpSpPr>
          <p:cNvPr name="Group 7" id="7"/>
          <p:cNvGrpSpPr/>
          <p:nvPr/>
        </p:nvGrpSpPr>
        <p:grpSpPr>
          <a:xfrm rot="1800000">
            <a:off x="4186017" y="2857416"/>
            <a:ext cx="1620000" cy="2916000"/>
            <a:chOff x="0" y="0"/>
            <a:chExt cx="2160000" cy="3888000"/>
          </a:xfrm>
        </p:grpSpPr>
        <p:sp>
          <p:nvSpPr>
            <p:cNvPr name="Freeform 8" id="8"/>
            <p:cNvSpPr/>
            <p:nvPr/>
          </p:nvSpPr>
          <p:spPr>
            <a:xfrm flipH="false" flipV="false" rot="0">
              <a:off x="0" y="0"/>
              <a:ext cx="2160016" cy="3887978"/>
            </a:xfrm>
            <a:custGeom>
              <a:avLst/>
              <a:gdLst/>
              <a:ahLst/>
              <a:cxnLst/>
              <a:rect r="r" b="b" t="t" l="l"/>
              <a:pathLst>
                <a:path h="3887978" w="2160016">
                  <a:moveTo>
                    <a:pt x="0" y="360045"/>
                  </a:moveTo>
                  <a:cubicBezTo>
                    <a:pt x="0" y="161163"/>
                    <a:pt x="161163" y="0"/>
                    <a:pt x="360045" y="0"/>
                  </a:cubicBezTo>
                  <a:lnTo>
                    <a:pt x="1799971" y="0"/>
                  </a:lnTo>
                  <a:cubicBezTo>
                    <a:pt x="1998853" y="0"/>
                    <a:pt x="2160016" y="161163"/>
                    <a:pt x="2160016" y="360045"/>
                  </a:cubicBezTo>
                  <a:lnTo>
                    <a:pt x="2160016" y="3527933"/>
                  </a:lnTo>
                  <a:cubicBezTo>
                    <a:pt x="2160016" y="3726815"/>
                    <a:pt x="1998853" y="3887978"/>
                    <a:pt x="1799971" y="3887978"/>
                  </a:cubicBezTo>
                  <a:lnTo>
                    <a:pt x="360045" y="3887978"/>
                  </a:lnTo>
                  <a:cubicBezTo>
                    <a:pt x="161163" y="3887978"/>
                    <a:pt x="0" y="3726815"/>
                    <a:pt x="0" y="3527933"/>
                  </a:cubicBezTo>
                  <a:close/>
                </a:path>
              </a:pathLst>
            </a:custGeom>
            <a:solidFill>
              <a:srgbClr val="E9A65D"/>
            </a:solidFill>
          </p:spPr>
        </p:sp>
      </p:grpSp>
      <p:sp>
        <p:nvSpPr>
          <p:cNvPr name="TextBox 9" id="9"/>
          <p:cNvSpPr txBox="true"/>
          <p:nvPr/>
        </p:nvSpPr>
        <p:spPr>
          <a:xfrm rot="1800000">
            <a:off x="4823900" y="3237350"/>
            <a:ext cx="1080000" cy="819150"/>
          </a:xfrm>
          <a:prstGeom prst="rect">
            <a:avLst/>
          </a:prstGeom>
        </p:spPr>
        <p:txBody>
          <a:bodyPr anchor="t" rtlCol="false" tIns="0" lIns="0" bIns="0" rIns="0">
            <a:spAutoFit/>
          </a:bodyPr>
          <a:lstStyle/>
          <a:p>
            <a:pPr algn="ctr" marL="0" indent="0" lvl="0">
              <a:lnSpc>
                <a:spcPts val="5759"/>
              </a:lnSpc>
              <a:spcBef>
                <a:spcPct val="0"/>
              </a:spcBef>
            </a:pPr>
            <a:r>
              <a:rPr lang="en-US" sz="4800" strike="noStrike" u="none">
                <a:solidFill>
                  <a:srgbClr val="FFFFFF"/>
                </a:solidFill>
                <a:latin typeface="王漢宗特黑體"/>
                <a:ea typeface="王漢宗特黑體"/>
                <a:cs typeface="王漢宗特黑體"/>
                <a:sym typeface="王漢宗特黑體"/>
              </a:rPr>
              <a:t>01</a:t>
            </a:r>
          </a:p>
        </p:txBody>
      </p:sp>
      <p:grpSp>
        <p:nvGrpSpPr>
          <p:cNvPr name="Group 10" id="10"/>
          <p:cNvGrpSpPr/>
          <p:nvPr/>
        </p:nvGrpSpPr>
        <p:grpSpPr>
          <a:xfrm rot="0">
            <a:off x="774000" y="4259184"/>
            <a:ext cx="16740000" cy="3780000"/>
            <a:chOff x="0" y="0"/>
            <a:chExt cx="22320000" cy="5040000"/>
          </a:xfrm>
        </p:grpSpPr>
        <p:sp>
          <p:nvSpPr>
            <p:cNvPr name="Freeform 11" id="11"/>
            <p:cNvSpPr/>
            <p:nvPr/>
          </p:nvSpPr>
          <p:spPr>
            <a:xfrm flipH="false" flipV="false" rot="0">
              <a:off x="0" y="0"/>
              <a:ext cx="22319996" cy="5039995"/>
            </a:xfrm>
            <a:custGeom>
              <a:avLst/>
              <a:gdLst/>
              <a:ahLst/>
              <a:cxnLst/>
              <a:rect r="r" b="b" t="t" l="l"/>
              <a:pathLst>
                <a:path h="5039995" w="22319996">
                  <a:moveTo>
                    <a:pt x="0" y="0"/>
                  </a:moveTo>
                  <a:lnTo>
                    <a:pt x="22319996" y="0"/>
                  </a:lnTo>
                  <a:lnTo>
                    <a:pt x="22319996" y="5039995"/>
                  </a:lnTo>
                  <a:lnTo>
                    <a:pt x="0" y="5039995"/>
                  </a:lnTo>
                  <a:close/>
                </a:path>
              </a:pathLst>
            </a:custGeom>
            <a:gradFill rotWithShape="true">
              <a:gsLst>
                <a:gs pos="41000">
                  <a:srgbClr val="FFFFFF">
                    <a:alpha val="100000"/>
                  </a:srgbClr>
                </a:gs>
                <a:gs pos="79000">
                  <a:srgbClr val="F2F2F2">
                    <a:alpha val="100000"/>
                  </a:srgbClr>
                </a:gs>
              </a:gsLst>
              <a:lin ang="16200000"/>
            </a:gradFill>
          </p:spPr>
        </p:sp>
      </p:grpSp>
      <p:sp>
        <p:nvSpPr>
          <p:cNvPr name="AutoShape 12" id="12"/>
          <p:cNvSpPr/>
          <p:nvPr/>
        </p:nvSpPr>
        <p:spPr>
          <a:xfrm rot="5858">
            <a:off x="759700" y="4249659"/>
            <a:ext cx="16768599" cy="0"/>
          </a:xfrm>
          <a:prstGeom prst="line">
            <a:avLst/>
          </a:prstGeom>
          <a:ln cap="rnd" w="19050">
            <a:solidFill>
              <a:srgbClr val="E9A65D"/>
            </a:solidFill>
            <a:prstDash val="solid"/>
            <a:headEnd type="none" len="sm" w="sm"/>
            <a:tailEnd type="none" len="sm" w="sm"/>
          </a:ln>
        </p:spPr>
      </p:sp>
      <p:sp>
        <p:nvSpPr>
          <p:cNvPr name="TextBox 13" id="13"/>
          <p:cNvSpPr txBox="true"/>
          <p:nvPr/>
        </p:nvSpPr>
        <p:spPr>
          <a:xfrm rot="0">
            <a:off x="1532540" y="4777307"/>
            <a:ext cx="702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對學生的好處</a:t>
            </a:r>
          </a:p>
        </p:txBody>
      </p:sp>
      <p:sp>
        <p:nvSpPr>
          <p:cNvPr name="TextBox 14" id="14"/>
          <p:cNvSpPr txBox="true"/>
          <p:nvPr/>
        </p:nvSpPr>
        <p:spPr>
          <a:xfrm rot="0">
            <a:off x="1532540" y="5559232"/>
            <a:ext cx="7020000" cy="1228725"/>
          </a:xfrm>
          <a:prstGeom prst="rect">
            <a:avLst/>
          </a:prstGeom>
        </p:spPr>
        <p:txBody>
          <a:bodyPr anchor="t" rtlCol="false" tIns="0" lIns="0" bIns="0" rIns="0">
            <a:spAutoFit/>
          </a:bodyPr>
          <a:lstStyle/>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Cool English 是一個讓學生可以按照自己的步調學習的平台，並配備了專門為鼓勵獨立學習而設計的功能。因此，你可以提高你的自我管理能力。</a:t>
            </a:r>
          </a:p>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它還免費提供，減輕了經濟負擔，並使所有年齡段的學生都可以使用。它還配備了AI聊天機器人功能，可以讓學生練習英語會話，並有望提高英語實用技能。</a:t>
            </a:r>
          </a:p>
        </p:txBody>
      </p:sp>
      <p:sp>
        <p:nvSpPr>
          <p:cNvPr name="TextBox 15" id="15"/>
          <p:cNvSpPr txBox="true"/>
          <p:nvPr/>
        </p:nvSpPr>
        <p:spPr>
          <a:xfrm rot="0">
            <a:off x="9716410" y="4777307"/>
            <a:ext cx="702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對教師的支持</a:t>
            </a:r>
          </a:p>
        </p:txBody>
      </p:sp>
      <p:sp>
        <p:nvSpPr>
          <p:cNvPr name="TextBox 16" id="16"/>
          <p:cNvSpPr txBox="true"/>
          <p:nvPr/>
        </p:nvSpPr>
        <p:spPr>
          <a:xfrm rot="0">
            <a:off x="9716410" y="5559232"/>
            <a:ext cx="7020000" cy="1466850"/>
          </a:xfrm>
          <a:prstGeom prst="rect">
            <a:avLst/>
          </a:prstGeom>
        </p:spPr>
        <p:txBody>
          <a:bodyPr anchor="t" rtlCol="false" tIns="0" lIns="0" bIns="0" rIns="0">
            <a:spAutoFit/>
          </a:bodyPr>
          <a:lstStyle/>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對教師來說，酷英語也可以成為有效的教學工具。輕鬆地將數位資源整合到您的課程中，並透過互動式材料提高學生的參與度。這將提高教學品質和學生學習的有效性。</a:t>
            </a:r>
          </a:p>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平台內也提供文法檢查系統和各種教學資源，幫助教師設計更有效的教學活動。這使得更容易創建滿足每個學生需求的個人化學習計劃，同時也減輕了教師的負擔。</a:t>
            </a:r>
          </a:p>
        </p:txBody>
      </p:sp>
      <p:sp>
        <p:nvSpPr>
          <p:cNvPr name="TextBox 17" id="17"/>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目標受眾和支持</a:t>
            </a:r>
          </a:p>
        </p:txBody>
      </p:sp>
      <p:grpSp>
        <p:nvGrpSpPr>
          <p:cNvPr name="Group 18" id="18"/>
          <p:cNvGrpSpPr/>
          <p:nvPr/>
        </p:nvGrpSpPr>
        <p:grpSpPr>
          <a:xfrm rot="0">
            <a:off x="507207" y="541823"/>
            <a:ext cx="483393" cy="347514"/>
            <a:chOff x="0" y="0"/>
            <a:chExt cx="644524" cy="463352"/>
          </a:xfrm>
        </p:grpSpPr>
        <p:sp>
          <p:nvSpPr>
            <p:cNvPr name="Freeform 19" id="19"/>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0" id="20"/>
          <p:cNvGrpSpPr/>
          <p:nvPr/>
        </p:nvGrpSpPr>
        <p:grpSpPr>
          <a:xfrm rot="0">
            <a:off x="735807" y="974172"/>
            <a:ext cx="254793" cy="183173"/>
            <a:chOff x="0" y="0"/>
            <a:chExt cx="339724" cy="244230"/>
          </a:xfrm>
        </p:grpSpPr>
        <p:sp>
          <p:nvSpPr>
            <p:cNvPr name="Freeform 21" id="21"/>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2" id="22"/>
          <p:cNvGrpSpPr/>
          <p:nvPr/>
        </p:nvGrpSpPr>
        <p:grpSpPr>
          <a:xfrm rot="0">
            <a:off x="735807" y="1242180"/>
            <a:ext cx="254793" cy="183173"/>
            <a:chOff x="0" y="0"/>
            <a:chExt cx="339724" cy="244230"/>
          </a:xfrm>
        </p:grpSpPr>
        <p:sp>
          <p:nvSpPr>
            <p:cNvPr name="Freeform 23" id="23"/>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1800000">
            <a:off x="12369888" y="2857418"/>
            <a:ext cx="1620000" cy="2916000"/>
            <a:chOff x="0" y="0"/>
            <a:chExt cx="2160000" cy="3888000"/>
          </a:xfrm>
        </p:grpSpPr>
        <p:sp>
          <p:nvSpPr>
            <p:cNvPr name="Freeform 5" id="5"/>
            <p:cNvSpPr/>
            <p:nvPr/>
          </p:nvSpPr>
          <p:spPr>
            <a:xfrm flipH="false" flipV="false" rot="0">
              <a:off x="0" y="0"/>
              <a:ext cx="2160016" cy="3887978"/>
            </a:xfrm>
            <a:custGeom>
              <a:avLst/>
              <a:gdLst/>
              <a:ahLst/>
              <a:cxnLst/>
              <a:rect r="r" b="b" t="t" l="l"/>
              <a:pathLst>
                <a:path h="3887978" w="2160016">
                  <a:moveTo>
                    <a:pt x="0" y="360045"/>
                  </a:moveTo>
                  <a:cubicBezTo>
                    <a:pt x="0" y="161163"/>
                    <a:pt x="161163" y="0"/>
                    <a:pt x="360045" y="0"/>
                  </a:cubicBezTo>
                  <a:lnTo>
                    <a:pt x="1799971" y="0"/>
                  </a:lnTo>
                  <a:cubicBezTo>
                    <a:pt x="1998853" y="0"/>
                    <a:pt x="2160016" y="161163"/>
                    <a:pt x="2160016" y="360045"/>
                  </a:cubicBezTo>
                  <a:lnTo>
                    <a:pt x="2160016" y="3527933"/>
                  </a:lnTo>
                  <a:cubicBezTo>
                    <a:pt x="2160016" y="3726815"/>
                    <a:pt x="1998853" y="3887978"/>
                    <a:pt x="1799971" y="3887978"/>
                  </a:cubicBezTo>
                  <a:lnTo>
                    <a:pt x="360045" y="3887978"/>
                  </a:lnTo>
                  <a:cubicBezTo>
                    <a:pt x="161163" y="3887978"/>
                    <a:pt x="0" y="3726815"/>
                    <a:pt x="0" y="3527933"/>
                  </a:cubicBezTo>
                  <a:close/>
                </a:path>
              </a:pathLst>
            </a:custGeom>
            <a:solidFill>
              <a:srgbClr val="E9A65D"/>
            </a:solidFill>
          </p:spPr>
        </p:sp>
      </p:grpSp>
      <p:sp>
        <p:nvSpPr>
          <p:cNvPr name="TextBox 6" id="6"/>
          <p:cNvSpPr txBox="true"/>
          <p:nvPr/>
        </p:nvSpPr>
        <p:spPr>
          <a:xfrm rot="1800000">
            <a:off x="13007770" y="3237352"/>
            <a:ext cx="1080000" cy="819150"/>
          </a:xfrm>
          <a:prstGeom prst="rect">
            <a:avLst/>
          </a:prstGeom>
        </p:spPr>
        <p:txBody>
          <a:bodyPr anchor="t" rtlCol="false" tIns="0" lIns="0" bIns="0" rIns="0">
            <a:spAutoFit/>
          </a:bodyPr>
          <a:lstStyle/>
          <a:p>
            <a:pPr algn="ctr" marL="0" indent="0" lvl="0">
              <a:lnSpc>
                <a:spcPts val="5759"/>
              </a:lnSpc>
              <a:spcBef>
                <a:spcPct val="0"/>
              </a:spcBef>
            </a:pPr>
            <a:r>
              <a:rPr lang="en-US" sz="4800" strike="noStrike" u="none">
                <a:solidFill>
                  <a:srgbClr val="FFFFFF"/>
                </a:solidFill>
                <a:latin typeface="王漢宗特黑體"/>
                <a:ea typeface="王漢宗特黑體"/>
                <a:cs typeface="王漢宗特黑體"/>
                <a:sym typeface="王漢宗特黑體"/>
              </a:rPr>
              <a:t>02</a:t>
            </a:r>
          </a:p>
        </p:txBody>
      </p:sp>
      <p:grpSp>
        <p:nvGrpSpPr>
          <p:cNvPr name="Group 7" id="7"/>
          <p:cNvGrpSpPr/>
          <p:nvPr/>
        </p:nvGrpSpPr>
        <p:grpSpPr>
          <a:xfrm rot="1800000">
            <a:off x="4186017" y="2857416"/>
            <a:ext cx="1620000" cy="2916000"/>
            <a:chOff x="0" y="0"/>
            <a:chExt cx="2160000" cy="3888000"/>
          </a:xfrm>
        </p:grpSpPr>
        <p:sp>
          <p:nvSpPr>
            <p:cNvPr name="Freeform 8" id="8"/>
            <p:cNvSpPr/>
            <p:nvPr/>
          </p:nvSpPr>
          <p:spPr>
            <a:xfrm flipH="false" flipV="false" rot="0">
              <a:off x="0" y="0"/>
              <a:ext cx="2160016" cy="3887978"/>
            </a:xfrm>
            <a:custGeom>
              <a:avLst/>
              <a:gdLst/>
              <a:ahLst/>
              <a:cxnLst/>
              <a:rect r="r" b="b" t="t" l="l"/>
              <a:pathLst>
                <a:path h="3887978" w="2160016">
                  <a:moveTo>
                    <a:pt x="0" y="360045"/>
                  </a:moveTo>
                  <a:cubicBezTo>
                    <a:pt x="0" y="161163"/>
                    <a:pt x="161163" y="0"/>
                    <a:pt x="360045" y="0"/>
                  </a:cubicBezTo>
                  <a:lnTo>
                    <a:pt x="1799971" y="0"/>
                  </a:lnTo>
                  <a:cubicBezTo>
                    <a:pt x="1998853" y="0"/>
                    <a:pt x="2160016" y="161163"/>
                    <a:pt x="2160016" y="360045"/>
                  </a:cubicBezTo>
                  <a:lnTo>
                    <a:pt x="2160016" y="3527933"/>
                  </a:lnTo>
                  <a:cubicBezTo>
                    <a:pt x="2160016" y="3726815"/>
                    <a:pt x="1998853" y="3887978"/>
                    <a:pt x="1799971" y="3887978"/>
                  </a:cubicBezTo>
                  <a:lnTo>
                    <a:pt x="360045" y="3887978"/>
                  </a:lnTo>
                  <a:cubicBezTo>
                    <a:pt x="161163" y="3887978"/>
                    <a:pt x="0" y="3726815"/>
                    <a:pt x="0" y="3527933"/>
                  </a:cubicBezTo>
                  <a:close/>
                </a:path>
              </a:pathLst>
            </a:custGeom>
            <a:solidFill>
              <a:srgbClr val="E9A65D"/>
            </a:solidFill>
          </p:spPr>
        </p:sp>
      </p:grpSp>
      <p:sp>
        <p:nvSpPr>
          <p:cNvPr name="TextBox 9" id="9"/>
          <p:cNvSpPr txBox="true"/>
          <p:nvPr/>
        </p:nvSpPr>
        <p:spPr>
          <a:xfrm rot="1800000">
            <a:off x="4823900" y="3237350"/>
            <a:ext cx="1080000" cy="819150"/>
          </a:xfrm>
          <a:prstGeom prst="rect">
            <a:avLst/>
          </a:prstGeom>
        </p:spPr>
        <p:txBody>
          <a:bodyPr anchor="t" rtlCol="false" tIns="0" lIns="0" bIns="0" rIns="0">
            <a:spAutoFit/>
          </a:bodyPr>
          <a:lstStyle/>
          <a:p>
            <a:pPr algn="ctr" marL="0" indent="0" lvl="0">
              <a:lnSpc>
                <a:spcPts val="5759"/>
              </a:lnSpc>
              <a:spcBef>
                <a:spcPct val="0"/>
              </a:spcBef>
            </a:pPr>
            <a:r>
              <a:rPr lang="en-US" sz="4800" strike="noStrike" u="none">
                <a:solidFill>
                  <a:srgbClr val="FFFFFF"/>
                </a:solidFill>
                <a:latin typeface="王漢宗特黑體"/>
                <a:ea typeface="王漢宗特黑體"/>
                <a:cs typeface="王漢宗特黑體"/>
                <a:sym typeface="王漢宗特黑體"/>
              </a:rPr>
              <a:t>01</a:t>
            </a:r>
          </a:p>
        </p:txBody>
      </p:sp>
      <p:grpSp>
        <p:nvGrpSpPr>
          <p:cNvPr name="Group 10" id="10"/>
          <p:cNvGrpSpPr/>
          <p:nvPr/>
        </p:nvGrpSpPr>
        <p:grpSpPr>
          <a:xfrm rot="0">
            <a:off x="774000" y="4259184"/>
            <a:ext cx="16740000" cy="3780000"/>
            <a:chOff x="0" y="0"/>
            <a:chExt cx="22320000" cy="5040000"/>
          </a:xfrm>
        </p:grpSpPr>
        <p:sp>
          <p:nvSpPr>
            <p:cNvPr name="Freeform 11" id="11"/>
            <p:cNvSpPr/>
            <p:nvPr/>
          </p:nvSpPr>
          <p:spPr>
            <a:xfrm flipH="false" flipV="false" rot="0">
              <a:off x="0" y="0"/>
              <a:ext cx="22319996" cy="5039995"/>
            </a:xfrm>
            <a:custGeom>
              <a:avLst/>
              <a:gdLst/>
              <a:ahLst/>
              <a:cxnLst/>
              <a:rect r="r" b="b" t="t" l="l"/>
              <a:pathLst>
                <a:path h="5039995" w="22319996">
                  <a:moveTo>
                    <a:pt x="0" y="0"/>
                  </a:moveTo>
                  <a:lnTo>
                    <a:pt x="22319996" y="0"/>
                  </a:lnTo>
                  <a:lnTo>
                    <a:pt x="22319996" y="5039995"/>
                  </a:lnTo>
                  <a:lnTo>
                    <a:pt x="0" y="5039995"/>
                  </a:lnTo>
                  <a:close/>
                </a:path>
              </a:pathLst>
            </a:custGeom>
            <a:gradFill rotWithShape="true">
              <a:gsLst>
                <a:gs pos="41000">
                  <a:srgbClr val="FFFFFF">
                    <a:alpha val="100000"/>
                  </a:srgbClr>
                </a:gs>
                <a:gs pos="79000">
                  <a:srgbClr val="F2F2F2">
                    <a:alpha val="100000"/>
                  </a:srgbClr>
                </a:gs>
              </a:gsLst>
              <a:lin ang="16200000"/>
            </a:gradFill>
          </p:spPr>
        </p:sp>
      </p:grpSp>
      <p:sp>
        <p:nvSpPr>
          <p:cNvPr name="AutoShape 12" id="12"/>
          <p:cNvSpPr/>
          <p:nvPr/>
        </p:nvSpPr>
        <p:spPr>
          <a:xfrm rot="5858">
            <a:off x="759700" y="4249659"/>
            <a:ext cx="16768599" cy="0"/>
          </a:xfrm>
          <a:prstGeom prst="line">
            <a:avLst/>
          </a:prstGeom>
          <a:ln cap="rnd" w="19050">
            <a:solidFill>
              <a:srgbClr val="E9A65D"/>
            </a:solidFill>
            <a:prstDash val="solid"/>
            <a:headEnd type="none" len="sm" w="sm"/>
            <a:tailEnd type="none" len="sm" w="sm"/>
          </a:ln>
        </p:spPr>
      </p:sp>
      <p:sp>
        <p:nvSpPr>
          <p:cNvPr name="TextBox 13" id="13"/>
          <p:cNvSpPr txBox="true"/>
          <p:nvPr/>
        </p:nvSpPr>
        <p:spPr>
          <a:xfrm rot="0">
            <a:off x="1532540" y="4777307"/>
            <a:ext cx="702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場景動畫和專題詞彙</a:t>
            </a:r>
          </a:p>
        </p:txBody>
      </p:sp>
      <p:sp>
        <p:nvSpPr>
          <p:cNvPr name="TextBox 14" id="14"/>
          <p:cNvSpPr txBox="true"/>
          <p:nvPr/>
        </p:nvSpPr>
        <p:spPr>
          <a:xfrm rot="0">
            <a:off x="1532540" y="5559232"/>
            <a:ext cx="7020000" cy="1466850"/>
          </a:xfrm>
          <a:prstGeom prst="rect">
            <a:avLst/>
          </a:prstGeom>
        </p:spPr>
        <p:txBody>
          <a:bodyPr anchor="t" rtlCol="false" tIns="0" lIns="0" bIns="0" rIns="0">
            <a:spAutoFit/>
          </a:bodyPr>
          <a:lstStyle/>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酷英語提供稱為風景動畫的視覺教材，並以模仿現實生活場景的故事為特色。這使學習者更容易學習如何在上下文中使用英語。特別是，您將能夠在日常對話情境和文化背景中自然地掌握適當的表達方式。</a:t>
            </a:r>
          </a:p>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主題詞彙練習是一項功能，可讓您專注於學習與特定主題相關的單字和短語。這將有助於學生有效地擴大詞彙量，並幫助他們記住特定情況下所需的單字。透過有系統地學習不同的主題，您可以擴大詞彙量。</a:t>
            </a:r>
          </a:p>
        </p:txBody>
      </p:sp>
      <p:sp>
        <p:nvSpPr>
          <p:cNvPr name="TextBox 15" id="15"/>
          <p:cNvSpPr txBox="true"/>
          <p:nvPr/>
        </p:nvSpPr>
        <p:spPr>
          <a:xfrm rot="0">
            <a:off x="9716410" y="4777307"/>
            <a:ext cx="702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文法問答遊戲和角色扮演任務</a:t>
            </a:r>
          </a:p>
        </p:txBody>
      </p:sp>
      <p:sp>
        <p:nvSpPr>
          <p:cNvPr name="TextBox 16" id="16"/>
          <p:cNvSpPr txBox="true"/>
          <p:nvPr/>
        </p:nvSpPr>
        <p:spPr>
          <a:xfrm rot="0">
            <a:off x="9716410" y="5559232"/>
            <a:ext cx="7020000" cy="1466850"/>
          </a:xfrm>
          <a:prstGeom prst="rect">
            <a:avLst/>
          </a:prstGeom>
        </p:spPr>
        <p:txBody>
          <a:bodyPr anchor="t" rtlCol="false" tIns="0" lIns="0" bIns="0" rIns="0">
            <a:spAutoFit/>
          </a:bodyPr>
          <a:lstStyle/>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文法測驗遊戲是一款旨在幫助學習者在樂趣中學習文法的遊戲。問題以測驗的形式提出，因此透過選擇正確的答案，您自然會鞏固您的文法知識。此外，遊戲形式可以讓您在學習的同時激發您的競爭精神，這有助於保持動力。</a:t>
            </a:r>
          </a:p>
          <a:p>
            <a:pPr algn="ctr" marL="0" indent="0" lvl="0">
              <a:lnSpc>
                <a:spcPts val="1909"/>
              </a:lnSpc>
              <a:spcBef>
                <a:spcPct val="0"/>
              </a:spcBef>
            </a:pPr>
            <a:r>
              <a:rPr lang="en-US" sz="1591" strike="noStrike" u="none">
                <a:solidFill>
                  <a:srgbClr val="262626"/>
                </a:solidFill>
                <a:latin typeface="王漢宗特黑體"/>
                <a:ea typeface="王漢宗特黑體"/>
                <a:cs typeface="王漢宗特黑體"/>
                <a:sym typeface="王漢宗特黑體"/>
              </a:rPr>
              <a:t>RPG Missions 是一項融合了角色扮演遊戲元素的學習功能。透過完成特定的任務，你可以逐漸提高你的英語水平，隨著遊戲的進行，你會感到一種成就感。預計這將保持長期學習的動力。</a:t>
            </a:r>
          </a:p>
        </p:txBody>
      </p:sp>
      <p:sp>
        <p:nvSpPr>
          <p:cNvPr name="TextBox 17" id="17"/>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學習資源</a:t>
            </a:r>
          </a:p>
        </p:txBody>
      </p:sp>
      <p:grpSp>
        <p:nvGrpSpPr>
          <p:cNvPr name="Group 18" id="18"/>
          <p:cNvGrpSpPr/>
          <p:nvPr/>
        </p:nvGrpSpPr>
        <p:grpSpPr>
          <a:xfrm rot="0">
            <a:off x="507207" y="541823"/>
            <a:ext cx="483393" cy="347514"/>
            <a:chOff x="0" y="0"/>
            <a:chExt cx="644524" cy="463352"/>
          </a:xfrm>
        </p:grpSpPr>
        <p:sp>
          <p:nvSpPr>
            <p:cNvPr name="Freeform 19" id="19"/>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0" id="20"/>
          <p:cNvGrpSpPr/>
          <p:nvPr/>
        </p:nvGrpSpPr>
        <p:grpSpPr>
          <a:xfrm rot="0">
            <a:off x="735807" y="974172"/>
            <a:ext cx="254793" cy="183173"/>
            <a:chOff x="0" y="0"/>
            <a:chExt cx="339724" cy="244230"/>
          </a:xfrm>
        </p:grpSpPr>
        <p:sp>
          <p:nvSpPr>
            <p:cNvPr name="Freeform 21" id="21"/>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2" id="22"/>
          <p:cNvGrpSpPr/>
          <p:nvPr/>
        </p:nvGrpSpPr>
        <p:grpSpPr>
          <a:xfrm rot="0">
            <a:off x="735807" y="1242180"/>
            <a:ext cx="254793" cy="183173"/>
            <a:chOff x="0" y="0"/>
            <a:chExt cx="339724" cy="244230"/>
          </a:xfrm>
        </p:grpSpPr>
        <p:sp>
          <p:nvSpPr>
            <p:cNvPr name="Freeform 23" id="23"/>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990600" y="2129589"/>
            <a:ext cx="7768389" cy="6015789"/>
            <a:chOff x="0" y="0"/>
            <a:chExt cx="10357852" cy="8021052"/>
          </a:xfrm>
        </p:grpSpPr>
        <p:sp>
          <p:nvSpPr>
            <p:cNvPr name="Freeform 5" id="5"/>
            <p:cNvSpPr/>
            <p:nvPr/>
          </p:nvSpPr>
          <p:spPr>
            <a:xfrm flipH="false" flipV="false" rot="0">
              <a:off x="0" y="0"/>
              <a:ext cx="10357866" cy="8021066"/>
            </a:xfrm>
            <a:custGeom>
              <a:avLst/>
              <a:gdLst/>
              <a:ahLst/>
              <a:cxnLst/>
              <a:rect r="r" b="b" t="t" l="l"/>
              <a:pathLst>
                <a:path h="8021066" w="10357866">
                  <a:moveTo>
                    <a:pt x="1336929" y="0"/>
                  </a:moveTo>
                  <a:lnTo>
                    <a:pt x="10357866" y="0"/>
                  </a:lnTo>
                  <a:lnTo>
                    <a:pt x="10357866" y="6684137"/>
                  </a:lnTo>
                  <a:cubicBezTo>
                    <a:pt x="10357866" y="7422515"/>
                    <a:pt x="9759315" y="8021066"/>
                    <a:pt x="9020937" y="8021066"/>
                  </a:cubicBezTo>
                  <a:lnTo>
                    <a:pt x="0" y="8021066"/>
                  </a:lnTo>
                  <a:lnTo>
                    <a:pt x="0" y="1336929"/>
                  </a:lnTo>
                  <a:cubicBezTo>
                    <a:pt x="0" y="598551"/>
                    <a:pt x="598551" y="0"/>
                    <a:pt x="1336929" y="0"/>
                  </a:cubicBezTo>
                  <a:close/>
                </a:path>
              </a:pathLst>
            </a:custGeom>
            <a:solidFill>
              <a:srgbClr val="E9A65D"/>
            </a:solidFill>
          </p:spPr>
        </p:sp>
      </p:grpSp>
      <p:grpSp>
        <p:nvGrpSpPr>
          <p:cNvPr name="Group 6" id="6"/>
          <p:cNvGrpSpPr/>
          <p:nvPr/>
        </p:nvGrpSpPr>
        <p:grpSpPr>
          <a:xfrm rot="0">
            <a:off x="1269832" y="2493044"/>
            <a:ext cx="7243548" cy="6179217"/>
            <a:chOff x="0" y="0"/>
            <a:chExt cx="9658064" cy="8238956"/>
          </a:xfrm>
        </p:grpSpPr>
        <p:sp>
          <p:nvSpPr>
            <p:cNvPr name="Freeform 7" id="7"/>
            <p:cNvSpPr/>
            <p:nvPr/>
          </p:nvSpPr>
          <p:spPr>
            <a:xfrm flipH="false" flipV="false" rot="0">
              <a:off x="12700" y="12700"/>
              <a:ext cx="9632696" cy="8213598"/>
            </a:xfrm>
            <a:custGeom>
              <a:avLst/>
              <a:gdLst/>
              <a:ahLst/>
              <a:cxnLst/>
              <a:rect r="r" b="b" t="t" l="l"/>
              <a:pathLst>
                <a:path h="8213598" w="9632696">
                  <a:moveTo>
                    <a:pt x="1369568" y="0"/>
                  </a:moveTo>
                  <a:lnTo>
                    <a:pt x="9632696" y="0"/>
                  </a:lnTo>
                  <a:lnTo>
                    <a:pt x="9632696" y="6844665"/>
                  </a:lnTo>
                  <a:cubicBezTo>
                    <a:pt x="9632696" y="7600697"/>
                    <a:pt x="9019540" y="8213598"/>
                    <a:pt x="8263128" y="8213598"/>
                  </a:cubicBezTo>
                  <a:lnTo>
                    <a:pt x="0" y="8213598"/>
                  </a:lnTo>
                  <a:lnTo>
                    <a:pt x="0" y="1368933"/>
                  </a:lnTo>
                  <a:cubicBezTo>
                    <a:pt x="0" y="612902"/>
                    <a:pt x="613156" y="0"/>
                    <a:pt x="1369568" y="0"/>
                  </a:cubicBezTo>
                  <a:close/>
                </a:path>
              </a:pathLst>
            </a:custGeom>
            <a:solidFill>
              <a:srgbClr val="FFFFFF"/>
            </a:solidFill>
          </p:spPr>
        </p:sp>
        <p:sp>
          <p:nvSpPr>
            <p:cNvPr name="Freeform 8" id="8"/>
            <p:cNvSpPr/>
            <p:nvPr/>
          </p:nvSpPr>
          <p:spPr>
            <a:xfrm flipH="false" flipV="false" rot="0">
              <a:off x="0" y="0"/>
              <a:ext cx="9658096" cy="8238998"/>
            </a:xfrm>
            <a:custGeom>
              <a:avLst/>
              <a:gdLst/>
              <a:ahLst/>
              <a:cxnLst/>
              <a:rect r="r" b="b" t="t" l="l"/>
              <a:pathLst>
                <a:path h="8238998" w="9658096">
                  <a:moveTo>
                    <a:pt x="1382268" y="0"/>
                  </a:moveTo>
                  <a:lnTo>
                    <a:pt x="9645396" y="0"/>
                  </a:lnTo>
                  <a:cubicBezTo>
                    <a:pt x="9652381" y="0"/>
                    <a:pt x="9658096" y="5715"/>
                    <a:pt x="9658096" y="12700"/>
                  </a:cubicBezTo>
                  <a:lnTo>
                    <a:pt x="9658096" y="6857365"/>
                  </a:lnTo>
                  <a:lnTo>
                    <a:pt x="9645396" y="6857365"/>
                  </a:lnTo>
                  <a:lnTo>
                    <a:pt x="9658096" y="6857365"/>
                  </a:lnTo>
                  <a:cubicBezTo>
                    <a:pt x="9658096" y="7620381"/>
                    <a:pt x="9039225" y="8238998"/>
                    <a:pt x="8275828" y="8238998"/>
                  </a:cubicBezTo>
                  <a:lnTo>
                    <a:pt x="8275828" y="8226298"/>
                  </a:lnTo>
                  <a:lnTo>
                    <a:pt x="8275828" y="8238998"/>
                  </a:lnTo>
                  <a:lnTo>
                    <a:pt x="12700" y="8238998"/>
                  </a:lnTo>
                  <a:cubicBezTo>
                    <a:pt x="5715" y="8238998"/>
                    <a:pt x="0" y="8233283"/>
                    <a:pt x="0" y="8226298"/>
                  </a:cubicBezTo>
                  <a:lnTo>
                    <a:pt x="0" y="1381633"/>
                  </a:lnTo>
                  <a:lnTo>
                    <a:pt x="12700" y="1381633"/>
                  </a:lnTo>
                  <a:lnTo>
                    <a:pt x="0" y="1381633"/>
                  </a:lnTo>
                  <a:cubicBezTo>
                    <a:pt x="0" y="618617"/>
                    <a:pt x="618871" y="0"/>
                    <a:pt x="1382268" y="0"/>
                  </a:cubicBezTo>
                  <a:cubicBezTo>
                    <a:pt x="1386205" y="0"/>
                    <a:pt x="1389888" y="1778"/>
                    <a:pt x="1392301" y="4953"/>
                  </a:cubicBezTo>
                  <a:lnTo>
                    <a:pt x="1382268" y="12700"/>
                  </a:lnTo>
                  <a:lnTo>
                    <a:pt x="1382268" y="0"/>
                  </a:lnTo>
                  <a:moveTo>
                    <a:pt x="1382268" y="25400"/>
                  </a:moveTo>
                  <a:cubicBezTo>
                    <a:pt x="1378331" y="25400"/>
                    <a:pt x="1374648" y="23622"/>
                    <a:pt x="1372235" y="20447"/>
                  </a:cubicBezTo>
                  <a:lnTo>
                    <a:pt x="1382268" y="12700"/>
                  </a:lnTo>
                  <a:lnTo>
                    <a:pt x="1382268" y="25400"/>
                  </a:lnTo>
                  <a:cubicBezTo>
                    <a:pt x="632841" y="25400"/>
                    <a:pt x="25400" y="632587"/>
                    <a:pt x="25400" y="1381633"/>
                  </a:cubicBezTo>
                  <a:lnTo>
                    <a:pt x="25400" y="8226298"/>
                  </a:lnTo>
                  <a:lnTo>
                    <a:pt x="12700" y="8226298"/>
                  </a:lnTo>
                  <a:lnTo>
                    <a:pt x="12700" y="8213598"/>
                  </a:lnTo>
                  <a:lnTo>
                    <a:pt x="8275828" y="8213598"/>
                  </a:lnTo>
                  <a:cubicBezTo>
                    <a:pt x="9025255" y="8213598"/>
                    <a:pt x="9632697" y="7606411"/>
                    <a:pt x="9632697" y="6857365"/>
                  </a:cubicBezTo>
                  <a:lnTo>
                    <a:pt x="9632697" y="12700"/>
                  </a:lnTo>
                  <a:lnTo>
                    <a:pt x="9645397" y="12700"/>
                  </a:lnTo>
                  <a:lnTo>
                    <a:pt x="9645397" y="25400"/>
                  </a:lnTo>
                  <a:lnTo>
                    <a:pt x="1382268" y="25400"/>
                  </a:lnTo>
                  <a:close/>
                </a:path>
              </a:pathLst>
            </a:custGeom>
            <a:solidFill>
              <a:srgbClr val="E9A65D"/>
            </a:solidFill>
          </p:spPr>
        </p:sp>
      </p:grpSp>
      <p:sp>
        <p:nvSpPr>
          <p:cNvPr name="TextBox 9" id="9"/>
          <p:cNvSpPr txBox="true"/>
          <p:nvPr/>
        </p:nvSpPr>
        <p:spPr>
          <a:xfrm rot="0">
            <a:off x="1697163" y="2572170"/>
            <a:ext cx="1852864" cy="1390650"/>
          </a:xfrm>
          <a:prstGeom prst="rect">
            <a:avLst/>
          </a:prstGeom>
        </p:spPr>
        <p:txBody>
          <a:bodyPr anchor="t" rtlCol="false" tIns="0" lIns="0" bIns="0" rIns="0">
            <a:spAutoFit/>
          </a:bodyPr>
          <a:lstStyle/>
          <a:p>
            <a:pPr algn="l" marL="0" indent="0" lvl="0">
              <a:lnSpc>
                <a:spcPts val="9720"/>
              </a:lnSpc>
              <a:spcBef>
                <a:spcPct val="0"/>
              </a:spcBef>
            </a:pPr>
            <a:r>
              <a:rPr lang="en-US" sz="8100" strike="noStrike" u="none">
                <a:solidFill>
                  <a:srgbClr val="FFFFFF"/>
                </a:solidFill>
                <a:latin typeface="王漢宗特黑體"/>
                <a:ea typeface="王漢宗特黑體"/>
                <a:cs typeface="王漢宗特黑體"/>
                <a:sym typeface="王漢宗特黑體"/>
              </a:rPr>
              <a:t>01</a:t>
            </a:r>
          </a:p>
        </p:txBody>
      </p:sp>
      <p:sp>
        <p:nvSpPr>
          <p:cNvPr name="TextBox 10" id="10"/>
          <p:cNvSpPr txBox="true"/>
          <p:nvPr/>
        </p:nvSpPr>
        <p:spPr>
          <a:xfrm rot="0">
            <a:off x="1697956" y="5558563"/>
            <a:ext cx="6436044" cy="1285875"/>
          </a:xfrm>
          <a:prstGeom prst="rect">
            <a:avLst/>
          </a:prstGeom>
        </p:spPr>
        <p:txBody>
          <a:bodyPr anchor="t" rtlCol="false" tIns="0" lIns="0" bIns="0" rIns="0">
            <a:spAutoFit/>
          </a:bodyPr>
          <a:lstStyle/>
          <a:p>
            <a:pPr algn="l" marL="0" indent="0" lvl="0">
              <a:lnSpc>
                <a:spcPts val="1684"/>
              </a:lnSpc>
              <a:spcBef>
                <a:spcPct val="0"/>
              </a:spcBef>
            </a:pPr>
            <a:r>
              <a:rPr lang="en-US" sz="1404" strike="noStrike" u="none">
                <a:solidFill>
                  <a:srgbClr val="262626"/>
                </a:solidFill>
                <a:latin typeface="王漢宗特黑體"/>
                <a:ea typeface="王漢宗特黑體"/>
                <a:cs typeface="王漢宗特黑體"/>
                <a:sym typeface="王漢宗特黑體"/>
              </a:rPr>
              <a:t>Cool English 有一個系統來追蹤個人學習者的進度。這使學生能夠控制自己的學習進度並獨立工作。您還可以根據您的學習記錄提供有關下一步學習內容的回饋，從而製定有效的學習計劃。</a:t>
            </a:r>
          </a:p>
          <a:p>
            <a:pPr algn="l" marL="0" indent="0" lvl="0">
              <a:lnSpc>
                <a:spcPts val="1684"/>
              </a:lnSpc>
              <a:spcBef>
                <a:spcPct val="0"/>
              </a:spcBef>
            </a:pPr>
            <a:r>
              <a:rPr lang="en-US" sz="1404" strike="noStrike" u="none">
                <a:solidFill>
                  <a:srgbClr val="262626"/>
                </a:solidFill>
                <a:latin typeface="王漢宗特黑體"/>
                <a:ea typeface="王漢宗特黑體"/>
                <a:cs typeface="王漢宗特黑體"/>
                <a:sym typeface="王漢宗特黑體"/>
              </a:rPr>
              <a:t>這項功能有助於學生實現個人成長。透過視覺化您的進步，您可以看到您的努力並提高您的學習動力。此外，教師將更容易了解學生的進步，從而實現更有效的教學。</a:t>
            </a:r>
          </a:p>
        </p:txBody>
      </p:sp>
      <p:grpSp>
        <p:nvGrpSpPr>
          <p:cNvPr name="Group 11" id="11"/>
          <p:cNvGrpSpPr/>
          <p:nvPr/>
        </p:nvGrpSpPr>
        <p:grpSpPr>
          <a:xfrm rot="0">
            <a:off x="8009131" y="2734095"/>
            <a:ext cx="249736" cy="249737"/>
            <a:chOff x="0" y="0"/>
            <a:chExt cx="332982" cy="332982"/>
          </a:xfrm>
        </p:grpSpPr>
        <p:sp>
          <p:nvSpPr>
            <p:cNvPr name="Freeform 12" id="12"/>
            <p:cNvSpPr/>
            <p:nvPr/>
          </p:nvSpPr>
          <p:spPr>
            <a:xfrm flipH="false" flipV="false" rot="0">
              <a:off x="0" y="0"/>
              <a:ext cx="332994" cy="332994"/>
            </a:xfrm>
            <a:custGeom>
              <a:avLst/>
              <a:gdLst/>
              <a:ahLst/>
              <a:cxnLst/>
              <a:rect r="r" b="b" t="t" l="l"/>
              <a:pathLst>
                <a:path h="332994" w="332994">
                  <a:moveTo>
                    <a:pt x="0" y="166497"/>
                  </a:moveTo>
                  <a:cubicBezTo>
                    <a:pt x="0" y="74549"/>
                    <a:pt x="74549" y="0"/>
                    <a:pt x="166497" y="0"/>
                  </a:cubicBezTo>
                  <a:cubicBezTo>
                    <a:pt x="258445" y="0"/>
                    <a:pt x="332994" y="74549"/>
                    <a:pt x="332994" y="166497"/>
                  </a:cubicBezTo>
                  <a:cubicBezTo>
                    <a:pt x="332994" y="258445"/>
                    <a:pt x="258445" y="332994"/>
                    <a:pt x="166497" y="332994"/>
                  </a:cubicBezTo>
                  <a:cubicBezTo>
                    <a:pt x="74549" y="332994"/>
                    <a:pt x="0" y="258445"/>
                    <a:pt x="0" y="166497"/>
                  </a:cubicBezTo>
                  <a:close/>
                </a:path>
              </a:pathLst>
            </a:custGeom>
            <a:solidFill>
              <a:srgbClr val="E9A65D"/>
            </a:solidFill>
          </p:spPr>
        </p:sp>
      </p:grpSp>
      <p:sp>
        <p:nvSpPr>
          <p:cNvPr name="TextBox 13" id="13"/>
          <p:cNvSpPr txBox="true"/>
          <p:nvPr/>
        </p:nvSpPr>
        <p:spPr>
          <a:xfrm rot="0">
            <a:off x="1697956" y="4614930"/>
            <a:ext cx="6436044"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學習進度追蹤與回饋</a:t>
            </a:r>
          </a:p>
        </p:txBody>
      </p:sp>
      <p:grpSp>
        <p:nvGrpSpPr>
          <p:cNvPr name="Group 14" id="14"/>
          <p:cNvGrpSpPr/>
          <p:nvPr/>
        </p:nvGrpSpPr>
        <p:grpSpPr>
          <a:xfrm rot="0">
            <a:off x="9509961" y="2129589"/>
            <a:ext cx="7768389" cy="6015789"/>
            <a:chOff x="0" y="0"/>
            <a:chExt cx="10357852" cy="8021052"/>
          </a:xfrm>
        </p:grpSpPr>
        <p:sp>
          <p:nvSpPr>
            <p:cNvPr name="Freeform 15" id="15"/>
            <p:cNvSpPr/>
            <p:nvPr/>
          </p:nvSpPr>
          <p:spPr>
            <a:xfrm flipH="false" flipV="false" rot="0">
              <a:off x="0" y="0"/>
              <a:ext cx="10357866" cy="8021066"/>
            </a:xfrm>
            <a:custGeom>
              <a:avLst/>
              <a:gdLst/>
              <a:ahLst/>
              <a:cxnLst/>
              <a:rect r="r" b="b" t="t" l="l"/>
              <a:pathLst>
                <a:path h="8021066" w="10357866">
                  <a:moveTo>
                    <a:pt x="1336929" y="0"/>
                  </a:moveTo>
                  <a:lnTo>
                    <a:pt x="10357866" y="0"/>
                  </a:lnTo>
                  <a:lnTo>
                    <a:pt x="10357866" y="6684137"/>
                  </a:lnTo>
                  <a:cubicBezTo>
                    <a:pt x="10357866" y="7422515"/>
                    <a:pt x="9759315" y="8021066"/>
                    <a:pt x="9020937" y="8021066"/>
                  </a:cubicBezTo>
                  <a:lnTo>
                    <a:pt x="0" y="8021066"/>
                  </a:lnTo>
                  <a:lnTo>
                    <a:pt x="0" y="1336929"/>
                  </a:lnTo>
                  <a:cubicBezTo>
                    <a:pt x="0" y="598551"/>
                    <a:pt x="598551" y="0"/>
                    <a:pt x="1336929" y="0"/>
                  </a:cubicBezTo>
                  <a:close/>
                </a:path>
              </a:pathLst>
            </a:custGeom>
            <a:solidFill>
              <a:srgbClr val="E9A65D"/>
            </a:solidFill>
          </p:spPr>
        </p:sp>
      </p:grpSp>
      <p:grpSp>
        <p:nvGrpSpPr>
          <p:cNvPr name="Group 16" id="16"/>
          <p:cNvGrpSpPr/>
          <p:nvPr/>
        </p:nvGrpSpPr>
        <p:grpSpPr>
          <a:xfrm rot="0">
            <a:off x="9789194" y="2493044"/>
            <a:ext cx="7243548" cy="6179217"/>
            <a:chOff x="0" y="0"/>
            <a:chExt cx="9658064" cy="8238956"/>
          </a:xfrm>
        </p:grpSpPr>
        <p:sp>
          <p:nvSpPr>
            <p:cNvPr name="Freeform 17" id="17"/>
            <p:cNvSpPr/>
            <p:nvPr/>
          </p:nvSpPr>
          <p:spPr>
            <a:xfrm flipH="false" flipV="false" rot="0">
              <a:off x="12700" y="12700"/>
              <a:ext cx="9632696" cy="8213598"/>
            </a:xfrm>
            <a:custGeom>
              <a:avLst/>
              <a:gdLst/>
              <a:ahLst/>
              <a:cxnLst/>
              <a:rect r="r" b="b" t="t" l="l"/>
              <a:pathLst>
                <a:path h="8213598" w="9632696">
                  <a:moveTo>
                    <a:pt x="1369568" y="0"/>
                  </a:moveTo>
                  <a:lnTo>
                    <a:pt x="9632696" y="0"/>
                  </a:lnTo>
                  <a:lnTo>
                    <a:pt x="9632696" y="6844665"/>
                  </a:lnTo>
                  <a:cubicBezTo>
                    <a:pt x="9632696" y="7600697"/>
                    <a:pt x="9019540" y="8213598"/>
                    <a:pt x="8263128" y="8213598"/>
                  </a:cubicBezTo>
                  <a:lnTo>
                    <a:pt x="0" y="8213598"/>
                  </a:lnTo>
                  <a:lnTo>
                    <a:pt x="0" y="1368933"/>
                  </a:lnTo>
                  <a:cubicBezTo>
                    <a:pt x="0" y="612902"/>
                    <a:pt x="613156" y="0"/>
                    <a:pt x="1369568" y="0"/>
                  </a:cubicBezTo>
                  <a:close/>
                </a:path>
              </a:pathLst>
            </a:custGeom>
            <a:solidFill>
              <a:srgbClr val="FFFFFF"/>
            </a:solidFill>
          </p:spPr>
        </p:sp>
        <p:sp>
          <p:nvSpPr>
            <p:cNvPr name="Freeform 18" id="18"/>
            <p:cNvSpPr/>
            <p:nvPr/>
          </p:nvSpPr>
          <p:spPr>
            <a:xfrm flipH="false" flipV="false" rot="0">
              <a:off x="0" y="0"/>
              <a:ext cx="9658096" cy="8238998"/>
            </a:xfrm>
            <a:custGeom>
              <a:avLst/>
              <a:gdLst/>
              <a:ahLst/>
              <a:cxnLst/>
              <a:rect r="r" b="b" t="t" l="l"/>
              <a:pathLst>
                <a:path h="8238998" w="9658096">
                  <a:moveTo>
                    <a:pt x="1382268" y="0"/>
                  </a:moveTo>
                  <a:lnTo>
                    <a:pt x="9645396" y="0"/>
                  </a:lnTo>
                  <a:cubicBezTo>
                    <a:pt x="9652381" y="0"/>
                    <a:pt x="9658096" y="5715"/>
                    <a:pt x="9658096" y="12700"/>
                  </a:cubicBezTo>
                  <a:lnTo>
                    <a:pt x="9658096" y="6857365"/>
                  </a:lnTo>
                  <a:lnTo>
                    <a:pt x="9645396" y="6857365"/>
                  </a:lnTo>
                  <a:lnTo>
                    <a:pt x="9658096" y="6857365"/>
                  </a:lnTo>
                  <a:cubicBezTo>
                    <a:pt x="9658096" y="7620381"/>
                    <a:pt x="9039225" y="8238998"/>
                    <a:pt x="8275828" y="8238998"/>
                  </a:cubicBezTo>
                  <a:lnTo>
                    <a:pt x="8275828" y="8226298"/>
                  </a:lnTo>
                  <a:lnTo>
                    <a:pt x="8275828" y="8238998"/>
                  </a:lnTo>
                  <a:lnTo>
                    <a:pt x="12700" y="8238998"/>
                  </a:lnTo>
                  <a:cubicBezTo>
                    <a:pt x="5715" y="8238998"/>
                    <a:pt x="0" y="8233283"/>
                    <a:pt x="0" y="8226298"/>
                  </a:cubicBezTo>
                  <a:lnTo>
                    <a:pt x="0" y="1381633"/>
                  </a:lnTo>
                  <a:lnTo>
                    <a:pt x="12700" y="1381633"/>
                  </a:lnTo>
                  <a:lnTo>
                    <a:pt x="0" y="1381633"/>
                  </a:lnTo>
                  <a:cubicBezTo>
                    <a:pt x="0" y="618617"/>
                    <a:pt x="618871" y="0"/>
                    <a:pt x="1382268" y="0"/>
                  </a:cubicBezTo>
                  <a:cubicBezTo>
                    <a:pt x="1386205" y="0"/>
                    <a:pt x="1389888" y="1778"/>
                    <a:pt x="1392301" y="4953"/>
                  </a:cubicBezTo>
                  <a:lnTo>
                    <a:pt x="1382268" y="12700"/>
                  </a:lnTo>
                  <a:lnTo>
                    <a:pt x="1382268" y="0"/>
                  </a:lnTo>
                  <a:moveTo>
                    <a:pt x="1382268" y="25400"/>
                  </a:moveTo>
                  <a:cubicBezTo>
                    <a:pt x="1378331" y="25400"/>
                    <a:pt x="1374648" y="23622"/>
                    <a:pt x="1372235" y="20447"/>
                  </a:cubicBezTo>
                  <a:lnTo>
                    <a:pt x="1382268" y="12700"/>
                  </a:lnTo>
                  <a:lnTo>
                    <a:pt x="1382268" y="25400"/>
                  </a:lnTo>
                  <a:cubicBezTo>
                    <a:pt x="632841" y="25400"/>
                    <a:pt x="25400" y="632587"/>
                    <a:pt x="25400" y="1381633"/>
                  </a:cubicBezTo>
                  <a:lnTo>
                    <a:pt x="25400" y="8226298"/>
                  </a:lnTo>
                  <a:lnTo>
                    <a:pt x="12700" y="8226298"/>
                  </a:lnTo>
                  <a:lnTo>
                    <a:pt x="12700" y="8213598"/>
                  </a:lnTo>
                  <a:lnTo>
                    <a:pt x="8275828" y="8213598"/>
                  </a:lnTo>
                  <a:cubicBezTo>
                    <a:pt x="9025255" y="8213598"/>
                    <a:pt x="9632697" y="7606411"/>
                    <a:pt x="9632697" y="6857365"/>
                  </a:cubicBezTo>
                  <a:lnTo>
                    <a:pt x="9632697" y="12700"/>
                  </a:lnTo>
                  <a:lnTo>
                    <a:pt x="9645397" y="12700"/>
                  </a:lnTo>
                  <a:lnTo>
                    <a:pt x="9645397" y="25400"/>
                  </a:lnTo>
                  <a:lnTo>
                    <a:pt x="1382268" y="25400"/>
                  </a:lnTo>
                  <a:close/>
                </a:path>
              </a:pathLst>
            </a:custGeom>
            <a:solidFill>
              <a:srgbClr val="E9A65D"/>
            </a:solidFill>
          </p:spPr>
        </p:sp>
      </p:grpSp>
      <p:sp>
        <p:nvSpPr>
          <p:cNvPr name="TextBox 19" id="19"/>
          <p:cNvSpPr txBox="true"/>
          <p:nvPr/>
        </p:nvSpPr>
        <p:spPr>
          <a:xfrm rot="0">
            <a:off x="10216524" y="2572170"/>
            <a:ext cx="1852864" cy="1390650"/>
          </a:xfrm>
          <a:prstGeom prst="rect">
            <a:avLst/>
          </a:prstGeom>
        </p:spPr>
        <p:txBody>
          <a:bodyPr anchor="t" rtlCol="false" tIns="0" lIns="0" bIns="0" rIns="0">
            <a:spAutoFit/>
          </a:bodyPr>
          <a:lstStyle/>
          <a:p>
            <a:pPr algn="l" marL="0" indent="0" lvl="0">
              <a:lnSpc>
                <a:spcPts val="9720"/>
              </a:lnSpc>
              <a:spcBef>
                <a:spcPct val="0"/>
              </a:spcBef>
            </a:pPr>
            <a:r>
              <a:rPr lang="en-US" sz="8100" strike="noStrike" u="none">
                <a:solidFill>
                  <a:srgbClr val="FFFFFF"/>
                </a:solidFill>
                <a:latin typeface="王漢宗特黑體"/>
                <a:ea typeface="王漢宗特黑體"/>
                <a:cs typeface="王漢宗特黑體"/>
                <a:sym typeface="王漢宗特黑體"/>
              </a:rPr>
              <a:t>02</a:t>
            </a:r>
          </a:p>
        </p:txBody>
      </p:sp>
      <p:sp>
        <p:nvSpPr>
          <p:cNvPr name="TextBox 20" id="20"/>
          <p:cNvSpPr txBox="true"/>
          <p:nvPr/>
        </p:nvSpPr>
        <p:spPr>
          <a:xfrm rot="0">
            <a:off x="10217317" y="5558563"/>
            <a:ext cx="6436044" cy="1285875"/>
          </a:xfrm>
          <a:prstGeom prst="rect">
            <a:avLst/>
          </a:prstGeom>
        </p:spPr>
        <p:txBody>
          <a:bodyPr anchor="t" rtlCol="false" tIns="0" lIns="0" bIns="0" rIns="0">
            <a:spAutoFit/>
          </a:bodyPr>
          <a:lstStyle/>
          <a:p>
            <a:pPr algn="l" marL="0" indent="0" lvl="0">
              <a:lnSpc>
                <a:spcPts val="1684"/>
              </a:lnSpc>
              <a:spcBef>
                <a:spcPct val="0"/>
              </a:spcBef>
            </a:pPr>
            <a:r>
              <a:rPr lang="en-US" sz="1404" strike="noStrike" u="none">
                <a:solidFill>
                  <a:srgbClr val="262626"/>
                </a:solidFill>
                <a:latin typeface="王漢宗特黑體"/>
                <a:ea typeface="王漢宗特黑體"/>
                <a:cs typeface="王漢宗特黑體"/>
                <a:sym typeface="王漢宗特黑體"/>
              </a:rPr>
              <a:t>個人化學習的另一個好處是它提高了學生的自我管理技能。在酷英語，學生被鼓勵設定自己的學習目標並按照自己的步調學習。這不僅可以幫助你獲得自學技能，還可以提高你的自我發展意識。</a:t>
            </a:r>
          </a:p>
          <a:p>
            <a:pPr algn="l" marL="0" indent="0" lvl="0">
              <a:lnSpc>
                <a:spcPts val="1684"/>
              </a:lnSpc>
              <a:spcBef>
                <a:spcPct val="0"/>
              </a:spcBef>
            </a:pPr>
            <a:r>
              <a:rPr lang="en-US" sz="1404" strike="noStrike" u="none">
                <a:solidFill>
                  <a:srgbClr val="262626"/>
                </a:solidFill>
                <a:latin typeface="王漢宗特黑體"/>
                <a:ea typeface="王漢宗特黑體"/>
                <a:cs typeface="王漢宗特黑體"/>
                <a:sym typeface="王漢宗特黑體"/>
              </a:rPr>
              <a:t>透過獨立規劃和實施學習計劃，學生可以提高自我效能感並養成長期的學習習慣。透過這種方式，您不僅可以提升英語技能，還可以培養可應用於其他學習環境的自我管理技能。</a:t>
            </a:r>
          </a:p>
        </p:txBody>
      </p:sp>
      <p:grpSp>
        <p:nvGrpSpPr>
          <p:cNvPr name="Group 21" id="21"/>
          <p:cNvGrpSpPr/>
          <p:nvPr/>
        </p:nvGrpSpPr>
        <p:grpSpPr>
          <a:xfrm rot="0">
            <a:off x="16528492" y="2734095"/>
            <a:ext cx="249736" cy="249737"/>
            <a:chOff x="0" y="0"/>
            <a:chExt cx="332982" cy="332982"/>
          </a:xfrm>
        </p:grpSpPr>
        <p:sp>
          <p:nvSpPr>
            <p:cNvPr name="Freeform 22" id="22"/>
            <p:cNvSpPr/>
            <p:nvPr/>
          </p:nvSpPr>
          <p:spPr>
            <a:xfrm flipH="false" flipV="false" rot="0">
              <a:off x="0" y="0"/>
              <a:ext cx="332994" cy="332994"/>
            </a:xfrm>
            <a:custGeom>
              <a:avLst/>
              <a:gdLst/>
              <a:ahLst/>
              <a:cxnLst/>
              <a:rect r="r" b="b" t="t" l="l"/>
              <a:pathLst>
                <a:path h="332994" w="332994">
                  <a:moveTo>
                    <a:pt x="0" y="166497"/>
                  </a:moveTo>
                  <a:cubicBezTo>
                    <a:pt x="0" y="74549"/>
                    <a:pt x="74549" y="0"/>
                    <a:pt x="166497" y="0"/>
                  </a:cubicBezTo>
                  <a:cubicBezTo>
                    <a:pt x="258445" y="0"/>
                    <a:pt x="332994" y="74549"/>
                    <a:pt x="332994" y="166497"/>
                  </a:cubicBezTo>
                  <a:cubicBezTo>
                    <a:pt x="332994" y="258445"/>
                    <a:pt x="258445" y="332994"/>
                    <a:pt x="166497" y="332994"/>
                  </a:cubicBezTo>
                  <a:cubicBezTo>
                    <a:pt x="74549" y="332994"/>
                    <a:pt x="0" y="258445"/>
                    <a:pt x="0" y="166497"/>
                  </a:cubicBezTo>
                  <a:close/>
                </a:path>
              </a:pathLst>
            </a:custGeom>
            <a:solidFill>
              <a:srgbClr val="E9A65D"/>
            </a:solidFill>
          </p:spPr>
        </p:sp>
      </p:grpSp>
      <p:sp>
        <p:nvSpPr>
          <p:cNvPr name="TextBox 23" id="23"/>
          <p:cNvSpPr txBox="true"/>
          <p:nvPr/>
        </p:nvSpPr>
        <p:spPr>
          <a:xfrm rot="0">
            <a:off x="10217317" y="4614930"/>
            <a:ext cx="6436044"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提升自我管理能力</a:t>
            </a:r>
          </a:p>
        </p:txBody>
      </p:sp>
      <p:sp>
        <p:nvSpPr>
          <p:cNvPr name="TextBox 24" id="24"/>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個人化學習</a:t>
            </a:r>
          </a:p>
        </p:txBody>
      </p:sp>
      <p:grpSp>
        <p:nvGrpSpPr>
          <p:cNvPr name="Group 25" id="25"/>
          <p:cNvGrpSpPr/>
          <p:nvPr/>
        </p:nvGrpSpPr>
        <p:grpSpPr>
          <a:xfrm rot="0">
            <a:off x="507207" y="541823"/>
            <a:ext cx="483393" cy="347514"/>
            <a:chOff x="0" y="0"/>
            <a:chExt cx="644524" cy="463352"/>
          </a:xfrm>
        </p:grpSpPr>
        <p:sp>
          <p:nvSpPr>
            <p:cNvPr name="Freeform 26" id="26"/>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7" id="27"/>
          <p:cNvGrpSpPr/>
          <p:nvPr/>
        </p:nvGrpSpPr>
        <p:grpSpPr>
          <a:xfrm rot="0">
            <a:off x="735807" y="974172"/>
            <a:ext cx="254793" cy="183173"/>
            <a:chOff x="0" y="0"/>
            <a:chExt cx="339724" cy="244230"/>
          </a:xfrm>
        </p:grpSpPr>
        <p:sp>
          <p:nvSpPr>
            <p:cNvPr name="Freeform 28" id="28"/>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9" id="29"/>
          <p:cNvGrpSpPr/>
          <p:nvPr/>
        </p:nvGrpSpPr>
        <p:grpSpPr>
          <a:xfrm rot="0">
            <a:off x="735807" y="1242180"/>
            <a:ext cx="254793" cy="183173"/>
            <a:chOff x="0" y="0"/>
            <a:chExt cx="339724" cy="244230"/>
          </a:xfrm>
        </p:grpSpPr>
        <p:sp>
          <p:nvSpPr>
            <p:cNvPr name="Freeform 30" id="30"/>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00548"/>
            <a:ext cx="10344081" cy="92392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王漢宗特黑體"/>
                <a:ea typeface="王漢宗特黑體"/>
                <a:cs typeface="王漢宗特黑體"/>
                <a:sym typeface="王漢宗特黑體"/>
              </a:rPr>
              <a:t>酷英語的優勢</a:t>
            </a:r>
          </a:p>
        </p:txBody>
      </p:sp>
      <p:sp>
        <p:nvSpPr>
          <p:cNvPr name="TextBox 13" id="13"/>
          <p:cNvSpPr txBox="true"/>
          <p:nvPr/>
        </p:nvSpPr>
        <p:spPr>
          <a:xfrm rot="0">
            <a:off x="6738512" y="1443297"/>
            <a:ext cx="4810978" cy="30956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王漢宗特黑體"/>
                <a:ea typeface="王漢宗特黑體"/>
                <a:cs typeface="王漢宗特黑體"/>
                <a:sym typeface="王漢宗特黑體"/>
              </a:rPr>
              <a:t>02</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2020998" y="2122908"/>
            <a:ext cx="6480000" cy="6650785"/>
            <a:chOff x="0" y="0"/>
            <a:chExt cx="8640000" cy="8867714"/>
          </a:xfrm>
        </p:grpSpPr>
        <p:sp>
          <p:nvSpPr>
            <p:cNvPr name="Freeform 5" id="5"/>
            <p:cNvSpPr/>
            <p:nvPr/>
          </p:nvSpPr>
          <p:spPr>
            <a:xfrm flipH="false" flipV="false" rot="0">
              <a:off x="0" y="0"/>
              <a:ext cx="8639937" cy="8867775"/>
            </a:xfrm>
            <a:custGeom>
              <a:avLst/>
              <a:gdLst/>
              <a:ahLst/>
              <a:cxnLst/>
              <a:rect r="r" b="b" t="t" l="l"/>
              <a:pathLst>
                <a:path h="8867775" w="8639937">
                  <a:moveTo>
                    <a:pt x="0" y="0"/>
                  </a:moveTo>
                  <a:lnTo>
                    <a:pt x="8639937" y="0"/>
                  </a:lnTo>
                  <a:lnTo>
                    <a:pt x="8639937" y="8867775"/>
                  </a:lnTo>
                  <a:lnTo>
                    <a:pt x="0" y="8867775"/>
                  </a:lnTo>
                  <a:close/>
                </a:path>
              </a:pathLst>
            </a:custGeom>
            <a:solidFill>
              <a:srgbClr val="FFFFFF"/>
            </a:solidFill>
          </p:spPr>
        </p:sp>
      </p:grpSp>
      <p:grpSp>
        <p:nvGrpSpPr>
          <p:cNvPr name="Group 6" id="6"/>
          <p:cNvGrpSpPr/>
          <p:nvPr/>
        </p:nvGrpSpPr>
        <p:grpSpPr>
          <a:xfrm rot="0">
            <a:off x="2020998" y="2122906"/>
            <a:ext cx="6480000" cy="147798"/>
            <a:chOff x="0" y="0"/>
            <a:chExt cx="8640000" cy="197064"/>
          </a:xfrm>
        </p:grpSpPr>
        <p:sp>
          <p:nvSpPr>
            <p:cNvPr name="Freeform 7" id="7"/>
            <p:cNvSpPr/>
            <p:nvPr/>
          </p:nvSpPr>
          <p:spPr>
            <a:xfrm flipH="false" flipV="false" rot="0">
              <a:off x="0" y="0"/>
              <a:ext cx="8639937" cy="197104"/>
            </a:xfrm>
            <a:custGeom>
              <a:avLst/>
              <a:gdLst/>
              <a:ahLst/>
              <a:cxnLst/>
              <a:rect r="r" b="b" t="t" l="l"/>
              <a:pathLst>
                <a:path h="197104" w="8639937">
                  <a:moveTo>
                    <a:pt x="0" y="0"/>
                  </a:moveTo>
                  <a:lnTo>
                    <a:pt x="8639937" y="0"/>
                  </a:lnTo>
                  <a:lnTo>
                    <a:pt x="8639937" y="197104"/>
                  </a:lnTo>
                  <a:lnTo>
                    <a:pt x="0" y="197104"/>
                  </a:lnTo>
                  <a:close/>
                </a:path>
              </a:pathLst>
            </a:custGeom>
            <a:gradFill rotWithShape="true">
              <a:gsLst>
                <a:gs pos="0">
                  <a:srgbClr val="E9A65D">
                    <a:alpha val="100000"/>
                  </a:srgbClr>
                </a:gs>
                <a:gs pos="98000">
                  <a:srgbClr val="D77E1D">
                    <a:alpha val="100000"/>
                  </a:srgbClr>
                </a:gs>
              </a:gsLst>
              <a:lin ang="2700000"/>
            </a:gradFill>
          </p:spPr>
        </p:sp>
      </p:grpSp>
      <p:sp>
        <p:nvSpPr>
          <p:cNvPr name="TextBox 8" id="8"/>
          <p:cNvSpPr txBox="true"/>
          <p:nvPr/>
        </p:nvSpPr>
        <p:spPr>
          <a:xfrm rot="0">
            <a:off x="2560998" y="4365743"/>
            <a:ext cx="540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透過風景動畫學習</a:t>
            </a:r>
          </a:p>
        </p:txBody>
      </p:sp>
      <p:sp>
        <p:nvSpPr>
          <p:cNvPr name="TextBox 9" id="9"/>
          <p:cNvSpPr txBox="true"/>
          <p:nvPr/>
        </p:nvSpPr>
        <p:spPr>
          <a:xfrm rot="0">
            <a:off x="2560998" y="5583793"/>
            <a:ext cx="5400000" cy="1362075"/>
          </a:xfrm>
          <a:prstGeom prst="rect">
            <a:avLst/>
          </a:prstGeom>
        </p:spPr>
        <p:txBody>
          <a:bodyPr anchor="t" rtlCol="false" tIns="0" lIns="0" bIns="0" rIns="0">
            <a:spAutoFit/>
          </a:bodyPr>
          <a:lstStyle/>
          <a:p>
            <a:pPr algn="ctr" marL="0" indent="0" lvl="0">
              <a:lnSpc>
                <a:spcPts val="1542"/>
              </a:lnSpc>
              <a:spcBef>
                <a:spcPct val="0"/>
              </a:spcBef>
            </a:pPr>
            <a:r>
              <a:rPr lang="en-US" sz="1285" strike="noStrike" u="none">
                <a:solidFill>
                  <a:srgbClr val="595959"/>
                </a:solidFill>
                <a:latin typeface="王漢宗特黑體"/>
                <a:ea typeface="王漢宗特黑體"/>
                <a:cs typeface="王漢宗特黑體"/>
                <a:sym typeface="王漢宗特黑體"/>
              </a:rPr>
              <a:t>場景動畫非常有效，因為它可以讓您在現實的環境中學習英語。例如，您可以自然地學習現實生活中可以使用的英語表達，例如如何在餐廳點餐或與朋友的日常對話中。由於學習利用視覺和聽覺感官，因此易於記憶，學習效果高。</a:t>
            </a:r>
          </a:p>
          <a:p>
            <a:pPr algn="ctr" marL="0" indent="0" lvl="0">
              <a:lnSpc>
                <a:spcPts val="1542"/>
              </a:lnSpc>
              <a:spcBef>
                <a:spcPct val="0"/>
              </a:spcBef>
            </a:pPr>
            <a:r>
              <a:rPr lang="en-US" sz="1285" strike="noStrike" u="none">
                <a:solidFill>
                  <a:srgbClr val="595959"/>
                </a:solidFill>
                <a:latin typeface="王漢宗特黑體"/>
                <a:ea typeface="王漢宗特黑體"/>
                <a:cs typeface="王漢宗特黑體"/>
                <a:sym typeface="王漢宗特黑體"/>
              </a:rPr>
              <a:t>場景動畫也吸引了學習者的興趣，因為它融入了講故事的元素。透過故事學習英語可以讓你了解如何在上下文中使用英語，而不僅僅是死記硬背知識。這是現實生活中溝通的重要技能。</a:t>
            </a:r>
          </a:p>
        </p:txBody>
      </p:sp>
      <p:sp>
        <p:nvSpPr>
          <p:cNvPr name="AutoShape 10" id="10"/>
          <p:cNvSpPr/>
          <p:nvPr/>
        </p:nvSpPr>
        <p:spPr>
          <a:xfrm rot="238349">
            <a:off x="4951647" y="5309484"/>
            <a:ext cx="618706" cy="0"/>
          </a:xfrm>
          <a:prstGeom prst="line">
            <a:avLst/>
          </a:prstGeom>
          <a:ln cap="rnd" w="19050">
            <a:solidFill>
              <a:srgbClr val="E9A65D"/>
            </a:solidFill>
            <a:prstDash val="solid"/>
            <a:headEnd type="none" len="sm" w="sm"/>
            <a:tailEnd type="none" len="sm" w="sm"/>
          </a:ln>
        </p:spPr>
      </p:sp>
      <p:grpSp>
        <p:nvGrpSpPr>
          <p:cNvPr name="Group 11" id="11"/>
          <p:cNvGrpSpPr/>
          <p:nvPr/>
        </p:nvGrpSpPr>
        <p:grpSpPr>
          <a:xfrm rot="0">
            <a:off x="9767952" y="2122908"/>
            <a:ext cx="6480000" cy="6650785"/>
            <a:chOff x="0" y="0"/>
            <a:chExt cx="8640000" cy="8867714"/>
          </a:xfrm>
        </p:grpSpPr>
        <p:sp>
          <p:nvSpPr>
            <p:cNvPr name="Freeform 12" id="12"/>
            <p:cNvSpPr/>
            <p:nvPr/>
          </p:nvSpPr>
          <p:spPr>
            <a:xfrm flipH="false" flipV="false" rot="0">
              <a:off x="0" y="0"/>
              <a:ext cx="8639937" cy="8867775"/>
            </a:xfrm>
            <a:custGeom>
              <a:avLst/>
              <a:gdLst/>
              <a:ahLst/>
              <a:cxnLst/>
              <a:rect r="r" b="b" t="t" l="l"/>
              <a:pathLst>
                <a:path h="8867775" w="8639937">
                  <a:moveTo>
                    <a:pt x="0" y="0"/>
                  </a:moveTo>
                  <a:lnTo>
                    <a:pt x="8639937" y="0"/>
                  </a:lnTo>
                  <a:lnTo>
                    <a:pt x="8639937" y="8867775"/>
                  </a:lnTo>
                  <a:lnTo>
                    <a:pt x="0" y="8867775"/>
                  </a:lnTo>
                  <a:close/>
                </a:path>
              </a:pathLst>
            </a:custGeom>
            <a:solidFill>
              <a:srgbClr val="FFFFFF"/>
            </a:solidFill>
          </p:spPr>
        </p:sp>
      </p:grpSp>
      <p:grpSp>
        <p:nvGrpSpPr>
          <p:cNvPr name="Group 13" id="13"/>
          <p:cNvGrpSpPr/>
          <p:nvPr/>
        </p:nvGrpSpPr>
        <p:grpSpPr>
          <a:xfrm rot="0">
            <a:off x="9767952" y="2122906"/>
            <a:ext cx="6480000" cy="147798"/>
            <a:chOff x="0" y="0"/>
            <a:chExt cx="8640000" cy="197064"/>
          </a:xfrm>
        </p:grpSpPr>
        <p:sp>
          <p:nvSpPr>
            <p:cNvPr name="Freeform 14" id="14"/>
            <p:cNvSpPr/>
            <p:nvPr/>
          </p:nvSpPr>
          <p:spPr>
            <a:xfrm flipH="false" flipV="false" rot="0">
              <a:off x="0" y="0"/>
              <a:ext cx="8639937" cy="197104"/>
            </a:xfrm>
            <a:custGeom>
              <a:avLst/>
              <a:gdLst/>
              <a:ahLst/>
              <a:cxnLst/>
              <a:rect r="r" b="b" t="t" l="l"/>
              <a:pathLst>
                <a:path h="197104" w="8639937">
                  <a:moveTo>
                    <a:pt x="0" y="0"/>
                  </a:moveTo>
                  <a:lnTo>
                    <a:pt x="8639937" y="0"/>
                  </a:lnTo>
                  <a:lnTo>
                    <a:pt x="8639937" y="197104"/>
                  </a:lnTo>
                  <a:lnTo>
                    <a:pt x="0" y="197104"/>
                  </a:lnTo>
                  <a:close/>
                </a:path>
              </a:pathLst>
            </a:custGeom>
            <a:gradFill rotWithShape="true">
              <a:gsLst>
                <a:gs pos="0">
                  <a:srgbClr val="E9A65D">
                    <a:alpha val="100000"/>
                  </a:srgbClr>
                </a:gs>
                <a:gs pos="98000">
                  <a:srgbClr val="D77E1D">
                    <a:alpha val="100000"/>
                  </a:srgbClr>
                </a:gs>
              </a:gsLst>
              <a:lin ang="2700000"/>
            </a:gradFill>
          </p:spPr>
        </p:sp>
      </p:grpSp>
      <p:sp>
        <p:nvSpPr>
          <p:cNvPr name="TextBox 15" id="15"/>
          <p:cNvSpPr txBox="true"/>
          <p:nvPr/>
        </p:nvSpPr>
        <p:spPr>
          <a:xfrm rot="0">
            <a:off x="10307950" y="4365743"/>
            <a:ext cx="54000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按主題進行詞彙練習</a:t>
            </a:r>
          </a:p>
        </p:txBody>
      </p:sp>
      <p:sp>
        <p:nvSpPr>
          <p:cNvPr name="TextBox 16" id="16"/>
          <p:cNvSpPr txBox="true"/>
          <p:nvPr/>
        </p:nvSpPr>
        <p:spPr>
          <a:xfrm rot="0">
            <a:off x="10307950" y="5583793"/>
            <a:ext cx="5400000" cy="1362075"/>
          </a:xfrm>
          <a:prstGeom prst="rect">
            <a:avLst/>
          </a:prstGeom>
        </p:spPr>
        <p:txBody>
          <a:bodyPr anchor="t" rtlCol="false" tIns="0" lIns="0" bIns="0" rIns="0">
            <a:spAutoFit/>
          </a:bodyPr>
          <a:lstStyle/>
          <a:p>
            <a:pPr algn="ctr" marL="0" indent="0" lvl="0">
              <a:lnSpc>
                <a:spcPts val="1542"/>
              </a:lnSpc>
              <a:spcBef>
                <a:spcPct val="0"/>
              </a:spcBef>
            </a:pPr>
            <a:r>
              <a:rPr lang="en-US" sz="1285" strike="noStrike" u="none">
                <a:solidFill>
                  <a:srgbClr val="595959"/>
                </a:solidFill>
                <a:latin typeface="王漢宗特黑體"/>
                <a:ea typeface="王漢宗特黑體"/>
                <a:cs typeface="王漢宗特黑體"/>
                <a:sym typeface="王漢宗特黑體"/>
              </a:rPr>
              <a:t>主題詞彙練習是一項功能，可讓您專注於學習與特定情況或主題相關的單字和短語。例如，您可以根據旅行、美食、工作等各種主題來增加詞彙量。這樣做的好處是可以有效地記住可以在真實對話中使用的單字。</a:t>
            </a:r>
          </a:p>
          <a:p>
            <a:pPr algn="ctr" marL="0" indent="0" lvl="0">
              <a:lnSpc>
                <a:spcPts val="1542"/>
              </a:lnSpc>
              <a:spcBef>
                <a:spcPct val="0"/>
              </a:spcBef>
            </a:pPr>
            <a:r>
              <a:rPr lang="en-US" sz="1285" strike="noStrike" u="none">
                <a:solidFill>
                  <a:srgbClr val="595959"/>
                </a:solidFill>
                <a:latin typeface="王漢宗特黑體"/>
                <a:ea typeface="王漢宗特黑體"/>
                <a:cs typeface="王漢宗特黑體"/>
                <a:sym typeface="王漢宗特黑體"/>
              </a:rPr>
              <a:t>透過按主題組織詞彙，可以更輕鬆地有系統地記住您正在學習的內容。此外，一起記住相關的單字和短語將使您更容易理解如何在上下文中使用它們。例如，在旅行中打卡時，您可以一次學習相關表達和問題，並獲得在現實生活中應用的能力。</a:t>
            </a:r>
          </a:p>
        </p:txBody>
      </p:sp>
      <p:sp>
        <p:nvSpPr>
          <p:cNvPr name="AutoShape 17" id="17"/>
          <p:cNvSpPr/>
          <p:nvPr/>
        </p:nvSpPr>
        <p:spPr>
          <a:xfrm rot="238349">
            <a:off x="12698600" y="5309484"/>
            <a:ext cx="618706" cy="0"/>
          </a:xfrm>
          <a:prstGeom prst="line">
            <a:avLst/>
          </a:prstGeom>
          <a:ln cap="rnd" w="19050">
            <a:solidFill>
              <a:srgbClr val="E9A65D"/>
            </a:solidFill>
            <a:prstDash val="solid"/>
            <a:headEnd type="none" len="sm" w="sm"/>
            <a:tailEnd type="none" len="sm" w="sm"/>
          </a:ln>
        </p:spPr>
      </p:sp>
      <p:sp>
        <p:nvSpPr>
          <p:cNvPr name="Freeform 18" id="18"/>
          <p:cNvSpPr/>
          <p:nvPr/>
        </p:nvSpPr>
        <p:spPr>
          <a:xfrm flipH="false" flipV="false" rot="0">
            <a:off x="4762496" y="2821345"/>
            <a:ext cx="997008" cy="1080002"/>
          </a:xfrm>
          <a:custGeom>
            <a:avLst/>
            <a:gdLst/>
            <a:ahLst/>
            <a:cxnLst/>
            <a:rect r="r" b="b" t="t" l="l"/>
            <a:pathLst>
              <a:path h="1080002" w="997008">
                <a:moveTo>
                  <a:pt x="0" y="0"/>
                </a:moveTo>
                <a:lnTo>
                  <a:pt x="997008" y="0"/>
                </a:lnTo>
                <a:lnTo>
                  <a:pt x="997008" y="1080002"/>
                </a:lnTo>
                <a:lnTo>
                  <a:pt x="0" y="108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2449948" y="2821345"/>
            <a:ext cx="1116006" cy="1080002"/>
          </a:xfrm>
          <a:custGeom>
            <a:avLst/>
            <a:gdLst/>
            <a:ahLst/>
            <a:cxnLst/>
            <a:rect r="r" b="b" t="t" l="l"/>
            <a:pathLst>
              <a:path h="1080002" w="1116006">
                <a:moveTo>
                  <a:pt x="0" y="0"/>
                </a:moveTo>
                <a:lnTo>
                  <a:pt x="1116006" y="0"/>
                </a:lnTo>
                <a:lnTo>
                  <a:pt x="1116006" y="1080002"/>
                </a:lnTo>
                <a:lnTo>
                  <a:pt x="0" y="10800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多樣化的學習資源</a:t>
            </a:r>
          </a:p>
        </p:txBody>
      </p:sp>
      <p:grpSp>
        <p:nvGrpSpPr>
          <p:cNvPr name="Group 21" id="21"/>
          <p:cNvGrpSpPr/>
          <p:nvPr/>
        </p:nvGrpSpPr>
        <p:grpSpPr>
          <a:xfrm rot="0">
            <a:off x="507207" y="541823"/>
            <a:ext cx="483393" cy="347514"/>
            <a:chOff x="0" y="0"/>
            <a:chExt cx="644524" cy="463352"/>
          </a:xfrm>
        </p:grpSpPr>
        <p:sp>
          <p:nvSpPr>
            <p:cNvPr name="Freeform 22" id="22"/>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3" id="23"/>
          <p:cNvGrpSpPr/>
          <p:nvPr/>
        </p:nvGrpSpPr>
        <p:grpSpPr>
          <a:xfrm rot="0">
            <a:off x="735807" y="974172"/>
            <a:ext cx="254793" cy="183173"/>
            <a:chOff x="0" y="0"/>
            <a:chExt cx="339724" cy="244230"/>
          </a:xfrm>
        </p:grpSpPr>
        <p:sp>
          <p:nvSpPr>
            <p:cNvPr name="Freeform 24" id="24"/>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5" id="25"/>
          <p:cNvGrpSpPr/>
          <p:nvPr/>
        </p:nvGrpSpPr>
        <p:grpSpPr>
          <a:xfrm rot="0">
            <a:off x="735807" y="1242180"/>
            <a:ext cx="254793" cy="183173"/>
            <a:chOff x="0" y="0"/>
            <a:chExt cx="339724" cy="244230"/>
          </a:xfrm>
        </p:grpSpPr>
        <p:sp>
          <p:nvSpPr>
            <p:cNvPr name="Freeform 26" id="26"/>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TextBox 4" id="4"/>
          <p:cNvSpPr txBox="true"/>
          <p:nvPr/>
        </p:nvSpPr>
        <p:spPr>
          <a:xfrm rot="0">
            <a:off x="3091038" y="6232098"/>
            <a:ext cx="5710400" cy="1571625"/>
          </a:xfrm>
          <a:prstGeom prst="rect">
            <a:avLst/>
          </a:prstGeom>
        </p:spPr>
        <p:txBody>
          <a:bodyPr anchor="t" rtlCol="false" tIns="0" lIns="0" bIns="0" rIns="0">
            <a:spAutoFit/>
          </a:bodyPr>
          <a:lstStyle/>
          <a:p>
            <a:pPr algn="ctr" marL="0" indent="0" lvl="0">
              <a:lnSpc>
                <a:spcPts val="1767"/>
              </a:lnSpc>
              <a:spcBef>
                <a:spcPct val="0"/>
              </a:spcBef>
            </a:pPr>
            <a:r>
              <a:rPr lang="en-US" sz="1473" strike="noStrike" u="none">
                <a:solidFill>
                  <a:srgbClr val="262626"/>
                </a:solidFill>
                <a:latin typeface="王漢宗特黑體"/>
                <a:ea typeface="王漢宗特黑體"/>
                <a:cs typeface="王漢宗特黑體"/>
                <a:sym typeface="王漢宗特黑體"/>
              </a:rPr>
              <a:t>文法測驗遊戲旨在提供有趣的學習體驗，讓學習者透過遊戲來獲取文法知識。因為問題以遊戲的形式呈現，你可以透過選擇正確答案自然地獲得文法知識，學習無壓力。</a:t>
            </a:r>
          </a:p>
          <a:p>
            <a:pPr algn="ctr" marL="0" indent="0" lvl="0">
              <a:lnSpc>
                <a:spcPts val="1767"/>
              </a:lnSpc>
              <a:spcBef>
                <a:spcPct val="0"/>
              </a:spcBef>
            </a:pPr>
            <a:r>
              <a:rPr lang="en-US" sz="1473" strike="noStrike" u="none">
                <a:solidFill>
                  <a:srgbClr val="262626"/>
                </a:solidFill>
                <a:latin typeface="王漢宗特黑體"/>
                <a:ea typeface="王漢宗特黑體"/>
                <a:cs typeface="王漢宗特黑體"/>
                <a:sym typeface="王漢宗特黑體"/>
              </a:rPr>
              <a:t>此外，測驗形式還具有激發競爭精神，進而激發學習動力的作用。與其他學習者競爭分數有很大的好處，可以讓你客觀地評估自己的文法技能並找到需要改進的地方。這可以讓你享受並有效地學習，而不僅僅是死記硬背。</a:t>
            </a:r>
          </a:p>
        </p:txBody>
      </p:sp>
      <p:sp>
        <p:nvSpPr>
          <p:cNvPr name="TextBox 5" id="5"/>
          <p:cNvSpPr txBox="true"/>
          <p:nvPr/>
        </p:nvSpPr>
        <p:spPr>
          <a:xfrm rot="0">
            <a:off x="3091038" y="5816103"/>
            <a:ext cx="5710400"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使用文法測驗遊戲</a:t>
            </a:r>
          </a:p>
        </p:txBody>
      </p:sp>
      <p:sp>
        <p:nvSpPr>
          <p:cNvPr name="TextBox 6" id="6"/>
          <p:cNvSpPr txBox="true"/>
          <p:nvPr/>
        </p:nvSpPr>
        <p:spPr>
          <a:xfrm rot="0">
            <a:off x="9493887" y="6232098"/>
            <a:ext cx="5710399" cy="1352550"/>
          </a:xfrm>
          <a:prstGeom prst="rect">
            <a:avLst/>
          </a:prstGeom>
        </p:spPr>
        <p:txBody>
          <a:bodyPr anchor="t" rtlCol="false" tIns="0" lIns="0" bIns="0" rIns="0">
            <a:spAutoFit/>
          </a:bodyPr>
          <a:lstStyle/>
          <a:p>
            <a:pPr algn="ctr" marL="0" indent="0" lvl="0">
              <a:lnSpc>
                <a:spcPts val="1776"/>
              </a:lnSpc>
              <a:spcBef>
                <a:spcPct val="0"/>
              </a:spcBef>
            </a:pPr>
            <a:r>
              <a:rPr lang="en-US" sz="1480" strike="noStrike" u="none">
                <a:solidFill>
                  <a:srgbClr val="262626"/>
                </a:solidFill>
                <a:latin typeface="王漢宗特黑體"/>
                <a:ea typeface="王漢宗特黑體"/>
                <a:cs typeface="王漢宗特黑體"/>
                <a:sym typeface="王漢宗特黑體"/>
              </a:rPr>
              <a:t>RPG Missions 是一項融合了角色扮演遊戲元素的學習功能，可讓您透過完成特定任務和階段來提升英語技能。這個系統隨著遊戲的進展提供了一種成就感，並有效地維持了學習者的長期動力。</a:t>
            </a:r>
          </a:p>
          <a:p>
            <a:pPr algn="ctr" marL="0" indent="0" lvl="0">
              <a:lnSpc>
                <a:spcPts val="1776"/>
              </a:lnSpc>
              <a:spcBef>
                <a:spcPct val="0"/>
              </a:spcBef>
            </a:pPr>
            <a:r>
              <a:rPr lang="en-US" sz="1480" strike="noStrike" u="none">
                <a:solidFill>
                  <a:srgbClr val="262626"/>
                </a:solidFill>
                <a:latin typeface="王漢宗特黑體"/>
                <a:ea typeface="王漢宗特黑體"/>
                <a:cs typeface="王漢宗特黑體"/>
                <a:sym typeface="王漢宗特黑體"/>
              </a:rPr>
              <a:t>當你完成每個任務時，你將獲得新的技能和知識，這將逐漸增加難度。這使得學習者能夠繼續學習，同時始終充滿挑戰。每次完成挑戰時獲得的獎勵和成就感都會鼓勵你學習，並成為持續學習的動力。</a:t>
            </a:r>
          </a:p>
        </p:txBody>
      </p:sp>
      <p:sp>
        <p:nvSpPr>
          <p:cNvPr name="TextBox 7" id="7"/>
          <p:cNvSpPr txBox="true"/>
          <p:nvPr/>
        </p:nvSpPr>
        <p:spPr>
          <a:xfrm rot="0">
            <a:off x="9493887" y="5816103"/>
            <a:ext cx="5710399" cy="409575"/>
          </a:xfrm>
          <a:prstGeom prst="rect">
            <a:avLst/>
          </a:prstGeom>
        </p:spPr>
        <p:txBody>
          <a:bodyPr anchor="t" rtlCol="false" tIns="0" lIns="0" bIns="0" rIns="0">
            <a:spAutoFit/>
          </a:bodyPr>
          <a:lstStyle/>
          <a:p>
            <a:pPr algn="ctr"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透過 RPG 任務學習</a:t>
            </a:r>
          </a:p>
        </p:txBody>
      </p:sp>
      <p:grpSp>
        <p:nvGrpSpPr>
          <p:cNvPr name="Group 8" id="8"/>
          <p:cNvGrpSpPr/>
          <p:nvPr/>
        </p:nvGrpSpPr>
        <p:grpSpPr>
          <a:xfrm rot="0">
            <a:off x="10676139" y="4355337"/>
            <a:ext cx="3345896" cy="898776"/>
            <a:chOff x="0" y="0"/>
            <a:chExt cx="4461194" cy="1198368"/>
          </a:xfrm>
        </p:grpSpPr>
        <p:sp>
          <p:nvSpPr>
            <p:cNvPr name="Freeform 9" id="9"/>
            <p:cNvSpPr/>
            <p:nvPr/>
          </p:nvSpPr>
          <p:spPr>
            <a:xfrm flipH="false" flipV="false" rot="0">
              <a:off x="0" y="0"/>
              <a:ext cx="4461256" cy="1198372"/>
            </a:xfrm>
            <a:custGeom>
              <a:avLst/>
              <a:gdLst/>
              <a:ahLst/>
              <a:cxnLst/>
              <a:rect r="r" b="b" t="t" l="l"/>
              <a:pathLst>
                <a:path h="1198372" w="4461256">
                  <a:moveTo>
                    <a:pt x="0" y="599186"/>
                  </a:moveTo>
                  <a:cubicBezTo>
                    <a:pt x="0" y="268224"/>
                    <a:pt x="998728" y="0"/>
                    <a:pt x="2230628" y="0"/>
                  </a:cubicBezTo>
                  <a:cubicBezTo>
                    <a:pt x="3462528" y="0"/>
                    <a:pt x="4461256" y="268224"/>
                    <a:pt x="4461256" y="599186"/>
                  </a:cubicBezTo>
                  <a:cubicBezTo>
                    <a:pt x="4461256" y="930148"/>
                    <a:pt x="3462528" y="1198372"/>
                    <a:pt x="2230628" y="1198372"/>
                  </a:cubicBezTo>
                  <a:cubicBezTo>
                    <a:pt x="998728" y="1198372"/>
                    <a:pt x="0" y="930148"/>
                    <a:pt x="0" y="599186"/>
                  </a:cubicBezTo>
                  <a:close/>
                </a:path>
              </a:pathLst>
            </a:custGeom>
            <a:gradFill rotWithShape="true">
              <a:gsLst>
                <a:gs pos="0">
                  <a:srgbClr val="E9A65D">
                    <a:alpha val="18000"/>
                  </a:srgbClr>
                </a:gs>
                <a:gs pos="50000">
                  <a:srgbClr val="FBEDDF">
                    <a:alpha val="34000"/>
                  </a:srgbClr>
                </a:gs>
                <a:gs pos="100000">
                  <a:srgbClr val="FFFFFF">
                    <a:alpha val="100000"/>
                  </a:srgbClr>
                </a:gs>
              </a:gsLst>
              <a:lin ang="16200000"/>
            </a:gradFill>
          </p:spPr>
        </p:sp>
      </p:grpSp>
      <p:grpSp>
        <p:nvGrpSpPr>
          <p:cNvPr name="Group 10" id="10"/>
          <p:cNvGrpSpPr/>
          <p:nvPr/>
        </p:nvGrpSpPr>
        <p:grpSpPr>
          <a:xfrm rot="0">
            <a:off x="11026953" y="4376510"/>
            <a:ext cx="2644268" cy="710306"/>
            <a:chOff x="0" y="0"/>
            <a:chExt cx="3525690" cy="947074"/>
          </a:xfrm>
        </p:grpSpPr>
        <p:sp>
          <p:nvSpPr>
            <p:cNvPr name="Freeform 11" id="11"/>
            <p:cNvSpPr/>
            <p:nvPr/>
          </p:nvSpPr>
          <p:spPr>
            <a:xfrm flipH="false" flipV="false" rot="0">
              <a:off x="0" y="0"/>
              <a:ext cx="3525647" cy="947039"/>
            </a:xfrm>
            <a:custGeom>
              <a:avLst/>
              <a:gdLst/>
              <a:ahLst/>
              <a:cxnLst/>
              <a:rect r="r" b="b" t="t" l="l"/>
              <a:pathLst>
                <a:path h="947039" w="3525647">
                  <a:moveTo>
                    <a:pt x="0" y="473583"/>
                  </a:moveTo>
                  <a:cubicBezTo>
                    <a:pt x="0" y="211963"/>
                    <a:pt x="789305" y="0"/>
                    <a:pt x="1762887" y="0"/>
                  </a:cubicBezTo>
                  <a:cubicBezTo>
                    <a:pt x="2736469" y="0"/>
                    <a:pt x="3525647" y="211963"/>
                    <a:pt x="3525647" y="473583"/>
                  </a:cubicBezTo>
                  <a:cubicBezTo>
                    <a:pt x="3525647" y="735203"/>
                    <a:pt x="2736469" y="947039"/>
                    <a:pt x="1762887" y="947039"/>
                  </a:cubicBezTo>
                  <a:cubicBezTo>
                    <a:pt x="789305" y="947039"/>
                    <a:pt x="0" y="735076"/>
                    <a:pt x="0" y="473583"/>
                  </a:cubicBezTo>
                  <a:close/>
                </a:path>
              </a:pathLst>
            </a:custGeom>
            <a:gradFill rotWithShape="true">
              <a:gsLst>
                <a:gs pos="0">
                  <a:srgbClr val="F2CA9E">
                    <a:alpha val="100000"/>
                  </a:srgbClr>
                </a:gs>
                <a:gs pos="100000">
                  <a:srgbClr val="FFFFFF">
                    <a:alpha val="100000"/>
                  </a:srgbClr>
                </a:gs>
              </a:gsLst>
              <a:lin ang="16200000"/>
            </a:gradFill>
          </p:spPr>
        </p:sp>
      </p:grpSp>
      <p:grpSp>
        <p:nvGrpSpPr>
          <p:cNvPr name="Group 12" id="12"/>
          <p:cNvGrpSpPr/>
          <p:nvPr/>
        </p:nvGrpSpPr>
        <p:grpSpPr>
          <a:xfrm rot="2700000">
            <a:off x="11466392" y="2488461"/>
            <a:ext cx="1765391" cy="1765389"/>
            <a:chOff x="0" y="0"/>
            <a:chExt cx="2353854" cy="2353852"/>
          </a:xfrm>
        </p:grpSpPr>
        <p:sp>
          <p:nvSpPr>
            <p:cNvPr name="Freeform 13" id="13"/>
            <p:cNvSpPr/>
            <p:nvPr/>
          </p:nvSpPr>
          <p:spPr>
            <a:xfrm flipH="false" flipV="false" rot="0">
              <a:off x="0" y="0"/>
              <a:ext cx="2353818" cy="2353818"/>
            </a:xfrm>
            <a:custGeom>
              <a:avLst/>
              <a:gdLst/>
              <a:ahLst/>
              <a:cxnLst/>
              <a:rect r="r" b="b" t="t" l="l"/>
              <a:pathLst>
                <a:path h="2353818" w="2353818">
                  <a:moveTo>
                    <a:pt x="0" y="107315"/>
                  </a:moveTo>
                  <a:cubicBezTo>
                    <a:pt x="0" y="48006"/>
                    <a:pt x="48006" y="0"/>
                    <a:pt x="107315" y="0"/>
                  </a:cubicBezTo>
                  <a:lnTo>
                    <a:pt x="2246503" y="0"/>
                  </a:lnTo>
                  <a:cubicBezTo>
                    <a:pt x="2305812" y="0"/>
                    <a:pt x="2353818" y="48006"/>
                    <a:pt x="2353818" y="107315"/>
                  </a:cubicBezTo>
                  <a:lnTo>
                    <a:pt x="2353818" y="2246503"/>
                  </a:lnTo>
                  <a:cubicBezTo>
                    <a:pt x="2353818" y="2305812"/>
                    <a:pt x="2305812" y="2353818"/>
                    <a:pt x="2246503" y="2353818"/>
                  </a:cubicBezTo>
                  <a:lnTo>
                    <a:pt x="107315" y="2353818"/>
                  </a:lnTo>
                  <a:cubicBezTo>
                    <a:pt x="48006" y="2353818"/>
                    <a:pt x="0" y="2305812"/>
                    <a:pt x="0" y="2246503"/>
                  </a:cubicBezTo>
                  <a:close/>
                </a:path>
              </a:pathLst>
            </a:custGeom>
            <a:solidFill>
              <a:srgbClr val="E9A65D"/>
            </a:solidFill>
          </p:spPr>
        </p:sp>
      </p:grpSp>
      <p:grpSp>
        <p:nvGrpSpPr>
          <p:cNvPr name="Group 14" id="14"/>
          <p:cNvGrpSpPr/>
          <p:nvPr/>
        </p:nvGrpSpPr>
        <p:grpSpPr>
          <a:xfrm rot="0">
            <a:off x="4273290" y="4355337"/>
            <a:ext cx="3345896" cy="898776"/>
            <a:chOff x="0" y="0"/>
            <a:chExt cx="4461194" cy="1198368"/>
          </a:xfrm>
        </p:grpSpPr>
        <p:sp>
          <p:nvSpPr>
            <p:cNvPr name="Freeform 15" id="15"/>
            <p:cNvSpPr/>
            <p:nvPr/>
          </p:nvSpPr>
          <p:spPr>
            <a:xfrm flipH="false" flipV="false" rot="0">
              <a:off x="0" y="0"/>
              <a:ext cx="4461256" cy="1198372"/>
            </a:xfrm>
            <a:custGeom>
              <a:avLst/>
              <a:gdLst/>
              <a:ahLst/>
              <a:cxnLst/>
              <a:rect r="r" b="b" t="t" l="l"/>
              <a:pathLst>
                <a:path h="1198372" w="4461256">
                  <a:moveTo>
                    <a:pt x="0" y="599186"/>
                  </a:moveTo>
                  <a:cubicBezTo>
                    <a:pt x="0" y="268224"/>
                    <a:pt x="998728" y="0"/>
                    <a:pt x="2230628" y="0"/>
                  </a:cubicBezTo>
                  <a:cubicBezTo>
                    <a:pt x="3462528" y="0"/>
                    <a:pt x="4461256" y="268224"/>
                    <a:pt x="4461256" y="599186"/>
                  </a:cubicBezTo>
                  <a:cubicBezTo>
                    <a:pt x="4461256" y="930148"/>
                    <a:pt x="3462528" y="1198372"/>
                    <a:pt x="2230628" y="1198372"/>
                  </a:cubicBezTo>
                  <a:cubicBezTo>
                    <a:pt x="998728" y="1198372"/>
                    <a:pt x="0" y="930148"/>
                    <a:pt x="0" y="599186"/>
                  </a:cubicBezTo>
                  <a:close/>
                </a:path>
              </a:pathLst>
            </a:custGeom>
            <a:gradFill rotWithShape="true">
              <a:gsLst>
                <a:gs pos="0">
                  <a:srgbClr val="E9A65D">
                    <a:alpha val="18000"/>
                  </a:srgbClr>
                </a:gs>
                <a:gs pos="50000">
                  <a:srgbClr val="FBEDDF">
                    <a:alpha val="34000"/>
                  </a:srgbClr>
                </a:gs>
                <a:gs pos="100000">
                  <a:srgbClr val="FFFFFF">
                    <a:alpha val="100000"/>
                  </a:srgbClr>
                </a:gs>
              </a:gsLst>
              <a:lin ang="16200000"/>
            </a:gradFill>
          </p:spPr>
        </p:sp>
      </p:grpSp>
      <p:grpSp>
        <p:nvGrpSpPr>
          <p:cNvPr name="Group 16" id="16"/>
          <p:cNvGrpSpPr/>
          <p:nvPr/>
        </p:nvGrpSpPr>
        <p:grpSpPr>
          <a:xfrm rot="0">
            <a:off x="4624104" y="4376512"/>
            <a:ext cx="2644267" cy="710306"/>
            <a:chOff x="0" y="0"/>
            <a:chExt cx="3525690" cy="947074"/>
          </a:xfrm>
        </p:grpSpPr>
        <p:sp>
          <p:nvSpPr>
            <p:cNvPr name="Freeform 17" id="17"/>
            <p:cNvSpPr/>
            <p:nvPr/>
          </p:nvSpPr>
          <p:spPr>
            <a:xfrm flipH="false" flipV="false" rot="0">
              <a:off x="0" y="0"/>
              <a:ext cx="3525647" cy="947039"/>
            </a:xfrm>
            <a:custGeom>
              <a:avLst/>
              <a:gdLst/>
              <a:ahLst/>
              <a:cxnLst/>
              <a:rect r="r" b="b" t="t" l="l"/>
              <a:pathLst>
                <a:path h="947039" w="3525647">
                  <a:moveTo>
                    <a:pt x="0" y="473583"/>
                  </a:moveTo>
                  <a:cubicBezTo>
                    <a:pt x="0" y="211963"/>
                    <a:pt x="789305" y="0"/>
                    <a:pt x="1762887" y="0"/>
                  </a:cubicBezTo>
                  <a:cubicBezTo>
                    <a:pt x="2736469" y="0"/>
                    <a:pt x="3525647" y="211963"/>
                    <a:pt x="3525647" y="473583"/>
                  </a:cubicBezTo>
                  <a:cubicBezTo>
                    <a:pt x="3525647" y="735203"/>
                    <a:pt x="2736469" y="947039"/>
                    <a:pt x="1762887" y="947039"/>
                  </a:cubicBezTo>
                  <a:cubicBezTo>
                    <a:pt x="789305" y="947039"/>
                    <a:pt x="0" y="735076"/>
                    <a:pt x="0" y="473583"/>
                  </a:cubicBezTo>
                  <a:close/>
                </a:path>
              </a:pathLst>
            </a:custGeom>
            <a:gradFill rotWithShape="true">
              <a:gsLst>
                <a:gs pos="0">
                  <a:srgbClr val="F2CA9E">
                    <a:alpha val="100000"/>
                  </a:srgbClr>
                </a:gs>
                <a:gs pos="100000">
                  <a:srgbClr val="FFFFFF">
                    <a:alpha val="100000"/>
                  </a:srgbClr>
                </a:gs>
              </a:gsLst>
              <a:lin ang="16200000"/>
            </a:gradFill>
          </p:spPr>
        </p:sp>
      </p:grpSp>
      <p:grpSp>
        <p:nvGrpSpPr>
          <p:cNvPr name="Group 18" id="18"/>
          <p:cNvGrpSpPr/>
          <p:nvPr/>
        </p:nvGrpSpPr>
        <p:grpSpPr>
          <a:xfrm rot="2700000">
            <a:off x="5063542" y="2488461"/>
            <a:ext cx="1765391" cy="1765389"/>
            <a:chOff x="0" y="0"/>
            <a:chExt cx="2353854" cy="2353852"/>
          </a:xfrm>
        </p:grpSpPr>
        <p:sp>
          <p:nvSpPr>
            <p:cNvPr name="Freeform 19" id="19"/>
            <p:cNvSpPr/>
            <p:nvPr/>
          </p:nvSpPr>
          <p:spPr>
            <a:xfrm flipH="false" flipV="false" rot="0">
              <a:off x="0" y="0"/>
              <a:ext cx="2353818" cy="2353818"/>
            </a:xfrm>
            <a:custGeom>
              <a:avLst/>
              <a:gdLst/>
              <a:ahLst/>
              <a:cxnLst/>
              <a:rect r="r" b="b" t="t" l="l"/>
              <a:pathLst>
                <a:path h="2353818" w="2353818">
                  <a:moveTo>
                    <a:pt x="0" y="107315"/>
                  </a:moveTo>
                  <a:cubicBezTo>
                    <a:pt x="0" y="48006"/>
                    <a:pt x="48006" y="0"/>
                    <a:pt x="107315" y="0"/>
                  </a:cubicBezTo>
                  <a:lnTo>
                    <a:pt x="2246503" y="0"/>
                  </a:lnTo>
                  <a:cubicBezTo>
                    <a:pt x="2305812" y="0"/>
                    <a:pt x="2353818" y="48006"/>
                    <a:pt x="2353818" y="107315"/>
                  </a:cubicBezTo>
                  <a:lnTo>
                    <a:pt x="2353818" y="2246503"/>
                  </a:lnTo>
                  <a:cubicBezTo>
                    <a:pt x="2353818" y="2305812"/>
                    <a:pt x="2305812" y="2353818"/>
                    <a:pt x="2246503" y="2353818"/>
                  </a:cubicBezTo>
                  <a:lnTo>
                    <a:pt x="107315" y="2353818"/>
                  </a:lnTo>
                  <a:cubicBezTo>
                    <a:pt x="48006" y="2353818"/>
                    <a:pt x="0" y="2305812"/>
                    <a:pt x="0" y="2246503"/>
                  </a:cubicBezTo>
                  <a:close/>
                </a:path>
              </a:pathLst>
            </a:custGeom>
            <a:solidFill>
              <a:srgbClr val="E9A65D"/>
            </a:solidFill>
          </p:spPr>
        </p:sp>
      </p:grpSp>
      <p:sp>
        <p:nvSpPr>
          <p:cNvPr name="Freeform 20" id="20"/>
          <p:cNvSpPr/>
          <p:nvPr/>
        </p:nvSpPr>
        <p:spPr>
          <a:xfrm flipH="false" flipV="false" rot="0">
            <a:off x="4857022" y="2247558"/>
            <a:ext cx="2231634" cy="2231631"/>
          </a:xfrm>
          <a:custGeom>
            <a:avLst/>
            <a:gdLst/>
            <a:ahLst/>
            <a:cxnLst/>
            <a:rect r="r" b="b" t="t" l="l"/>
            <a:pathLst>
              <a:path h="2231631" w="2231634">
                <a:moveTo>
                  <a:pt x="0" y="0"/>
                </a:moveTo>
                <a:lnTo>
                  <a:pt x="2231634" y="0"/>
                </a:lnTo>
                <a:lnTo>
                  <a:pt x="2231634" y="2231631"/>
                </a:lnTo>
                <a:lnTo>
                  <a:pt x="0" y="2231631"/>
                </a:lnTo>
                <a:lnTo>
                  <a:pt x="0" y="0"/>
                </a:lnTo>
                <a:close/>
              </a:path>
            </a:pathLst>
          </a:custGeom>
          <a:blipFill>
            <a:blip r:embed="rId2"/>
            <a:stretch>
              <a:fillRect l="-32462" t="0" r="-46108" b="0"/>
            </a:stretch>
          </a:blipFill>
        </p:spPr>
      </p:sp>
      <p:sp>
        <p:nvSpPr>
          <p:cNvPr name="Freeform 21" id="21"/>
          <p:cNvSpPr/>
          <p:nvPr/>
        </p:nvSpPr>
        <p:spPr>
          <a:xfrm flipH="false" flipV="false" rot="0">
            <a:off x="11224214" y="2247558"/>
            <a:ext cx="2231634" cy="2231631"/>
          </a:xfrm>
          <a:custGeom>
            <a:avLst/>
            <a:gdLst/>
            <a:ahLst/>
            <a:cxnLst/>
            <a:rect r="r" b="b" t="t" l="l"/>
            <a:pathLst>
              <a:path h="2231631" w="2231634">
                <a:moveTo>
                  <a:pt x="0" y="0"/>
                </a:moveTo>
                <a:lnTo>
                  <a:pt x="2231633" y="0"/>
                </a:lnTo>
                <a:lnTo>
                  <a:pt x="2231633" y="2231631"/>
                </a:lnTo>
                <a:lnTo>
                  <a:pt x="0" y="2231631"/>
                </a:lnTo>
                <a:lnTo>
                  <a:pt x="0" y="0"/>
                </a:lnTo>
                <a:close/>
              </a:path>
            </a:pathLst>
          </a:custGeom>
          <a:blipFill>
            <a:blip r:embed="rId3"/>
            <a:stretch>
              <a:fillRect l="-29706" t="0" r="-48724" b="0"/>
            </a:stretch>
          </a:blipFill>
        </p:spPr>
      </p:sp>
      <p:sp>
        <p:nvSpPr>
          <p:cNvPr name="TextBox 22" id="22"/>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互動學習方式</a:t>
            </a:r>
          </a:p>
        </p:txBody>
      </p:sp>
      <p:grpSp>
        <p:nvGrpSpPr>
          <p:cNvPr name="Group 23" id="23"/>
          <p:cNvGrpSpPr/>
          <p:nvPr/>
        </p:nvGrpSpPr>
        <p:grpSpPr>
          <a:xfrm rot="0">
            <a:off x="507207" y="541823"/>
            <a:ext cx="483393" cy="347514"/>
            <a:chOff x="0" y="0"/>
            <a:chExt cx="644524" cy="463352"/>
          </a:xfrm>
        </p:grpSpPr>
        <p:sp>
          <p:nvSpPr>
            <p:cNvPr name="Freeform 24" id="24"/>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5" id="25"/>
          <p:cNvGrpSpPr/>
          <p:nvPr/>
        </p:nvGrpSpPr>
        <p:grpSpPr>
          <a:xfrm rot="0">
            <a:off x="735807" y="974172"/>
            <a:ext cx="254793" cy="183173"/>
            <a:chOff x="0" y="0"/>
            <a:chExt cx="339724" cy="244230"/>
          </a:xfrm>
        </p:grpSpPr>
        <p:sp>
          <p:nvSpPr>
            <p:cNvPr name="Freeform 26" id="26"/>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7" id="27"/>
          <p:cNvGrpSpPr/>
          <p:nvPr/>
        </p:nvGrpSpPr>
        <p:grpSpPr>
          <a:xfrm rot="0">
            <a:off x="735807" y="1242180"/>
            <a:ext cx="254793" cy="183173"/>
            <a:chOff x="0" y="0"/>
            <a:chExt cx="339724" cy="244230"/>
          </a:xfrm>
        </p:grpSpPr>
        <p:sp>
          <p:nvSpPr>
            <p:cNvPr name="Freeform 28" id="28"/>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3298782" y="2300538"/>
            <a:ext cx="12498681" cy="2089312"/>
            <a:chOff x="0" y="0"/>
            <a:chExt cx="16664908" cy="2785750"/>
          </a:xfrm>
        </p:grpSpPr>
        <p:sp>
          <p:nvSpPr>
            <p:cNvPr name="Freeform 5" id="5"/>
            <p:cNvSpPr/>
            <p:nvPr/>
          </p:nvSpPr>
          <p:spPr>
            <a:xfrm flipH="false" flipV="false" rot="0">
              <a:off x="12700" y="12700"/>
              <a:ext cx="16639539" cy="2760345"/>
            </a:xfrm>
            <a:custGeom>
              <a:avLst/>
              <a:gdLst/>
              <a:ahLst/>
              <a:cxnLst/>
              <a:rect r="r" b="b" t="t" l="l"/>
              <a:pathLst>
                <a:path h="2760345" w="16639539">
                  <a:moveTo>
                    <a:pt x="0" y="2760345"/>
                  </a:moveTo>
                  <a:lnTo>
                    <a:pt x="1912239" y="0"/>
                  </a:lnTo>
                  <a:lnTo>
                    <a:pt x="16639539" y="0"/>
                  </a:lnTo>
                  <a:lnTo>
                    <a:pt x="14727174" y="2760345"/>
                  </a:lnTo>
                  <a:close/>
                </a:path>
              </a:pathLst>
            </a:custGeom>
            <a:solidFill>
              <a:srgbClr val="FFFFFF"/>
            </a:solidFill>
          </p:spPr>
        </p:sp>
        <p:sp>
          <p:nvSpPr>
            <p:cNvPr name="Freeform 6" id="6"/>
            <p:cNvSpPr/>
            <p:nvPr/>
          </p:nvSpPr>
          <p:spPr>
            <a:xfrm flipH="false" flipV="false" rot="0">
              <a:off x="-889" y="0"/>
              <a:ext cx="16666718" cy="2785745"/>
            </a:xfrm>
            <a:custGeom>
              <a:avLst/>
              <a:gdLst/>
              <a:ahLst/>
              <a:cxnLst/>
              <a:rect r="r" b="b" t="t" l="l"/>
              <a:pathLst>
                <a:path h="2785745" w="16666718">
                  <a:moveTo>
                    <a:pt x="3175" y="2765806"/>
                  </a:moveTo>
                  <a:lnTo>
                    <a:pt x="1915414" y="5461"/>
                  </a:lnTo>
                  <a:cubicBezTo>
                    <a:pt x="1917827" y="2032"/>
                    <a:pt x="1921637" y="0"/>
                    <a:pt x="1925828" y="0"/>
                  </a:cubicBezTo>
                  <a:lnTo>
                    <a:pt x="16653128" y="0"/>
                  </a:lnTo>
                  <a:cubicBezTo>
                    <a:pt x="16657827" y="0"/>
                    <a:pt x="16662145" y="2667"/>
                    <a:pt x="16664432" y="6858"/>
                  </a:cubicBezTo>
                  <a:cubicBezTo>
                    <a:pt x="16666718" y="11049"/>
                    <a:pt x="16666337" y="16129"/>
                    <a:pt x="16663669" y="19939"/>
                  </a:cubicBezTo>
                  <a:lnTo>
                    <a:pt x="14751303" y="2780284"/>
                  </a:lnTo>
                  <a:cubicBezTo>
                    <a:pt x="14748891" y="2783713"/>
                    <a:pt x="14745081" y="2785745"/>
                    <a:pt x="14740890" y="2785745"/>
                  </a:cubicBezTo>
                  <a:lnTo>
                    <a:pt x="13589" y="2785745"/>
                  </a:lnTo>
                  <a:cubicBezTo>
                    <a:pt x="8890" y="2785745"/>
                    <a:pt x="4572" y="2783078"/>
                    <a:pt x="2286" y="2778887"/>
                  </a:cubicBezTo>
                  <a:cubicBezTo>
                    <a:pt x="0" y="2774696"/>
                    <a:pt x="381" y="2769616"/>
                    <a:pt x="3048" y="2765806"/>
                  </a:cubicBezTo>
                  <a:moveTo>
                    <a:pt x="23876" y="2780284"/>
                  </a:moveTo>
                  <a:lnTo>
                    <a:pt x="13589" y="2773045"/>
                  </a:lnTo>
                  <a:lnTo>
                    <a:pt x="13589" y="2760345"/>
                  </a:lnTo>
                  <a:lnTo>
                    <a:pt x="14740763" y="2760345"/>
                  </a:lnTo>
                  <a:lnTo>
                    <a:pt x="14740763" y="2773045"/>
                  </a:lnTo>
                  <a:lnTo>
                    <a:pt x="14730350" y="2765806"/>
                  </a:lnTo>
                  <a:lnTo>
                    <a:pt x="16642715" y="5461"/>
                  </a:lnTo>
                  <a:lnTo>
                    <a:pt x="16653128" y="12700"/>
                  </a:lnTo>
                  <a:lnTo>
                    <a:pt x="16653128" y="25400"/>
                  </a:lnTo>
                  <a:lnTo>
                    <a:pt x="1925828" y="25400"/>
                  </a:lnTo>
                  <a:lnTo>
                    <a:pt x="1925828" y="12700"/>
                  </a:lnTo>
                  <a:lnTo>
                    <a:pt x="1936242" y="19939"/>
                  </a:lnTo>
                  <a:lnTo>
                    <a:pt x="24003" y="2780284"/>
                  </a:lnTo>
                  <a:close/>
                </a:path>
              </a:pathLst>
            </a:custGeom>
            <a:solidFill>
              <a:srgbClr val="E9A65D"/>
            </a:solidFill>
          </p:spPr>
        </p:sp>
      </p:grpSp>
      <p:grpSp>
        <p:nvGrpSpPr>
          <p:cNvPr name="Group 7" id="7"/>
          <p:cNvGrpSpPr/>
          <p:nvPr/>
        </p:nvGrpSpPr>
        <p:grpSpPr>
          <a:xfrm rot="0">
            <a:off x="2471487" y="2721643"/>
            <a:ext cx="2305050" cy="1668207"/>
            <a:chOff x="0" y="0"/>
            <a:chExt cx="3073400" cy="2224276"/>
          </a:xfrm>
        </p:grpSpPr>
        <p:sp>
          <p:nvSpPr>
            <p:cNvPr name="Freeform 8" id="8"/>
            <p:cNvSpPr/>
            <p:nvPr/>
          </p:nvSpPr>
          <p:spPr>
            <a:xfrm flipH="false" flipV="false" rot="0">
              <a:off x="12700" y="12700"/>
              <a:ext cx="3048000" cy="2198878"/>
            </a:xfrm>
            <a:custGeom>
              <a:avLst/>
              <a:gdLst/>
              <a:ahLst/>
              <a:cxnLst/>
              <a:rect r="r" b="b" t="t" l="l"/>
              <a:pathLst>
                <a:path h="2198878" w="3048000">
                  <a:moveTo>
                    <a:pt x="0" y="0"/>
                  </a:moveTo>
                  <a:lnTo>
                    <a:pt x="1524000" y="2198878"/>
                  </a:lnTo>
                  <a:lnTo>
                    <a:pt x="3048000" y="0"/>
                  </a:lnTo>
                  <a:close/>
                </a:path>
              </a:pathLst>
            </a:custGeom>
            <a:solidFill>
              <a:srgbClr val="FFFFFF"/>
            </a:solidFill>
          </p:spPr>
        </p:sp>
        <p:sp>
          <p:nvSpPr>
            <p:cNvPr name="Freeform 9" id="9"/>
            <p:cNvSpPr/>
            <p:nvPr/>
          </p:nvSpPr>
          <p:spPr>
            <a:xfrm flipH="false" flipV="false" rot="0">
              <a:off x="-762" y="0"/>
              <a:ext cx="3075051" cy="2224278"/>
            </a:xfrm>
            <a:custGeom>
              <a:avLst/>
              <a:gdLst/>
              <a:ahLst/>
              <a:cxnLst/>
              <a:rect r="r" b="b" t="t" l="l"/>
              <a:pathLst>
                <a:path h="2224278" w="3075051">
                  <a:moveTo>
                    <a:pt x="23876" y="5461"/>
                  </a:moveTo>
                  <a:lnTo>
                    <a:pt x="1547876" y="2204339"/>
                  </a:lnTo>
                  <a:lnTo>
                    <a:pt x="1537462" y="2211578"/>
                  </a:lnTo>
                  <a:lnTo>
                    <a:pt x="1527048" y="2204339"/>
                  </a:lnTo>
                  <a:lnTo>
                    <a:pt x="3051048" y="5461"/>
                  </a:lnTo>
                  <a:lnTo>
                    <a:pt x="3061462" y="12700"/>
                  </a:lnTo>
                  <a:lnTo>
                    <a:pt x="3061462" y="25400"/>
                  </a:lnTo>
                  <a:lnTo>
                    <a:pt x="13462" y="25400"/>
                  </a:lnTo>
                  <a:lnTo>
                    <a:pt x="13462" y="12700"/>
                  </a:lnTo>
                  <a:lnTo>
                    <a:pt x="23876" y="5461"/>
                  </a:lnTo>
                  <a:moveTo>
                    <a:pt x="3048" y="19939"/>
                  </a:moveTo>
                  <a:cubicBezTo>
                    <a:pt x="381" y="16002"/>
                    <a:pt x="0" y="11049"/>
                    <a:pt x="2159" y="6858"/>
                  </a:cubicBezTo>
                  <a:cubicBezTo>
                    <a:pt x="4318" y="2667"/>
                    <a:pt x="8763" y="0"/>
                    <a:pt x="13462" y="0"/>
                  </a:cubicBezTo>
                  <a:lnTo>
                    <a:pt x="3061462" y="0"/>
                  </a:lnTo>
                  <a:cubicBezTo>
                    <a:pt x="3066161" y="0"/>
                    <a:pt x="3070479" y="2667"/>
                    <a:pt x="3072765" y="6858"/>
                  </a:cubicBezTo>
                  <a:cubicBezTo>
                    <a:pt x="3075051" y="11049"/>
                    <a:pt x="3074670" y="16129"/>
                    <a:pt x="3072003" y="19939"/>
                  </a:cubicBezTo>
                  <a:lnTo>
                    <a:pt x="1548003" y="2218817"/>
                  </a:lnTo>
                  <a:cubicBezTo>
                    <a:pt x="1545590" y="2222246"/>
                    <a:pt x="1541780" y="2224278"/>
                    <a:pt x="1537589" y="2224278"/>
                  </a:cubicBezTo>
                  <a:cubicBezTo>
                    <a:pt x="1533398" y="2224278"/>
                    <a:pt x="1529461" y="2222246"/>
                    <a:pt x="1527175" y="2218817"/>
                  </a:cubicBezTo>
                  <a:lnTo>
                    <a:pt x="3048" y="19939"/>
                  </a:lnTo>
                  <a:close/>
                </a:path>
              </a:pathLst>
            </a:custGeom>
            <a:solidFill>
              <a:srgbClr val="E9A65D"/>
            </a:solidFill>
          </p:spPr>
        </p:sp>
      </p:grpSp>
      <p:grpSp>
        <p:nvGrpSpPr>
          <p:cNvPr name="Group 10" id="10"/>
          <p:cNvGrpSpPr/>
          <p:nvPr/>
        </p:nvGrpSpPr>
        <p:grpSpPr>
          <a:xfrm rot="0">
            <a:off x="2471487" y="2300538"/>
            <a:ext cx="2305050" cy="1668207"/>
            <a:chOff x="0" y="0"/>
            <a:chExt cx="3073400" cy="2224276"/>
          </a:xfrm>
        </p:grpSpPr>
        <p:sp>
          <p:nvSpPr>
            <p:cNvPr name="Freeform 11" id="11"/>
            <p:cNvSpPr/>
            <p:nvPr/>
          </p:nvSpPr>
          <p:spPr>
            <a:xfrm flipH="false" flipV="false" rot="0">
              <a:off x="12700" y="12700"/>
              <a:ext cx="3048000" cy="2198878"/>
            </a:xfrm>
            <a:custGeom>
              <a:avLst/>
              <a:gdLst/>
              <a:ahLst/>
              <a:cxnLst/>
              <a:rect r="r" b="b" t="t" l="l"/>
              <a:pathLst>
                <a:path h="2198878" w="3048000">
                  <a:moveTo>
                    <a:pt x="0" y="0"/>
                  </a:moveTo>
                  <a:lnTo>
                    <a:pt x="1524000" y="2198878"/>
                  </a:lnTo>
                  <a:lnTo>
                    <a:pt x="3048000" y="0"/>
                  </a:lnTo>
                  <a:close/>
                </a:path>
              </a:pathLst>
            </a:custGeom>
            <a:solidFill>
              <a:srgbClr val="E9A65D"/>
            </a:solidFill>
          </p:spPr>
        </p:sp>
        <p:sp>
          <p:nvSpPr>
            <p:cNvPr name="Freeform 12" id="12"/>
            <p:cNvSpPr/>
            <p:nvPr/>
          </p:nvSpPr>
          <p:spPr>
            <a:xfrm flipH="false" flipV="false" rot="0">
              <a:off x="-762" y="0"/>
              <a:ext cx="3075051" cy="2224278"/>
            </a:xfrm>
            <a:custGeom>
              <a:avLst/>
              <a:gdLst/>
              <a:ahLst/>
              <a:cxnLst/>
              <a:rect r="r" b="b" t="t" l="l"/>
              <a:pathLst>
                <a:path h="2224278" w="3075051">
                  <a:moveTo>
                    <a:pt x="23876" y="5461"/>
                  </a:moveTo>
                  <a:lnTo>
                    <a:pt x="1547876" y="2204339"/>
                  </a:lnTo>
                  <a:lnTo>
                    <a:pt x="1537462" y="2211578"/>
                  </a:lnTo>
                  <a:lnTo>
                    <a:pt x="1527048" y="2204339"/>
                  </a:lnTo>
                  <a:lnTo>
                    <a:pt x="3051048" y="5461"/>
                  </a:lnTo>
                  <a:lnTo>
                    <a:pt x="3061462" y="12700"/>
                  </a:lnTo>
                  <a:lnTo>
                    <a:pt x="3061462" y="25400"/>
                  </a:lnTo>
                  <a:lnTo>
                    <a:pt x="13462" y="25400"/>
                  </a:lnTo>
                  <a:lnTo>
                    <a:pt x="13462" y="12700"/>
                  </a:lnTo>
                  <a:lnTo>
                    <a:pt x="23876" y="5461"/>
                  </a:lnTo>
                  <a:moveTo>
                    <a:pt x="3048" y="19939"/>
                  </a:moveTo>
                  <a:cubicBezTo>
                    <a:pt x="381" y="16002"/>
                    <a:pt x="0" y="11049"/>
                    <a:pt x="2159" y="6858"/>
                  </a:cubicBezTo>
                  <a:cubicBezTo>
                    <a:pt x="4318" y="2667"/>
                    <a:pt x="8763" y="0"/>
                    <a:pt x="13462" y="0"/>
                  </a:cubicBezTo>
                  <a:lnTo>
                    <a:pt x="3061462" y="0"/>
                  </a:lnTo>
                  <a:cubicBezTo>
                    <a:pt x="3066161" y="0"/>
                    <a:pt x="3070479" y="2667"/>
                    <a:pt x="3072765" y="6858"/>
                  </a:cubicBezTo>
                  <a:cubicBezTo>
                    <a:pt x="3075051" y="11049"/>
                    <a:pt x="3074670" y="16129"/>
                    <a:pt x="3072003" y="19939"/>
                  </a:cubicBezTo>
                  <a:lnTo>
                    <a:pt x="1548003" y="2218817"/>
                  </a:lnTo>
                  <a:cubicBezTo>
                    <a:pt x="1545590" y="2222246"/>
                    <a:pt x="1541780" y="2224278"/>
                    <a:pt x="1537589" y="2224278"/>
                  </a:cubicBezTo>
                  <a:cubicBezTo>
                    <a:pt x="1533398" y="2224278"/>
                    <a:pt x="1529461" y="2222246"/>
                    <a:pt x="1527175" y="2218817"/>
                  </a:cubicBezTo>
                  <a:lnTo>
                    <a:pt x="3048" y="19939"/>
                  </a:lnTo>
                  <a:close/>
                </a:path>
              </a:pathLst>
            </a:custGeom>
            <a:solidFill>
              <a:srgbClr val="E9A65D"/>
            </a:solidFill>
          </p:spPr>
        </p:sp>
      </p:grpSp>
      <p:sp>
        <p:nvSpPr>
          <p:cNvPr name="TextBox 13" id="13"/>
          <p:cNvSpPr txBox="true"/>
          <p:nvPr/>
        </p:nvSpPr>
        <p:spPr>
          <a:xfrm rot="0">
            <a:off x="3217821" y="2410827"/>
            <a:ext cx="812382" cy="723900"/>
          </a:xfrm>
          <a:prstGeom prst="rect">
            <a:avLst/>
          </a:prstGeom>
        </p:spPr>
        <p:txBody>
          <a:bodyPr anchor="t" rtlCol="false" tIns="0" lIns="0" bIns="0" rIns="0">
            <a:spAutoFit/>
          </a:bodyPr>
          <a:lstStyle/>
          <a:p>
            <a:pPr algn="ctr" marL="0" indent="0" lvl="0">
              <a:lnSpc>
                <a:spcPts val="5040"/>
              </a:lnSpc>
              <a:spcBef>
                <a:spcPct val="0"/>
              </a:spcBef>
            </a:pPr>
            <a:r>
              <a:rPr lang="en-US" sz="4200" strike="noStrike" u="none">
                <a:solidFill>
                  <a:srgbClr val="FFFFFF"/>
                </a:solidFill>
                <a:latin typeface="王漢宗特黑體"/>
                <a:ea typeface="王漢宗特黑體"/>
                <a:cs typeface="王漢宗特黑體"/>
                <a:sym typeface="王漢宗特黑體"/>
              </a:rPr>
              <a:t>01</a:t>
            </a:r>
          </a:p>
        </p:txBody>
      </p:sp>
      <p:sp>
        <p:nvSpPr>
          <p:cNvPr name="TextBox 14" id="14"/>
          <p:cNvSpPr txBox="true"/>
          <p:nvPr/>
        </p:nvSpPr>
        <p:spPr>
          <a:xfrm rot="0">
            <a:off x="5005136" y="3106067"/>
            <a:ext cx="9385694" cy="790575"/>
          </a:xfrm>
          <a:prstGeom prst="rect">
            <a:avLst/>
          </a:prstGeom>
        </p:spPr>
        <p:txBody>
          <a:bodyPr anchor="t" rtlCol="false" tIns="0" lIns="0" bIns="0" rIns="0">
            <a:spAutoFit/>
          </a:bodyPr>
          <a:lstStyle/>
          <a:p>
            <a:pPr algn="l" marL="0" indent="0" lvl="0">
              <a:lnSpc>
                <a:spcPts val="1515"/>
              </a:lnSpc>
              <a:spcBef>
                <a:spcPct val="0"/>
              </a:spcBef>
            </a:pPr>
            <a:r>
              <a:rPr lang="en-US" sz="1263" strike="noStrike" u="none">
                <a:solidFill>
                  <a:srgbClr val="262626"/>
                </a:solidFill>
                <a:latin typeface="王漢宗特黑體"/>
                <a:ea typeface="王漢宗特黑體"/>
                <a:cs typeface="王漢宗特黑體"/>
                <a:sym typeface="王漢宗特黑體"/>
              </a:rPr>
              <a:t>Cool English 的功能可以讓學習者追蹤自己的進度並管理自己的學習進度。這可以讓學生看到他們取得了多少進步，並決定下一步要學習什麼。您也可以利用回饋功能進行自我評價。</a:t>
            </a:r>
          </a:p>
          <a:p>
            <a:pPr algn="l" marL="0" indent="0" lvl="0">
              <a:lnSpc>
                <a:spcPts val="1515"/>
              </a:lnSpc>
              <a:spcBef>
                <a:spcPct val="0"/>
              </a:spcBef>
            </a:pPr>
            <a:r>
              <a:rPr lang="en-US" sz="1263" strike="noStrike" u="none">
                <a:solidFill>
                  <a:srgbClr val="262626"/>
                </a:solidFill>
                <a:latin typeface="王漢宗特黑體"/>
                <a:ea typeface="王漢宗特黑體"/>
                <a:cs typeface="王漢宗特黑體"/>
                <a:sym typeface="王漢宗特黑體"/>
              </a:rPr>
              <a:t>這項功能有助於學生實現個人成長。透過視覺化您的進步，您可以看到您的努力並提高您的學習動力。此外，教師將更容易了解學生的進步，從而實現更有效的教學。</a:t>
            </a:r>
          </a:p>
        </p:txBody>
      </p:sp>
      <p:grpSp>
        <p:nvGrpSpPr>
          <p:cNvPr name="Group 15" id="15"/>
          <p:cNvGrpSpPr/>
          <p:nvPr/>
        </p:nvGrpSpPr>
        <p:grpSpPr>
          <a:xfrm rot="0">
            <a:off x="2835316" y="4037376"/>
            <a:ext cx="382504" cy="275944"/>
            <a:chOff x="0" y="0"/>
            <a:chExt cx="510006" cy="367926"/>
          </a:xfrm>
        </p:grpSpPr>
        <p:sp>
          <p:nvSpPr>
            <p:cNvPr name="Freeform 16" id="16"/>
            <p:cNvSpPr/>
            <p:nvPr/>
          </p:nvSpPr>
          <p:spPr>
            <a:xfrm flipH="false" flipV="false" rot="0">
              <a:off x="0" y="0"/>
              <a:ext cx="510032" cy="367919"/>
            </a:xfrm>
            <a:custGeom>
              <a:avLst/>
              <a:gdLst/>
              <a:ahLst/>
              <a:cxnLst/>
              <a:rect r="r" b="b" t="t" l="l"/>
              <a:pathLst>
                <a:path h="367919" w="510032">
                  <a:moveTo>
                    <a:pt x="0" y="0"/>
                  </a:moveTo>
                  <a:lnTo>
                    <a:pt x="255016" y="367919"/>
                  </a:lnTo>
                  <a:lnTo>
                    <a:pt x="510032" y="0"/>
                  </a:lnTo>
                  <a:close/>
                </a:path>
              </a:pathLst>
            </a:custGeom>
            <a:solidFill>
              <a:srgbClr val="F6DBBE"/>
            </a:solidFill>
          </p:spPr>
        </p:sp>
      </p:grpSp>
      <p:sp>
        <p:nvSpPr>
          <p:cNvPr name="TextBox 17" id="17"/>
          <p:cNvSpPr txBox="true"/>
          <p:nvPr/>
        </p:nvSpPr>
        <p:spPr>
          <a:xfrm rot="0">
            <a:off x="5005134" y="2725067"/>
            <a:ext cx="9385692"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追蹤學習進度和自我評估</a:t>
            </a:r>
          </a:p>
        </p:txBody>
      </p:sp>
      <p:grpSp>
        <p:nvGrpSpPr>
          <p:cNvPr name="Group 18" id="18"/>
          <p:cNvGrpSpPr/>
          <p:nvPr/>
        </p:nvGrpSpPr>
        <p:grpSpPr>
          <a:xfrm rot="0">
            <a:off x="3298782" y="5597192"/>
            <a:ext cx="12498681" cy="2089313"/>
            <a:chOff x="0" y="0"/>
            <a:chExt cx="16664908" cy="2785750"/>
          </a:xfrm>
        </p:grpSpPr>
        <p:sp>
          <p:nvSpPr>
            <p:cNvPr name="Freeform 19" id="19"/>
            <p:cNvSpPr/>
            <p:nvPr/>
          </p:nvSpPr>
          <p:spPr>
            <a:xfrm flipH="false" flipV="false" rot="0">
              <a:off x="12700" y="12700"/>
              <a:ext cx="16639539" cy="2760345"/>
            </a:xfrm>
            <a:custGeom>
              <a:avLst/>
              <a:gdLst/>
              <a:ahLst/>
              <a:cxnLst/>
              <a:rect r="r" b="b" t="t" l="l"/>
              <a:pathLst>
                <a:path h="2760345" w="16639539">
                  <a:moveTo>
                    <a:pt x="0" y="2760345"/>
                  </a:moveTo>
                  <a:lnTo>
                    <a:pt x="1912239" y="0"/>
                  </a:lnTo>
                  <a:lnTo>
                    <a:pt x="16639539" y="0"/>
                  </a:lnTo>
                  <a:lnTo>
                    <a:pt x="14727174" y="2760345"/>
                  </a:lnTo>
                  <a:close/>
                </a:path>
              </a:pathLst>
            </a:custGeom>
            <a:solidFill>
              <a:srgbClr val="FFFFFF"/>
            </a:solidFill>
          </p:spPr>
        </p:sp>
        <p:sp>
          <p:nvSpPr>
            <p:cNvPr name="Freeform 20" id="20"/>
            <p:cNvSpPr/>
            <p:nvPr/>
          </p:nvSpPr>
          <p:spPr>
            <a:xfrm flipH="false" flipV="false" rot="0">
              <a:off x="-889" y="0"/>
              <a:ext cx="16666718" cy="2785745"/>
            </a:xfrm>
            <a:custGeom>
              <a:avLst/>
              <a:gdLst/>
              <a:ahLst/>
              <a:cxnLst/>
              <a:rect r="r" b="b" t="t" l="l"/>
              <a:pathLst>
                <a:path h="2785745" w="16666718">
                  <a:moveTo>
                    <a:pt x="3175" y="2765806"/>
                  </a:moveTo>
                  <a:lnTo>
                    <a:pt x="1915414" y="5461"/>
                  </a:lnTo>
                  <a:cubicBezTo>
                    <a:pt x="1917827" y="2032"/>
                    <a:pt x="1921637" y="0"/>
                    <a:pt x="1925828" y="0"/>
                  </a:cubicBezTo>
                  <a:lnTo>
                    <a:pt x="16653128" y="0"/>
                  </a:lnTo>
                  <a:cubicBezTo>
                    <a:pt x="16657827" y="0"/>
                    <a:pt x="16662145" y="2667"/>
                    <a:pt x="16664432" y="6858"/>
                  </a:cubicBezTo>
                  <a:cubicBezTo>
                    <a:pt x="16666718" y="11049"/>
                    <a:pt x="16666337" y="16129"/>
                    <a:pt x="16663669" y="19939"/>
                  </a:cubicBezTo>
                  <a:lnTo>
                    <a:pt x="14751303" y="2780284"/>
                  </a:lnTo>
                  <a:cubicBezTo>
                    <a:pt x="14748891" y="2783713"/>
                    <a:pt x="14745081" y="2785745"/>
                    <a:pt x="14740890" y="2785745"/>
                  </a:cubicBezTo>
                  <a:lnTo>
                    <a:pt x="13589" y="2785745"/>
                  </a:lnTo>
                  <a:cubicBezTo>
                    <a:pt x="8890" y="2785745"/>
                    <a:pt x="4572" y="2783078"/>
                    <a:pt x="2286" y="2778887"/>
                  </a:cubicBezTo>
                  <a:cubicBezTo>
                    <a:pt x="0" y="2774696"/>
                    <a:pt x="381" y="2769616"/>
                    <a:pt x="3048" y="2765806"/>
                  </a:cubicBezTo>
                  <a:moveTo>
                    <a:pt x="23876" y="2780284"/>
                  </a:moveTo>
                  <a:lnTo>
                    <a:pt x="13589" y="2773045"/>
                  </a:lnTo>
                  <a:lnTo>
                    <a:pt x="13589" y="2760345"/>
                  </a:lnTo>
                  <a:lnTo>
                    <a:pt x="14740763" y="2760345"/>
                  </a:lnTo>
                  <a:lnTo>
                    <a:pt x="14740763" y="2773045"/>
                  </a:lnTo>
                  <a:lnTo>
                    <a:pt x="14730350" y="2765806"/>
                  </a:lnTo>
                  <a:lnTo>
                    <a:pt x="16642715" y="5461"/>
                  </a:lnTo>
                  <a:lnTo>
                    <a:pt x="16653128" y="12700"/>
                  </a:lnTo>
                  <a:lnTo>
                    <a:pt x="16653128" y="25400"/>
                  </a:lnTo>
                  <a:lnTo>
                    <a:pt x="1925828" y="25400"/>
                  </a:lnTo>
                  <a:lnTo>
                    <a:pt x="1925828" y="12700"/>
                  </a:lnTo>
                  <a:lnTo>
                    <a:pt x="1936242" y="19939"/>
                  </a:lnTo>
                  <a:lnTo>
                    <a:pt x="24003" y="2780284"/>
                  </a:lnTo>
                  <a:close/>
                </a:path>
              </a:pathLst>
            </a:custGeom>
            <a:solidFill>
              <a:srgbClr val="E9A65D"/>
            </a:solidFill>
          </p:spPr>
        </p:sp>
      </p:grpSp>
      <p:grpSp>
        <p:nvGrpSpPr>
          <p:cNvPr name="Group 21" id="21"/>
          <p:cNvGrpSpPr/>
          <p:nvPr/>
        </p:nvGrpSpPr>
        <p:grpSpPr>
          <a:xfrm rot="0">
            <a:off x="2471487" y="6018297"/>
            <a:ext cx="2305050" cy="1668207"/>
            <a:chOff x="0" y="0"/>
            <a:chExt cx="3073400" cy="2224276"/>
          </a:xfrm>
        </p:grpSpPr>
        <p:sp>
          <p:nvSpPr>
            <p:cNvPr name="Freeform 22" id="22"/>
            <p:cNvSpPr/>
            <p:nvPr/>
          </p:nvSpPr>
          <p:spPr>
            <a:xfrm flipH="false" flipV="false" rot="0">
              <a:off x="12700" y="12700"/>
              <a:ext cx="3048000" cy="2198878"/>
            </a:xfrm>
            <a:custGeom>
              <a:avLst/>
              <a:gdLst/>
              <a:ahLst/>
              <a:cxnLst/>
              <a:rect r="r" b="b" t="t" l="l"/>
              <a:pathLst>
                <a:path h="2198878" w="3048000">
                  <a:moveTo>
                    <a:pt x="0" y="0"/>
                  </a:moveTo>
                  <a:lnTo>
                    <a:pt x="1524000" y="2198878"/>
                  </a:lnTo>
                  <a:lnTo>
                    <a:pt x="3048000" y="0"/>
                  </a:lnTo>
                  <a:close/>
                </a:path>
              </a:pathLst>
            </a:custGeom>
            <a:solidFill>
              <a:srgbClr val="FFFFFF"/>
            </a:solidFill>
          </p:spPr>
        </p:sp>
        <p:sp>
          <p:nvSpPr>
            <p:cNvPr name="Freeform 23" id="23"/>
            <p:cNvSpPr/>
            <p:nvPr/>
          </p:nvSpPr>
          <p:spPr>
            <a:xfrm flipH="false" flipV="false" rot="0">
              <a:off x="-762" y="0"/>
              <a:ext cx="3075051" cy="2224278"/>
            </a:xfrm>
            <a:custGeom>
              <a:avLst/>
              <a:gdLst/>
              <a:ahLst/>
              <a:cxnLst/>
              <a:rect r="r" b="b" t="t" l="l"/>
              <a:pathLst>
                <a:path h="2224278" w="3075051">
                  <a:moveTo>
                    <a:pt x="23876" y="5461"/>
                  </a:moveTo>
                  <a:lnTo>
                    <a:pt x="1547876" y="2204339"/>
                  </a:lnTo>
                  <a:lnTo>
                    <a:pt x="1537462" y="2211578"/>
                  </a:lnTo>
                  <a:lnTo>
                    <a:pt x="1527048" y="2204339"/>
                  </a:lnTo>
                  <a:lnTo>
                    <a:pt x="3051048" y="5461"/>
                  </a:lnTo>
                  <a:lnTo>
                    <a:pt x="3061462" y="12700"/>
                  </a:lnTo>
                  <a:lnTo>
                    <a:pt x="3061462" y="25400"/>
                  </a:lnTo>
                  <a:lnTo>
                    <a:pt x="13462" y="25400"/>
                  </a:lnTo>
                  <a:lnTo>
                    <a:pt x="13462" y="12700"/>
                  </a:lnTo>
                  <a:lnTo>
                    <a:pt x="23876" y="5461"/>
                  </a:lnTo>
                  <a:moveTo>
                    <a:pt x="3048" y="19939"/>
                  </a:moveTo>
                  <a:cubicBezTo>
                    <a:pt x="381" y="16002"/>
                    <a:pt x="0" y="11049"/>
                    <a:pt x="2159" y="6858"/>
                  </a:cubicBezTo>
                  <a:cubicBezTo>
                    <a:pt x="4318" y="2667"/>
                    <a:pt x="8763" y="0"/>
                    <a:pt x="13462" y="0"/>
                  </a:cubicBezTo>
                  <a:lnTo>
                    <a:pt x="3061462" y="0"/>
                  </a:lnTo>
                  <a:cubicBezTo>
                    <a:pt x="3066161" y="0"/>
                    <a:pt x="3070479" y="2667"/>
                    <a:pt x="3072765" y="6858"/>
                  </a:cubicBezTo>
                  <a:cubicBezTo>
                    <a:pt x="3075051" y="11049"/>
                    <a:pt x="3074670" y="16129"/>
                    <a:pt x="3072003" y="19939"/>
                  </a:cubicBezTo>
                  <a:lnTo>
                    <a:pt x="1548003" y="2218817"/>
                  </a:lnTo>
                  <a:cubicBezTo>
                    <a:pt x="1545590" y="2222246"/>
                    <a:pt x="1541780" y="2224278"/>
                    <a:pt x="1537589" y="2224278"/>
                  </a:cubicBezTo>
                  <a:cubicBezTo>
                    <a:pt x="1533398" y="2224278"/>
                    <a:pt x="1529461" y="2222246"/>
                    <a:pt x="1527175" y="2218817"/>
                  </a:cubicBezTo>
                  <a:lnTo>
                    <a:pt x="3048" y="19939"/>
                  </a:lnTo>
                  <a:close/>
                </a:path>
              </a:pathLst>
            </a:custGeom>
            <a:solidFill>
              <a:srgbClr val="E9A65D"/>
            </a:solidFill>
          </p:spPr>
        </p:sp>
      </p:grpSp>
      <p:grpSp>
        <p:nvGrpSpPr>
          <p:cNvPr name="Group 24" id="24"/>
          <p:cNvGrpSpPr/>
          <p:nvPr/>
        </p:nvGrpSpPr>
        <p:grpSpPr>
          <a:xfrm rot="0">
            <a:off x="2471487" y="5597192"/>
            <a:ext cx="2305050" cy="1668207"/>
            <a:chOff x="0" y="0"/>
            <a:chExt cx="3073400" cy="2224276"/>
          </a:xfrm>
        </p:grpSpPr>
        <p:sp>
          <p:nvSpPr>
            <p:cNvPr name="Freeform 25" id="25"/>
            <p:cNvSpPr/>
            <p:nvPr/>
          </p:nvSpPr>
          <p:spPr>
            <a:xfrm flipH="false" flipV="false" rot="0">
              <a:off x="12700" y="12700"/>
              <a:ext cx="3048000" cy="2198878"/>
            </a:xfrm>
            <a:custGeom>
              <a:avLst/>
              <a:gdLst/>
              <a:ahLst/>
              <a:cxnLst/>
              <a:rect r="r" b="b" t="t" l="l"/>
              <a:pathLst>
                <a:path h="2198878" w="3048000">
                  <a:moveTo>
                    <a:pt x="0" y="0"/>
                  </a:moveTo>
                  <a:lnTo>
                    <a:pt x="1524000" y="2198878"/>
                  </a:lnTo>
                  <a:lnTo>
                    <a:pt x="3048000" y="0"/>
                  </a:lnTo>
                  <a:close/>
                </a:path>
              </a:pathLst>
            </a:custGeom>
            <a:solidFill>
              <a:srgbClr val="E9A65D"/>
            </a:solidFill>
          </p:spPr>
        </p:sp>
        <p:sp>
          <p:nvSpPr>
            <p:cNvPr name="Freeform 26" id="26"/>
            <p:cNvSpPr/>
            <p:nvPr/>
          </p:nvSpPr>
          <p:spPr>
            <a:xfrm flipH="false" flipV="false" rot="0">
              <a:off x="-762" y="0"/>
              <a:ext cx="3075051" cy="2224278"/>
            </a:xfrm>
            <a:custGeom>
              <a:avLst/>
              <a:gdLst/>
              <a:ahLst/>
              <a:cxnLst/>
              <a:rect r="r" b="b" t="t" l="l"/>
              <a:pathLst>
                <a:path h="2224278" w="3075051">
                  <a:moveTo>
                    <a:pt x="23876" y="5461"/>
                  </a:moveTo>
                  <a:lnTo>
                    <a:pt x="1547876" y="2204339"/>
                  </a:lnTo>
                  <a:lnTo>
                    <a:pt x="1537462" y="2211578"/>
                  </a:lnTo>
                  <a:lnTo>
                    <a:pt x="1527048" y="2204339"/>
                  </a:lnTo>
                  <a:lnTo>
                    <a:pt x="3051048" y="5461"/>
                  </a:lnTo>
                  <a:lnTo>
                    <a:pt x="3061462" y="12700"/>
                  </a:lnTo>
                  <a:lnTo>
                    <a:pt x="3061462" y="25400"/>
                  </a:lnTo>
                  <a:lnTo>
                    <a:pt x="13462" y="25400"/>
                  </a:lnTo>
                  <a:lnTo>
                    <a:pt x="13462" y="12700"/>
                  </a:lnTo>
                  <a:lnTo>
                    <a:pt x="23876" y="5461"/>
                  </a:lnTo>
                  <a:moveTo>
                    <a:pt x="3048" y="19939"/>
                  </a:moveTo>
                  <a:cubicBezTo>
                    <a:pt x="381" y="16002"/>
                    <a:pt x="0" y="11049"/>
                    <a:pt x="2159" y="6858"/>
                  </a:cubicBezTo>
                  <a:cubicBezTo>
                    <a:pt x="4318" y="2667"/>
                    <a:pt x="8763" y="0"/>
                    <a:pt x="13462" y="0"/>
                  </a:cubicBezTo>
                  <a:lnTo>
                    <a:pt x="3061462" y="0"/>
                  </a:lnTo>
                  <a:cubicBezTo>
                    <a:pt x="3066161" y="0"/>
                    <a:pt x="3070479" y="2667"/>
                    <a:pt x="3072765" y="6858"/>
                  </a:cubicBezTo>
                  <a:cubicBezTo>
                    <a:pt x="3075051" y="11049"/>
                    <a:pt x="3074670" y="16129"/>
                    <a:pt x="3072003" y="19939"/>
                  </a:cubicBezTo>
                  <a:lnTo>
                    <a:pt x="1548003" y="2218817"/>
                  </a:lnTo>
                  <a:cubicBezTo>
                    <a:pt x="1545590" y="2222246"/>
                    <a:pt x="1541780" y="2224278"/>
                    <a:pt x="1537589" y="2224278"/>
                  </a:cubicBezTo>
                  <a:cubicBezTo>
                    <a:pt x="1533398" y="2224278"/>
                    <a:pt x="1529461" y="2222246"/>
                    <a:pt x="1527175" y="2218817"/>
                  </a:cubicBezTo>
                  <a:lnTo>
                    <a:pt x="3048" y="19939"/>
                  </a:lnTo>
                  <a:close/>
                </a:path>
              </a:pathLst>
            </a:custGeom>
            <a:solidFill>
              <a:srgbClr val="E9A65D"/>
            </a:solidFill>
          </p:spPr>
        </p:sp>
      </p:grpSp>
      <p:sp>
        <p:nvSpPr>
          <p:cNvPr name="TextBox 27" id="27"/>
          <p:cNvSpPr txBox="true"/>
          <p:nvPr/>
        </p:nvSpPr>
        <p:spPr>
          <a:xfrm rot="0">
            <a:off x="3217821" y="5707481"/>
            <a:ext cx="812382" cy="723900"/>
          </a:xfrm>
          <a:prstGeom prst="rect">
            <a:avLst/>
          </a:prstGeom>
        </p:spPr>
        <p:txBody>
          <a:bodyPr anchor="t" rtlCol="false" tIns="0" lIns="0" bIns="0" rIns="0">
            <a:spAutoFit/>
          </a:bodyPr>
          <a:lstStyle/>
          <a:p>
            <a:pPr algn="ctr" marL="0" indent="0" lvl="0">
              <a:lnSpc>
                <a:spcPts val="5040"/>
              </a:lnSpc>
              <a:spcBef>
                <a:spcPct val="0"/>
              </a:spcBef>
            </a:pPr>
            <a:r>
              <a:rPr lang="en-US" sz="4200" strike="noStrike" u="none">
                <a:solidFill>
                  <a:srgbClr val="FFFFFF"/>
                </a:solidFill>
                <a:latin typeface="王漢宗特黑體"/>
                <a:ea typeface="王漢宗特黑體"/>
                <a:cs typeface="王漢宗特黑體"/>
                <a:sym typeface="王漢宗特黑體"/>
              </a:rPr>
              <a:t>02</a:t>
            </a:r>
          </a:p>
        </p:txBody>
      </p:sp>
      <p:sp>
        <p:nvSpPr>
          <p:cNvPr name="TextBox 28" id="28"/>
          <p:cNvSpPr txBox="true"/>
          <p:nvPr/>
        </p:nvSpPr>
        <p:spPr>
          <a:xfrm rot="0">
            <a:off x="5005136" y="6402720"/>
            <a:ext cx="9385694" cy="790575"/>
          </a:xfrm>
          <a:prstGeom prst="rect">
            <a:avLst/>
          </a:prstGeom>
        </p:spPr>
        <p:txBody>
          <a:bodyPr anchor="t" rtlCol="false" tIns="0" lIns="0" bIns="0" rIns="0">
            <a:spAutoFit/>
          </a:bodyPr>
          <a:lstStyle/>
          <a:p>
            <a:pPr algn="l" marL="0" indent="0" lvl="0">
              <a:lnSpc>
                <a:spcPts val="1515"/>
              </a:lnSpc>
              <a:spcBef>
                <a:spcPct val="0"/>
              </a:spcBef>
            </a:pPr>
            <a:r>
              <a:rPr lang="en-US" sz="1263" strike="noStrike" u="none">
                <a:solidFill>
                  <a:srgbClr val="262626"/>
                </a:solidFill>
                <a:latin typeface="王漢宗特黑體"/>
                <a:ea typeface="王漢宗特黑體"/>
                <a:cs typeface="王漢宗特黑體"/>
                <a:sym typeface="王漢宗特黑體"/>
              </a:rPr>
              <a:t>獨立學習的另一個重要面向是學習者培養制定和執行自己的學習計畫的能力。在酷英語，學生被鼓勵設定自己的學習目標並按照自己的步調學習。這有助於提高自我管理技能。</a:t>
            </a:r>
          </a:p>
          <a:p>
            <a:pPr algn="l" marL="0" indent="0" lvl="0">
              <a:lnSpc>
                <a:spcPts val="1515"/>
              </a:lnSpc>
              <a:spcBef>
                <a:spcPct val="0"/>
              </a:spcBef>
            </a:pPr>
            <a:r>
              <a:rPr lang="en-US" sz="1263" strike="noStrike" u="none">
                <a:solidFill>
                  <a:srgbClr val="262626"/>
                </a:solidFill>
                <a:latin typeface="王漢宗特黑體"/>
                <a:ea typeface="王漢宗特黑體"/>
                <a:cs typeface="王漢宗特黑體"/>
                <a:sym typeface="王漢宗特黑體"/>
              </a:rPr>
              <a:t>透過獨立規劃和實施學習計劃，學生可以提高自我效能感並養成長期的學習習慣。透過這種方式，您不僅可以提升英語技能，還可以培養可應用於其他學習環境的自我管理技能。</a:t>
            </a:r>
          </a:p>
        </p:txBody>
      </p:sp>
      <p:grpSp>
        <p:nvGrpSpPr>
          <p:cNvPr name="Group 29" id="29"/>
          <p:cNvGrpSpPr/>
          <p:nvPr/>
        </p:nvGrpSpPr>
        <p:grpSpPr>
          <a:xfrm rot="0">
            <a:off x="2835316" y="7334030"/>
            <a:ext cx="382504" cy="275944"/>
            <a:chOff x="0" y="0"/>
            <a:chExt cx="510006" cy="367926"/>
          </a:xfrm>
        </p:grpSpPr>
        <p:sp>
          <p:nvSpPr>
            <p:cNvPr name="Freeform 30" id="30"/>
            <p:cNvSpPr/>
            <p:nvPr/>
          </p:nvSpPr>
          <p:spPr>
            <a:xfrm flipH="false" flipV="false" rot="0">
              <a:off x="0" y="0"/>
              <a:ext cx="510032" cy="367919"/>
            </a:xfrm>
            <a:custGeom>
              <a:avLst/>
              <a:gdLst/>
              <a:ahLst/>
              <a:cxnLst/>
              <a:rect r="r" b="b" t="t" l="l"/>
              <a:pathLst>
                <a:path h="367919" w="510032">
                  <a:moveTo>
                    <a:pt x="0" y="0"/>
                  </a:moveTo>
                  <a:lnTo>
                    <a:pt x="255016" y="367919"/>
                  </a:lnTo>
                  <a:lnTo>
                    <a:pt x="510032" y="0"/>
                  </a:lnTo>
                  <a:close/>
                </a:path>
              </a:pathLst>
            </a:custGeom>
            <a:solidFill>
              <a:srgbClr val="F6DBBE"/>
            </a:solidFill>
          </p:spPr>
        </p:sp>
      </p:grpSp>
      <p:sp>
        <p:nvSpPr>
          <p:cNvPr name="TextBox 31" id="31"/>
          <p:cNvSpPr txBox="true"/>
          <p:nvPr/>
        </p:nvSpPr>
        <p:spPr>
          <a:xfrm rot="0">
            <a:off x="5005134" y="6021720"/>
            <a:ext cx="9385692"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E9A65D"/>
                </a:solidFill>
                <a:latin typeface="王漢宗特黑體"/>
                <a:ea typeface="王漢宗特黑體"/>
                <a:cs typeface="王漢宗特黑體"/>
                <a:sym typeface="王漢宗特黑體"/>
              </a:rPr>
              <a:t>學習計畫的規劃與執行</a:t>
            </a:r>
          </a:p>
        </p:txBody>
      </p:sp>
      <p:sp>
        <p:nvSpPr>
          <p:cNvPr name="TextBox 32" id="32"/>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促進自主學習</a:t>
            </a:r>
          </a:p>
        </p:txBody>
      </p:sp>
      <p:grpSp>
        <p:nvGrpSpPr>
          <p:cNvPr name="Group 33" id="33"/>
          <p:cNvGrpSpPr/>
          <p:nvPr/>
        </p:nvGrpSpPr>
        <p:grpSpPr>
          <a:xfrm rot="0">
            <a:off x="507207" y="541823"/>
            <a:ext cx="483393" cy="347514"/>
            <a:chOff x="0" y="0"/>
            <a:chExt cx="644524" cy="463352"/>
          </a:xfrm>
        </p:grpSpPr>
        <p:sp>
          <p:nvSpPr>
            <p:cNvPr name="Freeform 34" id="34"/>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35" id="35"/>
          <p:cNvGrpSpPr/>
          <p:nvPr/>
        </p:nvGrpSpPr>
        <p:grpSpPr>
          <a:xfrm rot="0">
            <a:off x="735807" y="974172"/>
            <a:ext cx="254793" cy="183173"/>
            <a:chOff x="0" y="0"/>
            <a:chExt cx="339724" cy="244230"/>
          </a:xfrm>
        </p:grpSpPr>
        <p:sp>
          <p:nvSpPr>
            <p:cNvPr name="Freeform 36" id="36"/>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37" id="37"/>
          <p:cNvGrpSpPr/>
          <p:nvPr/>
        </p:nvGrpSpPr>
        <p:grpSpPr>
          <a:xfrm rot="0">
            <a:off x="735807" y="1242180"/>
            <a:ext cx="254793" cy="183173"/>
            <a:chOff x="0" y="0"/>
            <a:chExt cx="339724" cy="244230"/>
          </a:xfrm>
        </p:grpSpPr>
        <p:sp>
          <p:nvSpPr>
            <p:cNvPr name="Freeform 38" id="38"/>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1D0DA"/>
        </a:solidFill>
      </p:bgPr>
    </p:bg>
    <p:spTree>
      <p:nvGrpSpPr>
        <p:cNvPr id="1" name=""/>
        <p:cNvGrpSpPr/>
        <p:nvPr/>
      </p:nvGrpSpPr>
      <p:grpSpPr>
        <a:xfrm>
          <a:off x="0" y="0"/>
          <a:ext cx="0" cy="0"/>
          <a:chOff x="0" y="0"/>
          <a:chExt cx="0" cy="0"/>
        </a:xfrm>
      </p:grpSpPr>
      <p:sp>
        <p:nvSpPr>
          <p:cNvPr name="Freeform 2" id="2"/>
          <p:cNvSpPr/>
          <p:nvPr/>
        </p:nvSpPr>
        <p:spPr>
          <a:xfrm flipH="false" flipV="false" rot="0">
            <a:off x="606219" y="503781"/>
            <a:ext cx="2421390" cy="479769"/>
          </a:xfrm>
          <a:custGeom>
            <a:avLst/>
            <a:gdLst/>
            <a:ahLst/>
            <a:cxnLst/>
            <a:rect r="r" b="b" t="t" l="l"/>
            <a:pathLst>
              <a:path h="479769" w="2421390">
                <a:moveTo>
                  <a:pt x="0" y="0"/>
                </a:moveTo>
                <a:lnTo>
                  <a:pt x="2421390" y="0"/>
                </a:lnTo>
                <a:lnTo>
                  <a:pt x="2421390" y="479769"/>
                </a:lnTo>
                <a:lnTo>
                  <a:pt x="0" y="4797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3366" y="8970476"/>
            <a:ext cx="723219" cy="332974"/>
          </a:xfrm>
          <a:custGeom>
            <a:avLst/>
            <a:gdLst/>
            <a:ahLst/>
            <a:cxnLst/>
            <a:rect r="r" b="b" t="t" l="l"/>
            <a:pathLst>
              <a:path h="332974" w="723219">
                <a:moveTo>
                  <a:pt x="0" y="0"/>
                </a:moveTo>
                <a:lnTo>
                  <a:pt x="723219" y="0"/>
                </a:lnTo>
                <a:lnTo>
                  <a:pt x="723219" y="332975"/>
                </a:lnTo>
                <a:lnTo>
                  <a:pt x="0" y="3329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6"/>
            <a:stretch>
              <a:fillRect l="10265" t="3623" r="-2" b="8293"/>
            </a:stretch>
          </a:blipFill>
        </p:spPr>
      </p:sp>
      <p:sp>
        <p:nvSpPr>
          <p:cNvPr name="Freeform 5" id="5"/>
          <p:cNvSpPr/>
          <p:nvPr/>
        </p:nvSpPr>
        <p:spPr>
          <a:xfrm flipH="false" flipV="false" rot="1800000">
            <a:off x="16502457" y="2962287"/>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7"/>
            <a:stretch>
              <a:fillRect l="525" t="15594" r="10373" b="966"/>
            </a:stretch>
          </a:blipFill>
        </p:spPr>
      </p:sp>
      <p:grpSp>
        <p:nvGrpSpPr>
          <p:cNvPr name="Group 6" id="6"/>
          <p:cNvGrpSpPr/>
          <p:nvPr/>
        </p:nvGrpSpPr>
        <p:grpSpPr>
          <a:xfrm rot="176969">
            <a:off x="3277314" y="2387398"/>
            <a:ext cx="11830050" cy="6019800"/>
            <a:chOff x="0" y="0"/>
            <a:chExt cx="15773400" cy="8026400"/>
          </a:xfrm>
        </p:grpSpPr>
        <p:sp>
          <p:nvSpPr>
            <p:cNvPr name="Freeform 7" id="7"/>
            <p:cNvSpPr/>
            <p:nvPr/>
          </p:nvSpPr>
          <p:spPr>
            <a:xfrm flipH="false" flipV="false" rot="0">
              <a:off x="0" y="0"/>
              <a:ext cx="15773400" cy="8026400"/>
            </a:xfrm>
            <a:custGeom>
              <a:avLst/>
              <a:gdLst/>
              <a:ahLst/>
              <a:cxnLst/>
              <a:rect r="r" b="b" t="t" l="l"/>
              <a:pathLst>
                <a:path h="8026400" w="15773400">
                  <a:moveTo>
                    <a:pt x="0" y="0"/>
                  </a:moveTo>
                  <a:lnTo>
                    <a:pt x="15773400" y="0"/>
                  </a:lnTo>
                  <a:lnTo>
                    <a:pt x="15773400" y="8026400"/>
                  </a:lnTo>
                  <a:lnTo>
                    <a:pt x="0" y="8026400"/>
                  </a:lnTo>
                  <a:close/>
                </a:path>
              </a:pathLst>
            </a:custGeom>
            <a:solidFill>
              <a:srgbClr val="DE6258"/>
            </a:solidFill>
          </p:spPr>
        </p:sp>
      </p:grpSp>
      <p:grpSp>
        <p:nvGrpSpPr>
          <p:cNvPr name="Group 8" id="8"/>
          <p:cNvGrpSpPr/>
          <p:nvPr/>
        </p:nvGrpSpPr>
        <p:grpSpPr>
          <a:xfrm rot="2725">
            <a:off x="3000630" y="1954635"/>
            <a:ext cx="12594606" cy="6408849"/>
            <a:chOff x="0" y="0"/>
            <a:chExt cx="16792808" cy="8545132"/>
          </a:xfrm>
        </p:grpSpPr>
        <p:sp>
          <p:nvSpPr>
            <p:cNvPr name="Freeform 9" id="9"/>
            <p:cNvSpPr/>
            <p:nvPr/>
          </p:nvSpPr>
          <p:spPr>
            <a:xfrm flipH="false" flipV="false" rot="0">
              <a:off x="0" y="0"/>
              <a:ext cx="16792829" cy="8545195"/>
            </a:xfrm>
            <a:custGeom>
              <a:avLst/>
              <a:gdLst/>
              <a:ahLst/>
              <a:cxnLst/>
              <a:rect r="r" b="b" t="t" l="l"/>
              <a:pathLst>
                <a:path h="8545195" w="16792829">
                  <a:moveTo>
                    <a:pt x="0" y="0"/>
                  </a:moveTo>
                  <a:lnTo>
                    <a:pt x="16792829" y="0"/>
                  </a:lnTo>
                  <a:lnTo>
                    <a:pt x="16792829" y="6660642"/>
                  </a:lnTo>
                  <a:lnTo>
                    <a:pt x="14908276" y="8545195"/>
                  </a:lnTo>
                  <a:lnTo>
                    <a:pt x="0" y="8545195"/>
                  </a:lnTo>
                  <a:close/>
                </a:path>
              </a:pathLst>
            </a:custGeom>
            <a:solidFill>
              <a:srgbClr val="F2CA9E"/>
            </a:solidFill>
          </p:spPr>
        </p:sp>
        <p:sp>
          <p:nvSpPr>
            <p:cNvPr name="Freeform 10" id="10"/>
            <p:cNvSpPr/>
            <p:nvPr/>
          </p:nvSpPr>
          <p:spPr>
            <a:xfrm flipH="false" flipV="false" rot="0">
              <a:off x="14908276" y="6660642"/>
              <a:ext cx="1884553" cy="1884553"/>
            </a:xfrm>
            <a:custGeom>
              <a:avLst/>
              <a:gdLst/>
              <a:ahLst/>
              <a:cxnLst/>
              <a:rect r="r" b="b" t="t" l="l"/>
              <a:pathLst>
                <a:path h="1884553" w="1884553">
                  <a:moveTo>
                    <a:pt x="0" y="1884553"/>
                  </a:moveTo>
                  <a:lnTo>
                    <a:pt x="376937" y="376935"/>
                  </a:lnTo>
                  <a:lnTo>
                    <a:pt x="1884553" y="0"/>
                  </a:lnTo>
                  <a:close/>
                </a:path>
              </a:pathLst>
            </a:custGeom>
            <a:solidFill>
              <a:srgbClr val="C1A17E"/>
            </a:solidFill>
          </p:spPr>
        </p:sp>
        <p:sp>
          <p:nvSpPr>
            <p:cNvPr name="Freeform 11" id="11"/>
            <p:cNvSpPr/>
            <p:nvPr/>
          </p:nvSpPr>
          <p:spPr>
            <a:xfrm flipH="false" flipV="false" rot="0">
              <a:off x="0" y="0"/>
              <a:ext cx="16792829" cy="8545195"/>
            </a:xfrm>
            <a:custGeom>
              <a:avLst/>
              <a:gdLst/>
              <a:ahLst/>
              <a:cxnLst/>
              <a:rect r="r" b="b" t="t" l="l"/>
              <a:pathLst>
                <a:path h="8545195" w="16792829">
                  <a:moveTo>
                    <a:pt x="14908276" y="8545195"/>
                  </a:moveTo>
                  <a:lnTo>
                    <a:pt x="15285213" y="7037577"/>
                  </a:lnTo>
                  <a:lnTo>
                    <a:pt x="16792829" y="6660642"/>
                  </a:lnTo>
                  <a:lnTo>
                    <a:pt x="14908276" y="8545195"/>
                  </a:lnTo>
                  <a:lnTo>
                    <a:pt x="0" y="8545195"/>
                  </a:lnTo>
                  <a:lnTo>
                    <a:pt x="0" y="0"/>
                  </a:lnTo>
                  <a:lnTo>
                    <a:pt x="16792829" y="0"/>
                  </a:lnTo>
                  <a:lnTo>
                    <a:pt x="16792829" y="6660642"/>
                  </a:lnTo>
                </a:path>
              </a:pathLst>
            </a:custGeom>
            <a:solidFill>
              <a:srgbClr val="000000">
                <a:alpha val="0"/>
              </a:srgbClr>
            </a:solidFill>
          </p:spPr>
        </p:sp>
      </p:grpSp>
      <p:sp>
        <p:nvSpPr>
          <p:cNvPr name="TextBox 12" id="12"/>
          <p:cNvSpPr txBox="true"/>
          <p:nvPr/>
        </p:nvSpPr>
        <p:spPr>
          <a:xfrm rot="0">
            <a:off x="4050829" y="4600548"/>
            <a:ext cx="10344081" cy="92392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王漢宗特黑體"/>
                <a:ea typeface="王漢宗特黑體"/>
                <a:cs typeface="王漢宗特黑體"/>
                <a:sym typeface="王漢宗特黑體"/>
              </a:rPr>
              <a:t>酷英語挑戰</a:t>
            </a:r>
          </a:p>
        </p:txBody>
      </p:sp>
      <p:sp>
        <p:nvSpPr>
          <p:cNvPr name="TextBox 13" id="13"/>
          <p:cNvSpPr txBox="true"/>
          <p:nvPr/>
        </p:nvSpPr>
        <p:spPr>
          <a:xfrm rot="0">
            <a:off x="6738512" y="1443297"/>
            <a:ext cx="4810978" cy="3095625"/>
          </a:xfrm>
          <a:prstGeom prst="rect">
            <a:avLst/>
          </a:prstGeom>
        </p:spPr>
        <p:txBody>
          <a:bodyPr anchor="t" rtlCol="false" tIns="0" lIns="0" bIns="0" rIns="0">
            <a:spAutoFit/>
          </a:bodyPr>
          <a:lstStyle/>
          <a:p>
            <a:pPr algn="ctr" marL="0" indent="0" lvl="0">
              <a:lnSpc>
                <a:spcPts val="21600"/>
              </a:lnSpc>
              <a:spcBef>
                <a:spcPct val="0"/>
              </a:spcBef>
            </a:pPr>
            <a:r>
              <a:rPr lang="en-US" sz="18000" strike="noStrike" u="none">
                <a:solidFill>
                  <a:srgbClr val="000000"/>
                </a:solidFill>
                <a:latin typeface="王漢宗特黑體"/>
                <a:ea typeface="王漢宗特黑體"/>
                <a:cs typeface="王漢宗特黑體"/>
                <a:sym typeface="王漢宗特黑體"/>
              </a:rPr>
              <a:t>03</a:t>
            </a:r>
          </a:p>
        </p:txBody>
      </p:sp>
      <p:sp>
        <p:nvSpPr>
          <p:cNvPr name="Freeform 14" id="14"/>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8"/>
            <a:stretch>
              <a:fillRect l="3912" t="13374" r="23842" b="0"/>
            </a:stretch>
          </a:blipFill>
        </p:spPr>
      </p:sp>
      <p:sp>
        <p:nvSpPr>
          <p:cNvPr name="Freeform 15" id="15"/>
          <p:cNvSpPr/>
          <p:nvPr/>
        </p:nvSpPr>
        <p:spPr>
          <a:xfrm flipH="false" flipV="false" rot="3600000">
            <a:off x="13611933" y="260279"/>
            <a:ext cx="3022517" cy="2503563"/>
          </a:xfrm>
          <a:custGeom>
            <a:avLst/>
            <a:gdLst/>
            <a:ahLst/>
            <a:cxnLst/>
            <a:rect r="r" b="b" t="t" l="l"/>
            <a:pathLst>
              <a:path h="2503563" w="3022517">
                <a:moveTo>
                  <a:pt x="0" y="0"/>
                </a:moveTo>
                <a:lnTo>
                  <a:pt x="3022516" y="0"/>
                </a:lnTo>
                <a:lnTo>
                  <a:pt x="3022516" y="2503563"/>
                </a:lnTo>
                <a:lnTo>
                  <a:pt x="0" y="2503563"/>
                </a:lnTo>
                <a:lnTo>
                  <a:pt x="0" y="0"/>
                </a:lnTo>
                <a:close/>
              </a:path>
            </a:pathLst>
          </a:custGeom>
          <a:blipFill>
            <a:blip r:embed="rId9"/>
            <a:stretch>
              <a:fillRect l="-1041" t="0" r="-1041" b="0"/>
            </a:stretch>
          </a:blipFill>
        </p:spPr>
      </p:sp>
      <p:sp>
        <p:nvSpPr>
          <p:cNvPr name="Freeform 16" id="16"/>
          <p:cNvSpPr/>
          <p:nvPr/>
        </p:nvSpPr>
        <p:spPr>
          <a:xfrm flipH="false" flipV="false" rot="-900000">
            <a:off x="1156143" y="5509439"/>
            <a:ext cx="3172272" cy="3530051"/>
          </a:xfrm>
          <a:custGeom>
            <a:avLst/>
            <a:gdLst/>
            <a:ahLst/>
            <a:cxnLst/>
            <a:rect r="r" b="b" t="t" l="l"/>
            <a:pathLst>
              <a:path h="3530051" w="3172272">
                <a:moveTo>
                  <a:pt x="0" y="0"/>
                </a:moveTo>
                <a:lnTo>
                  <a:pt x="3172272" y="0"/>
                </a:lnTo>
                <a:lnTo>
                  <a:pt x="3172272" y="3530050"/>
                </a:lnTo>
                <a:lnTo>
                  <a:pt x="0" y="3530050"/>
                </a:lnTo>
                <a:lnTo>
                  <a:pt x="0" y="0"/>
                </a:lnTo>
                <a:close/>
              </a:path>
            </a:pathLst>
          </a:custGeom>
          <a:blipFill>
            <a:blip r:embed="rId10"/>
            <a:stretch>
              <a:fillRect l="4871" t="0" r="8631" b="0"/>
            </a:stretch>
          </a:blipFill>
        </p:spPr>
      </p:sp>
      <p:sp>
        <p:nvSpPr>
          <p:cNvPr name="Freeform 17" id="17"/>
          <p:cNvSpPr/>
          <p:nvPr/>
        </p:nvSpPr>
        <p:spPr>
          <a:xfrm flipH="false" flipV="false" rot="0">
            <a:off x="14200623" y="6245298"/>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11"/>
            <a:stretch>
              <a:fillRect l="0" t="0" r="0" b="0"/>
            </a:stretch>
          </a:blipFill>
        </p:spPr>
      </p:sp>
      <p:sp>
        <p:nvSpPr>
          <p:cNvPr name="Freeform 18" id="18"/>
          <p:cNvSpPr/>
          <p:nvPr/>
        </p:nvSpPr>
        <p:spPr>
          <a:xfrm flipH="false" flipV="false" rot="0">
            <a:off x="12249131" y="2549649"/>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2"/>
            <a:stretch>
              <a:fillRect l="14395" t="21072" r="15182" b="20634"/>
            </a:stretch>
          </a:blipFill>
        </p:spPr>
      </p:sp>
      <p:sp>
        <p:nvSpPr>
          <p:cNvPr name="Freeform 19" id="19"/>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3"/>
            <a:stretch>
              <a:fillRect l="20526" t="10668" r="10720" b="6217"/>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sp>
        <p:nvSpPr>
          <p:cNvPr name="Freeform 4" id="4"/>
          <p:cNvSpPr/>
          <p:nvPr/>
        </p:nvSpPr>
        <p:spPr>
          <a:xfrm flipH="false" flipV="false" rot="0">
            <a:off x="9050588" y="3179046"/>
            <a:ext cx="9153937" cy="5508000"/>
          </a:xfrm>
          <a:custGeom>
            <a:avLst/>
            <a:gdLst/>
            <a:ahLst/>
            <a:cxnLst/>
            <a:rect r="r" b="b" t="t" l="l"/>
            <a:pathLst>
              <a:path h="5508000" w="9153937">
                <a:moveTo>
                  <a:pt x="0" y="0"/>
                </a:moveTo>
                <a:lnTo>
                  <a:pt x="9153937" y="0"/>
                </a:lnTo>
                <a:lnTo>
                  <a:pt x="9153937" y="5508000"/>
                </a:lnTo>
                <a:lnTo>
                  <a:pt x="0" y="5508000"/>
                </a:lnTo>
                <a:lnTo>
                  <a:pt x="0" y="0"/>
                </a:lnTo>
                <a:close/>
              </a:path>
            </a:pathLst>
          </a:custGeom>
          <a:blipFill>
            <a:blip r:embed="rId2"/>
            <a:stretch>
              <a:fillRect l="0" t="0" r="-7363" b="0"/>
            </a:stretch>
          </a:blipFill>
        </p:spPr>
      </p:sp>
      <p:sp>
        <p:nvSpPr>
          <p:cNvPr name="Freeform 5" id="5"/>
          <p:cNvSpPr/>
          <p:nvPr/>
        </p:nvSpPr>
        <p:spPr>
          <a:xfrm flipH="false" flipV="false" rot="0">
            <a:off x="10814756" y="3418389"/>
            <a:ext cx="5831388" cy="3604860"/>
          </a:xfrm>
          <a:custGeom>
            <a:avLst/>
            <a:gdLst/>
            <a:ahLst/>
            <a:cxnLst/>
            <a:rect r="r" b="b" t="t" l="l"/>
            <a:pathLst>
              <a:path h="3604860" w="5831388">
                <a:moveTo>
                  <a:pt x="0" y="0"/>
                </a:moveTo>
                <a:lnTo>
                  <a:pt x="5831388" y="0"/>
                </a:lnTo>
                <a:lnTo>
                  <a:pt x="5831388" y="3604860"/>
                </a:lnTo>
                <a:lnTo>
                  <a:pt x="0" y="3604860"/>
                </a:lnTo>
                <a:lnTo>
                  <a:pt x="0" y="0"/>
                </a:lnTo>
                <a:close/>
              </a:path>
            </a:pathLst>
          </a:custGeom>
          <a:blipFill>
            <a:blip r:embed="rId3"/>
            <a:stretch>
              <a:fillRect l="-7532" t="-14477" r="-29272" b="-9548"/>
            </a:stretch>
          </a:blipFill>
        </p:spPr>
      </p:sp>
      <p:grpSp>
        <p:nvGrpSpPr>
          <p:cNvPr name="Group 6" id="6"/>
          <p:cNvGrpSpPr/>
          <p:nvPr/>
        </p:nvGrpSpPr>
        <p:grpSpPr>
          <a:xfrm rot="0">
            <a:off x="981074" y="2335797"/>
            <a:ext cx="8119050" cy="2989050"/>
            <a:chOff x="0" y="0"/>
            <a:chExt cx="10825400" cy="3985400"/>
          </a:xfrm>
        </p:grpSpPr>
        <p:sp>
          <p:nvSpPr>
            <p:cNvPr name="Freeform 7" id="7"/>
            <p:cNvSpPr/>
            <p:nvPr/>
          </p:nvSpPr>
          <p:spPr>
            <a:xfrm flipH="false" flipV="false" rot="0">
              <a:off x="12700" y="12700"/>
              <a:ext cx="10799953" cy="3959987"/>
            </a:xfrm>
            <a:custGeom>
              <a:avLst/>
              <a:gdLst/>
              <a:ahLst/>
              <a:cxnLst/>
              <a:rect r="r" b="b" t="t" l="l"/>
              <a:pathLst>
                <a:path h="3959987" w="10799953">
                  <a:moveTo>
                    <a:pt x="662686" y="0"/>
                  </a:moveTo>
                  <a:lnTo>
                    <a:pt x="10799953" y="0"/>
                  </a:lnTo>
                  <a:lnTo>
                    <a:pt x="10799953" y="3299968"/>
                  </a:lnTo>
                  <a:cubicBezTo>
                    <a:pt x="10799953" y="3664458"/>
                    <a:pt x="10503281" y="3959987"/>
                    <a:pt x="10137267" y="3959987"/>
                  </a:cubicBezTo>
                  <a:lnTo>
                    <a:pt x="0" y="3959987"/>
                  </a:lnTo>
                  <a:lnTo>
                    <a:pt x="0" y="660019"/>
                  </a:lnTo>
                  <a:cubicBezTo>
                    <a:pt x="0" y="295529"/>
                    <a:pt x="296672" y="0"/>
                    <a:pt x="662686" y="0"/>
                  </a:cubicBezTo>
                  <a:close/>
                </a:path>
              </a:pathLst>
            </a:custGeom>
            <a:solidFill>
              <a:srgbClr val="F2F2F2"/>
            </a:solidFill>
          </p:spPr>
        </p:sp>
        <p:sp>
          <p:nvSpPr>
            <p:cNvPr name="Freeform 8" id="8"/>
            <p:cNvSpPr/>
            <p:nvPr/>
          </p:nvSpPr>
          <p:spPr>
            <a:xfrm flipH="false" flipV="false" rot="0">
              <a:off x="0" y="0"/>
              <a:ext cx="10825353" cy="3985387"/>
            </a:xfrm>
            <a:custGeom>
              <a:avLst/>
              <a:gdLst/>
              <a:ahLst/>
              <a:cxnLst/>
              <a:rect r="r" b="b" t="t" l="l"/>
              <a:pathLst>
                <a:path h="3985387" w="10825353">
                  <a:moveTo>
                    <a:pt x="675386" y="0"/>
                  </a:moveTo>
                  <a:lnTo>
                    <a:pt x="10812653" y="0"/>
                  </a:lnTo>
                  <a:cubicBezTo>
                    <a:pt x="10819638" y="0"/>
                    <a:pt x="10825353" y="5715"/>
                    <a:pt x="10825353" y="12700"/>
                  </a:cubicBezTo>
                  <a:lnTo>
                    <a:pt x="10825353" y="3312668"/>
                  </a:lnTo>
                  <a:lnTo>
                    <a:pt x="10812653" y="3312668"/>
                  </a:lnTo>
                  <a:lnTo>
                    <a:pt x="10825353" y="3312668"/>
                  </a:lnTo>
                  <a:cubicBezTo>
                    <a:pt x="10825353" y="3684270"/>
                    <a:pt x="10522966" y="3985387"/>
                    <a:pt x="10149967" y="3985387"/>
                  </a:cubicBezTo>
                  <a:lnTo>
                    <a:pt x="10149967" y="3972687"/>
                  </a:lnTo>
                  <a:lnTo>
                    <a:pt x="10149967" y="3985387"/>
                  </a:lnTo>
                  <a:lnTo>
                    <a:pt x="12700" y="3985387"/>
                  </a:lnTo>
                  <a:cubicBezTo>
                    <a:pt x="5715" y="3985387"/>
                    <a:pt x="0" y="3979672"/>
                    <a:pt x="0" y="3972687"/>
                  </a:cubicBezTo>
                  <a:lnTo>
                    <a:pt x="0" y="672719"/>
                  </a:lnTo>
                  <a:lnTo>
                    <a:pt x="12700" y="672719"/>
                  </a:lnTo>
                  <a:lnTo>
                    <a:pt x="0" y="672719"/>
                  </a:lnTo>
                  <a:cubicBezTo>
                    <a:pt x="0" y="301117"/>
                    <a:pt x="302387" y="0"/>
                    <a:pt x="675386" y="0"/>
                  </a:cubicBezTo>
                  <a:cubicBezTo>
                    <a:pt x="679323" y="0"/>
                    <a:pt x="683006" y="1778"/>
                    <a:pt x="685419" y="4826"/>
                  </a:cubicBezTo>
                  <a:lnTo>
                    <a:pt x="675386" y="12700"/>
                  </a:lnTo>
                  <a:lnTo>
                    <a:pt x="675386" y="0"/>
                  </a:lnTo>
                  <a:moveTo>
                    <a:pt x="675386" y="25400"/>
                  </a:moveTo>
                  <a:cubicBezTo>
                    <a:pt x="671449" y="25400"/>
                    <a:pt x="667766" y="23622"/>
                    <a:pt x="665353" y="20574"/>
                  </a:cubicBezTo>
                  <a:lnTo>
                    <a:pt x="675386" y="12700"/>
                  </a:lnTo>
                  <a:lnTo>
                    <a:pt x="675386" y="25400"/>
                  </a:lnTo>
                  <a:cubicBezTo>
                    <a:pt x="316357" y="25400"/>
                    <a:pt x="25400" y="315214"/>
                    <a:pt x="25400" y="672719"/>
                  </a:cubicBezTo>
                  <a:lnTo>
                    <a:pt x="25400" y="3972687"/>
                  </a:lnTo>
                  <a:lnTo>
                    <a:pt x="12700" y="3972687"/>
                  </a:lnTo>
                  <a:lnTo>
                    <a:pt x="12700" y="3959987"/>
                  </a:lnTo>
                  <a:lnTo>
                    <a:pt x="10149967" y="3959987"/>
                  </a:lnTo>
                  <a:cubicBezTo>
                    <a:pt x="10508997" y="3959987"/>
                    <a:pt x="10799953" y="3670173"/>
                    <a:pt x="10799953" y="3312668"/>
                  </a:cubicBezTo>
                  <a:lnTo>
                    <a:pt x="10799953" y="12700"/>
                  </a:lnTo>
                  <a:lnTo>
                    <a:pt x="10812653" y="12700"/>
                  </a:lnTo>
                  <a:lnTo>
                    <a:pt x="10812653" y="25400"/>
                  </a:lnTo>
                  <a:lnTo>
                    <a:pt x="675386" y="25400"/>
                  </a:lnTo>
                  <a:close/>
                </a:path>
              </a:pathLst>
            </a:custGeom>
            <a:solidFill>
              <a:srgbClr val="F2F2F2"/>
            </a:solidFill>
          </p:spPr>
        </p:sp>
      </p:grpSp>
      <p:sp>
        <p:nvSpPr>
          <p:cNvPr name="TextBox 9" id="9"/>
          <p:cNvSpPr txBox="true"/>
          <p:nvPr/>
        </p:nvSpPr>
        <p:spPr>
          <a:xfrm rot="0">
            <a:off x="1239192" y="2963547"/>
            <a:ext cx="1217761" cy="1552575"/>
          </a:xfrm>
          <a:prstGeom prst="rect">
            <a:avLst/>
          </a:prstGeom>
        </p:spPr>
        <p:txBody>
          <a:bodyPr anchor="t" rtlCol="false" tIns="0" lIns="0" bIns="0" rIns="0">
            <a:spAutoFit/>
          </a:bodyPr>
          <a:lstStyle/>
          <a:p>
            <a:pPr algn="ctr" marL="0" indent="0" lvl="0">
              <a:lnSpc>
                <a:spcPts val="10800"/>
              </a:lnSpc>
              <a:spcBef>
                <a:spcPct val="0"/>
              </a:spcBef>
            </a:pPr>
            <a:r>
              <a:rPr lang="en-US" sz="9000" strike="noStrike" u="none">
                <a:solidFill>
                  <a:srgbClr val="E9A65D"/>
                </a:solidFill>
                <a:latin typeface="王漢宗特黑體"/>
                <a:ea typeface="王漢宗特黑體"/>
                <a:cs typeface="王漢宗特黑體"/>
                <a:sym typeface="王漢宗特黑體"/>
              </a:rPr>
              <a:t>1</a:t>
            </a:r>
          </a:p>
        </p:txBody>
      </p:sp>
      <p:grpSp>
        <p:nvGrpSpPr>
          <p:cNvPr name="Group 10" id="10"/>
          <p:cNvGrpSpPr/>
          <p:nvPr/>
        </p:nvGrpSpPr>
        <p:grpSpPr>
          <a:xfrm rot="0">
            <a:off x="981074" y="5647955"/>
            <a:ext cx="8119050" cy="2989050"/>
            <a:chOff x="0" y="0"/>
            <a:chExt cx="10825400" cy="3985400"/>
          </a:xfrm>
        </p:grpSpPr>
        <p:sp>
          <p:nvSpPr>
            <p:cNvPr name="Freeform 11" id="11"/>
            <p:cNvSpPr/>
            <p:nvPr/>
          </p:nvSpPr>
          <p:spPr>
            <a:xfrm flipH="false" flipV="false" rot="0">
              <a:off x="12700" y="12700"/>
              <a:ext cx="10799953" cy="3959987"/>
            </a:xfrm>
            <a:custGeom>
              <a:avLst/>
              <a:gdLst/>
              <a:ahLst/>
              <a:cxnLst/>
              <a:rect r="r" b="b" t="t" l="l"/>
              <a:pathLst>
                <a:path h="3959987" w="10799953">
                  <a:moveTo>
                    <a:pt x="662686" y="0"/>
                  </a:moveTo>
                  <a:lnTo>
                    <a:pt x="10799953" y="0"/>
                  </a:lnTo>
                  <a:lnTo>
                    <a:pt x="10799953" y="3299968"/>
                  </a:lnTo>
                  <a:cubicBezTo>
                    <a:pt x="10799953" y="3664458"/>
                    <a:pt x="10503281" y="3959987"/>
                    <a:pt x="10137267" y="3959987"/>
                  </a:cubicBezTo>
                  <a:lnTo>
                    <a:pt x="0" y="3959987"/>
                  </a:lnTo>
                  <a:lnTo>
                    <a:pt x="0" y="660019"/>
                  </a:lnTo>
                  <a:cubicBezTo>
                    <a:pt x="0" y="295529"/>
                    <a:pt x="296672" y="0"/>
                    <a:pt x="662686" y="0"/>
                  </a:cubicBezTo>
                  <a:close/>
                </a:path>
              </a:pathLst>
            </a:custGeom>
            <a:solidFill>
              <a:srgbClr val="F2F2F2"/>
            </a:solidFill>
          </p:spPr>
        </p:sp>
        <p:sp>
          <p:nvSpPr>
            <p:cNvPr name="Freeform 12" id="12"/>
            <p:cNvSpPr/>
            <p:nvPr/>
          </p:nvSpPr>
          <p:spPr>
            <a:xfrm flipH="false" flipV="false" rot="0">
              <a:off x="0" y="0"/>
              <a:ext cx="10825353" cy="3985387"/>
            </a:xfrm>
            <a:custGeom>
              <a:avLst/>
              <a:gdLst/>
              <a:ahLst/>
              <a:cxnLst/>
              <a:rect r="r" b="b" t="t" l="l"/>
              <a:pathLst>
                <a:path h="3985387" w="10825353">
                  <a:moveTo>
                    <a:pt x="675386" y="0"/>
                  </a:moveTo>
                  <a:lnTo>
                    <a:pt x="10812653" y="0"/>
                  </a:lnTo>
                  <a:cubicBezTo>
                    <a:pt x="10819638" y="0"/>
                    <a:pt x="10825353" y="5715"/>
                    <a:pt x="10825353" y="12700"/>
                  </a:cubicBezTo>
                  <a:lnTo>
                    <a:pt x="10825353" y="3312668"/>
                  </a:lnTo>
                  <a:lnTo>
                    <a:pt x="10812653" y="3312668"/>
                  </a:lnTo>
                  <a:lnTo>
                    <a:pt x="10825353" y="3312668"/>
                  </a:lnTo>
                  <a:cubicBezTo>
                    <a:pt x="10825353" y="3684270"/>
                    <a:pt x="10522966" y="3985387"/>
                    <a:pt x="10149967" y="3985387"/>
                  </a:cubicBezTo>
                  <a:lnTo>
                    <a:pt x="10149967" y="3972687"/>
                  </a:lnTo>
                  <a:lnTo>
                    <a:pt x="10149967" y="3985387"/>
                  </a:lnTo>
                  <a:lnTo>
                    <a:pt x="12700" y="3985387"/>
                  </a:lnTo>
                  <a:cubicBezTo>
                    <a:pt x="5715" y="3985387"/>
                    <a:pt x="0" y="3979672"/>
                    <a:pt x="0" y="3972687"/>
                  </a:cubicBezTo>
                  <a:lnTo>
                    <a:pt x="0" y="672719"/>
                  </a:lnTo>
                  <a:lnTo>
                    <a:pt x="12700" y="672719"/>
                  </a:lnTo>
                  <a:lnTo>
                    <a:pt x="0" y="672719"/>
                  </a:lnTo>
                  <a:cubicBezTo>
                    <a:pt x="0" y="301117"/>
                    <a:pt x="302387" y="0"/>
                    <a:pt x="675386" y="0"/>
                  </a:cubicBezTo>
                  <a:cubicBezTo>
                    <a:pt x="679323" y="0"/>
                    <a:pt x="683006" y="1778"/>
                    <a:pt x="685419" y="4826"/>
                  </a:cubicBezTo>
                  <a:lnTo>
                    <a:pt x="675386" y="12700"/>
                  </a:lnTo>
                  <a:lnTo>
                    <a:pt x="675386" y="0"/>
                  </a:lnTo>
                  <a:moveTo>
                    <a:pt x="675386" y="25400"/>
                  </a:moveTo>
                  <a:cubicBezTo>
                    <a:pt x="671449" y="25400"/>
                    <a:pt x="667766" y="23622"/>
                    <a:pt x="665353" y="20574"/>
                  </a:cubicBezTo>
                  <a:lnTo>
                    <a:pt x="675386" y="12700"/>
                  </a:lnTo>
                  <a:lnTo>
                    <a:pt x="675386" y="25400"/>
                  </a:lnTo>
                  <a:cubicBezTo>
                    <a:pt x="316357" y="25400"/>
                    <a:pt x="25400" y="315214"/>
                    <a:pt x="25400" y="672719"/>
                  </a:cubicBezTo>
                  <a:lnTo>
                    <a:pt x="25400" y="3972687"/>
                  </a:lnTo>
                  <a:lnTo>
                    <a:pt x="12700" y="3972687"/>
                  </a:lnTo>
                  <a:lnTo>
                    <a:pt x="12700" y="3959987"/>
                  </a:lnTo>
                  <a:lnTo>
                    <a:pt x="10149967" y="3959987"/>
                  </a:lnTo>
                  <a:cubicBezTo>
                    <a:pt x="10508997" y="3959987"/>
                    <a:pt x="10799953" y="3670173"/>
                    <a:pt x="10799953" y="3312668"/>
                  </a:cubicBezTo>
                  <a:lnTo>
                    <a:pt x="10799953" y="12700"/>
                  </a:lnTo>
                  <a:lnTo>
                    <a:pt x="10812653" y="12700"/>
                  </a:lnTo>
                  <a:lnTo>
                    <a:pt x="10812653" y="25400"/>
                  </a:lnTo>
                  <a:lnTo>
                    <a:pt x="675386" y="25400"/>
                  </a:lnTo>
                  <a:close/>
                </a:path>
              </a:pathLst>
            </a:custGeom>
            <a:solidFill>
              <a:srgbClr val="F2F2F2"/>
            </a:solidFill>
          </p:spPr>
        </p:sp>
      </p:grpSp>
      <p:sp>
        <p:nvSpPr>
          <p:cNvPr name="TextBox 13" id="13"/>
          <p:cNvSpPr txBox="true"/>
          <p:nvPr/>
        </p:nvSpPr>
        <p:spPr>
          <a:xfrm rot="0">
            <a:off x="1239194" y="6275705"/>
            <a:ext cx="1217761" cy="1552575"/>
          </a:xfrm>
          <a:prstGeom prst="rect">
            <a:avLst/>
          </a:prstGeom>
        </p:spPr>
        <p:txBody>
          <a:bodyPr anchor="t" rtlCol="false" tIns="0" lIns="0" bIns="0" rIns="0">
            <a:spAutoFit/>
          </a:bodyPr>
          <a:lstStyle/>
          <a:p>
            <a:pPr algn="ctr" marL="0" indent="0" lvl="0">
              <a:lnSpc>
                <a:spcPts val="10800"/>
              </a:lnSpc>
              <a:spcBef>
                <a:spcPct val="0"/>
              </a:spcBef>
            </a:pPr>
            <a:r>
              <a:rPr lang="en-US" sz="9000" strike="noStrike" u="none">
                <a:solidFill>
                  <a:srgbClr val="E9A65D"/>
                </a:solidFill>
                <a:latin typeface="王漢宗特黑體"/>
                <a:ea typeface="王漢宗特黑體"/>
                <a:cs typeface="王漢宗特黑體"/>
                <a:sym typeface="王漢宗特黑體"/>
              </a:rPr>
              <a:t>2</a:t>
            </a:r>
          </a:p>
        </p:txBody>
      </p:sp>
      <p:grpSp>
        <p:nvGrpSpPr>
          <p:cNvPr name="Group 14" id="14"/>
          <p:cNvGrpSpPr/>
          <p:nvPr/>
        </p:nvGrpSpPr>
        <p:grpSpPr>
          <a:xfrm rot="0">
            <a:off x="8775501" y="2269120"/>
            <a:ext cx="378000" cy="378000"/>
            <a:chOff x="0" y="0"/>
            <a:chExt cx="504000" cy="504000"/>
          </a:xfrm>
        </p:grpSpPr>
        <p:sp>
          <p:nvSpPr>
            <p:cNvPr name="Freeform 15" id="15"/>
            <p:cNvSpPr/>
            <p:nvPr/>
          </p:nvSpPr>
          <p:spPr>
            <a:xfrm flipH="false" flipV="false" rot="0">
              <a:off x="0" y="0"/>
              <a:ext cx="504063" cy="504063"/>
            </a:xfrm>
            <a:custGeom>
              <a:avLst/>
              <a:gdLst/>
              <a:ahLst/>
              <a:cxnLst/>
              <a:rect r="r" b="b" t="t" l="l"/>
              <a:pathLst>
                <a:path h="504063" w="504063">
                  <a:moveTo>
                    <a:pt x="0" y="0"/>
                  </a:moveTo>
                  <a:lnTo>
                    <a:pt x="504063" y="0"/>
                  </a:lnTo>
                  <a:lnTo>
                    <a:pt x="504063" y="220472"/>
                  </a:lnTo>
                  <a:lnTo>
                    <a:pt x="504063" y="504063"/>
                  </a:lnTo>
                  <a:lnTo>
                    <a:pt x="283464" y="504063"/>
                  </a:lnTo>
                  <a:lnTo>
                    <a:pt x="283464" y="220472"/>
                  </a:lnTo>
                  <a:lnTo>
                    <a:pt x="0" y="220472"/>
                  </a:lnTo>
                  <a:close/>
                </a:path>
              </a:pathLst>
            </a:custGeom>
            <a:solidFill>
              <a:srgbClr val="E9A65D"/>
            </a:solidFill>
          </p:spPr>
        </p:sp>
      </p:grpSp>
      <p:grpSp>
        <p:nvGrpSpPr>
          <p:cNvPr name="Group 16" id="16"/>
          <p:cNvGrpSpPr/>
          <p:nvPr/>
        </p:nvGrpSpPr>
        <p:grpSpPr>
          <a:xfrm rot="0">
            <a:off x="8775501" y="5565788"/>
            <a:ext cx="378000" cy="378000"/>
            <a:chOff x="0" y="0"/>
            <a:chExt cx="504000" cy="504000"/>
          </a:xfrm>
        </p:grpSpPr>
        <p:sp>
          <p:nvSpPr>
            <p:cNvPr name="Freeform 17" id="17"/>
            <p:cNvSpPr/>
            <p:nvPr/>
          </p:nvSpPr>
          <p:spPr>
            <a:xfrm flipH="false" flipV="false" rot="0">
              <a:off x="0" y="0"/>
              <a:ext cx="504063" cy="504063"/>
            </a:xfrm>
            <a:custGeom>
              <a:avLst/>
              <a:gdLst/>
              <a:ahLst/>
              <a:cxnLst/>
              <a:rect r="r" b="b" t="t" l="l"/>
              <a:pathLst>
                <a:path h="504063" w="504063">
                  <a:moveTo>
                    <a:pt x="0" y="0"/>
                  </a:moveTo>
                  <a:lnTo>
                    <a:pt x="504063" y="0"/>
                  </a:lnTo>
                  <a:lnTo>
                    <a:pt x="504063" y="220472"/>
                  </a:lnTo>
                  <a:lnTo>
                    <a:pt x="504063" y="504063"/>
                  </a:lnTo>
                  <a:lnTo>
                    <a:pt x="283464" y="504063"/>
                  </a:lnTo>
                  <a:lnTo>
                    <a:pt x="283464" y="220472"/>
                  </a:lnTo>
                  <a:lnTo>
                    <a:pt x="0" y="220472"/>
                  </a:lnTo>
                  <a:close/>
                </a:path>
              </a:pathLst>
            </a:custGeom>
            <a:solidFill>
              <a:srgbClr val="E9A65D"/>
            </a:solidFill>
          </p:spPr>
        </p:sp>
      </p:grpSp>
      <p:sp>
        <p:nvSpPr>
          <p:cNvPr name="TextBox 18" id="18"/>
          <p:cNvSpPr txBox="true"/>
          <p:nvPr/>
        </p:nvSpPr>
        <p:spPr>
          <a:xfrm rot="0">
            <a:off x="2622063" y="3306675"/>
            <a:ext cx="5940000" cy="933450"/>
          </a:xfrm>
          <a:prstGeom prst="rect">
            <a:avLst/>
          </a:prstGeom>
        </p:spPr>
        <p:txBody>
          <a:bodyPr anchor="t" rtlCol="false" tIns="0" lIns="0" bIns="0" rIns="0">
            <a:spAutoFit/>
          </a:bodyPr>
          <a:lstStyle/>
          <a:p>
            <a:pPr algn="l" marL="0" indent="0" lvl="0">
              <a:lnSpc>
                <a:spcPts val="1454"/>
              </a:lnSpc>
              <a:spcBef>
                <a:spcPct val="0"/>
              </a:spcBef>
            </a:pPr>
            <a:r>
              <a:rPr lang="en-US" sz="1212" strike="noStrike" u="none">
                <a:solidFill>
                  <a:srgbClr val="262626"/>
                </a:solidFill>
                <a:latin typeface="王漢宗特黑體"/>
                <a:ea typeface="王漢宗特黑體"/>
                <a:cs typeface="王漢宗特黑體"/>
                <a:sym typeface="王漢宗特黑體"/>
              </a:rPr>
              <a:t>儘管酷英語提供了多樣化且引人入勝的學習內容，但一些學生可能會發現，長時間使用它可能會導致它失去新鮮感並降低學習動機。特別是，由於自主學習是先決條件，自我管理能力低的學生可能很難保持動力。</a:t>
            </a:r>
          </a:p>
          <a:p>
            <a:pPr algn="l" marL="0" indent="0" lvl="0">
              <a:lnSpc>
                <a:spcPts val="1454"/>
              </a:lnSpc>
              <a:spcBef>
                <a:spcPct val="0"/>
              </a:spcBef>
            </a:pPr>
            <a:r>
              <a:rPr lang="en-US" sz="1212" strike="noStrike" u="none">
                <a:solidFill>
                  <a:srgbClr val="262626"/>
                </a:solidFill>
                <a:latin typeface="王漢宗特黑體"/>
                <a:ea typeface="王漢宗特黑體"/>
                <a:cs typeface="王漢宗特黑體"/>
                <a:sym typeface="王漢宗特黑體"/>
              </a:rPr>
              <a:t>解決這個問題需要定期更新內容並引入新的學習方法。此外，透過納入鼓勵學習者之間競爭的功能和提供成就感的機制，預計將保持學習動機。</a:t>
            </a:r>
          </a:p>
        </p:txBody>
      </p:sp>
      <p:sp>
        <p:nvSpPr>
          <p:cNvPr name="TextBox 19" id="19"/>
          <p:cNvSpPr txBox="true"/>
          <p:nvPr/>
        </p:nvSpPr>
        <p:spPr>
          <a:xfrm rot="0">
            <a:off x="2622068" y="2877603"/>
            <a:ext cx="5940000"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長期使用導致新鮮度下降</a:t>
            </a:r>
          </a:p>
        </p:txBody>
      </p:sp>
      <p:sp>
        <p:nvSpPr>
          <p:cNvPr name="TextBox 20" id="20"/>
          <p:cNvSpPr txBox="true"/>
          <p:nvPr/>
        </p:nvSpPr>
        <p:spPr>
          <a:xfrm rot="0">
            <a:off x="2622063" y="6577167"/>
            <a:ext cx="5940000" cy="933450"/>
          </a:xfrm>
          <a:prstGeom prst="rect">
            <a:avLst/>
          </a:prstGeom>
        </p:spPr>
        <p:txBody>
          <a:bodyPr anchor="t" rtlCol="false" tIns="0" lIns="0" bIns="0" rIns="0">
            <a:spAutoFit/>
          </a:bodyPr>
          <a:lstStyle/>
          <a:p>
            <a:pPr algn="l" marL="0" indent="0" lvl="0">
              <a:lnSpc>
                <a:spcPts val="1454"/>
              </a:lnSpc>
              <a:spcBef>
                <a:spcPct val="0"/>
              </a:spcBef>
            </a:pPr>
            <a:r>
              <a:rPr lang="en-US" sz="1212" strike="noStrike" u="none">
                <a:solidFill>
                  <a:srgbClr val="262626"/>
                </a:solidFill>
                <a:latin typeface="王漢宗特黑體"/>
                <a:ea typeface="王漢宗特黑體"/>
                <a:cs typeface="王漢宗特黑體"/>
                <a:sym typeface="王漢宗特黑體"/>
              </a:rPr>
              <a:t>提倡自主學習是酷英語的一大優勢，但對於不善於自我管理的學生來說也可能是一大障礙。特別是，如果很難制定學習計劃或設定目標，學習本身可能不會取得進展。</a:t>
            </a:r>
          </a:p>
          <a:p>
            <a:pPr algn="l" marL="0" indent="0" lvl="0">
              <a:lnSpc>
                <a:spcPts val="1454"/>
              </a:lnSpc>
              <a:spcBef>
                <a:spcPct val="0"/>
              </a:spcBef>
            </a:pPr>
            <a:r>
              <a:rPr lang="en-US" sz="1212" strike="noStrike" u="none">
                <a:solidFill>
                  <a:srgbClr val="262626"/>
                </a:solidFill>
                <a:latin typeface="王漢宗特黑體"/>
                <a:ea typeface="王漢宗特黑體"/>
                <a:cs typeface="王漢宗特黑體"/>
                <a:sym typeface="王漢宗特黑體"/>
              </a:rPr>
              <a:t>至於學習支持，重要的是要有一個系統，讓教師透過定期檢查和溝通來提供支持。此外，還需要透過增加自我評價和在學習中進步的機會來降低自主學習的難度，同時檢視自己的進步。</a:t>
            </a:r>
          </a:p>
        </p:txBody>
      </p:sp>
      <p:sp>
        <p:nvSpPr>
          <p:cNvPr name="TextBox 21" id="21"/>
          <p:cNvSpPr txBox="true"/>
          <p:nvPr/>
        </p:nvSpPr>
        <p:spPr>
          <a:xfrm rot="0">
            <a:off x="2622068" y="6148092"/>
            <a:ext cx="5940000"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自主學習困難</a:t>
            </a:r>
          </a:p>
        </p:txBody>
      </p:sp>
      <p:sp>
        <p:nvSpPr>
          <p:cNvPr name="TextBox 22" id="22"/>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保持學習動力</a:t>
            </a:r>
          </a:p>
        </p:txBody>
      </p:sp>
      <p:grpSp>
        <p:nvGrpSpPr>
          <p:cNvPr name="Group 23" id="23"/>
          <p:cNvGrpSpPr/>
          <p:nvPr/>
        </p:nvGrpSpPr>
        <p:grpSpPr>
          <a:xfrm rot="0">
            <a:off x="507207" y="541823"/>
            <a:ext cx="483393" cy="347514"/>
            <a:chOff x="0" y="0"/>
            <a:chExt cx="644524" cy="463352"/>
          </a:xfrm>
        </p:grpSpPr>
        <p:sp>
          <p:nvSpPr>
            <p:cNvPr name="Freeform 24" id="24"/>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5" id="25"/>
          <p:cNvGrpSpPr/>
          <p:nvPr/>
        </p:nvGrpSpPr>
        <p:grpSpPr>
          <a:xfrm rot="0">
            <a:off x="735807" y="974172"/>
            <a:ext cx="254793" cy="183173"/>
            <a:chOff x="0" y="0"/>
            <a:chExt cx="339724" cy="244230"/>
          </a:xfrm>
        </p:grpSpPr>
        <p:sp>
          <p:nvSpPr>
            <p:cNvPr name="Freeform 26" id="26"/>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7" id="27"/>
          <p:cNvGrpSpPr/>
          <p:nvPr/>
        </p:nvGrpSpPr>
        <p:grpSpPr>
          <a:xfrm rot="0">
            <a:off x="735807" y="1242180"/>
            <a:ext cx="254793" cy="183173"/>
            <a:chOff x="0" y="0"/>
            <a:chExt cx="339724" cy="244230"/>
          </a:xfrm>
        </p:grpSpPr>
        <p:sp>
          <p:nvSpPr>
            <p:cNvPr name="Freeform 28" id="28"/>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11120778" y="6344445"/>
            <a:ext cx="324000" cy="2607153"/>
            <a:chOff x="0" y="0"/>
            <a:chExt cx="432000" cy="3476204"/>
          </a:xfrm>
        </p:grpSpPr>
        <p:sp>
          <p:nvSpPr>
            <p:cNvPr name="Freeform 5" id="5"/>
            <p:cNvSpPr/>
            <p:nvPr/>
          </p:nvSpPr>
          <p:spPr>
            <a:xfrm flipH="false" flipV="false" rot="0">
              <a:off x="0" y="0"/>
              <a:ext cx="432054" cy="3476244"/>
            </a:xfrm>
            <a:custGeom>
              <a:avLst/>
              <a:gdLst/>
              <a:ahLst/>
              <a:cxnLst/>
              <a:rect r="r" b="b" t="t" l="l"/>
              <a:pathLst>
                <a:path h="3476244" w="432054">
                  <a:moveTo>
                    <a:pt x="0" y="216027"/>
                  </a:moveTo>
                  <a:cubicBezTo>
                    <a:pt x="0" y="96647"/>
                    <a:pt x="96647" y="0"/>
                    <a:pt x="216027" y="0"/>
                  </a:cubicBezTo>
                  <a:cubicBezTo>
                    <a:pt x="335407" y="0"/>
                    <a:pt x="432054" y="96647"/>
                    <a:pt x="432054" y="216027"/>
                  </a:cubicBezTo>
                  <a:lnTo>
                    <a:pt x="432054" y="3260217"/>
                  </a:lnTo>
                  <a:cubicBezTo>
                    <a:pt x="432054" y="3379470"/>
                    <a:pt x="335407" y="3476244"/>
                    <a:pt x="216027" y="3476244"/>
                  </a:cubicBezTo>
                  <a:cubicBezTo>
                    <a:pt x="96647" y="3476244"/>
                    <a:pt x="0" y="3379470"/>
                    <a:pt x="0" y="3260217"/>
                  </a:cubicBezTo>
                  <a:close/>
                </a:path>
              </a:pathLst>
            </a:custGeom>
            <a:gradFill rotWithShape="true">
              <a:gsLst>
                <a:gs pos="0">
                  <a:srgbClr val="E9A65D">
                    <a:alpha val="100000"/>
                  </a:srgbClr>
                </a:gs>
                <a:gs pos="100000">
                  <a:srgbClr val="FFFFFF">
                    <a:alpha val="100000"/>
                  </a:srgbClr>
                </a:gs>
              </a:gsLst>
              <a:lin ang="5400000"/>
            </a:gradFill>
          </p:spPr>
        </p:sp>
      </p:grpSp>
      <p:grpSp>
        <p:nvGrpSpPr>
          <p:cNvPr name="Group 6" id="6"/>
          <p:cNvGrpSpPr/>
          <p:nvPr/>
        </p:nvGrpSpPr>
        <p:grpSpPr>
          <a:xfrm rot="0">
            <a:off x="16641762" y="1990756"/>
            <a:ext cx="655638" cy="3780000"/>
            <a:chOff x="0" y="0"/>
            <a:chExt cx="874184" cy="5040000"/>
          </a:xfrm>
        </p:grpSpPr>
        <p:sp>
          <p:nvSpPr>
            <p:cNvPr name="Freeform 7" id="7"/>
            <p:cNvSpPr/>
            <p:nvPr/>
          </p:nvSpPr>
          <p:spPr>
            <a:xfrm flipH="false" flipV="false" rot="0">
              <a:off x="0" y="0"/>
              <a:ext cx="874141" cy="5039995"/>
            </a:xfrm>
            <a:custGeom>
              <a:avLst/>
              <a:gdLst/>
              <a:ahLst/>
              <a:cxnLst/>
              <a:rect r="r" b="b" t="t" l="l"/>
              <a:pathLst>
                <a:path h="5039995" w="874141">
                  <a:moveTo>
                    <a:pt x="0" y="437134"/>
                  </a:moveTo>
                  <a:cubicBezTo>
                    <a:pt x="0" y="195707"/>
                    <a:pt x="195707" y="0"/>
                    <a:pt x="437134" y="0"/>
                  </a:cubicBezTo>
                  <a:cubicBezTo>
                    <a:pt x="678561" y="0"/>
                    <a:pt x="874141" y="195707"/>
                    <a:pt x="874141" y="437134"/>
                  </a:cubicBezTo>
                  <a:lnTo>
                    <a:pt x="874141" y="4602861"/>
                  </a:lnTo>
                  <a:cubicBezTo>
                    <a:pt x="874141" y="4844288"/>
                    <a:pt x="678434" y="5039995"/>
                    <a:pt x="437007" y="5039995"/>
                  </a:cubicBezTo>
                  <a:cubicBezTo>
                    <a:pt x="195580" y="5039995"/>
                    <a:pt x="0" y="4844288"/>
                    <a:pt x="0" y="4602861"/>
                  </a:cubicBezTo>
                  <a:close/>
                </a:path>
              </a:pathLst>
            </a:custGeom>
            <a:gradFill rotWithShape="true">
              <a:gsLst>
                <a:gs pos="0">
                  <a:srgbClr val="E9A65D">
                    <a:alpha val="100000"/>
                  </a:srgbClr>
                </a:gs>
                <a:gs pos="100000">
                  <a:srgbClr val="FFFFFF">
                    <a:alpha val="100000"/>
                  </a:srgbClr>
                </a:gs>
              </a:gsLst>
              <a:lin ang="16200000"/>
            </a:gradFill>
          </p:spPr>
        </p:sp>
      </p:grpSp>
      <p:grpSp>
        <p:nvGrpSpPr>
          <p:cNvPr name="Group 8" id="8"/>
          <p:cNvGrpSpPr/>
          <p:nvPr/>
        </p:nvGrpSpPr>
        <p:grpSpPr>
          <a:xfrm rot="0">
            <a:off x="11689253" y="1695450"/>
            <a:ext cx="4536000" cy="7505700"/>
            <a:chOff x="0" y="0"/>
            <a:chExt cx="6048000" cy="10007600"/>
          </a:xfrm>
        </p:grpSpPr>
        <p:sp>
          <p:nvSpPr>
            <p:cNvPr name="Freeform 9" id="9"/>
            <p:cNvSpPr/>
            <p:nvPr/>
          </p:nvSpPr>
          <p:spPr>
            <a:xfrm flipH="false" flipV="true" rot="0">
              <a:off x="0" y="0"/>
              <a:ext cx="6047994" cy="10007600"/>
            </a:xfrm>
            <a:custGeom>
              <a:avLst/>
              <a:gdLst/>
              <a:ahLst/>
              <a:cxnLst/>
              <a:rect r="r" b="b" t="t" l="l"/>
              <a:pathLst>
                <a:path h="10007600" w="6047994">
                  <a:moveTo>
                    <a:pt x="0" y="3023997"/>
                  </a:moveTo>
                  <a:cubicBezTo>
                    <a:pt x="0" y="1353947"/>
                    <a:pt x="1353947" y="0"/>
                    <a:pt x="3023997" y="0"/>
                  </a:cubicBezTo>
                  <a:cubicBezTo>
                    <a:pt x="4694047" y="0"/>
                    <a:pt x="6047994" y="1353947"/>
                    <a:pt x="6047994" y="3023997"/>
                  </a:cubicBezTo>
                  <a:lnTo>
                    <a:pt x="6047994" y="6983603"/>
                  </a:lnTo>
                  <a:cubicBezTo>
                    <a:pt x="6047994" y="8653653"/>
                    <a:pt x="4694047" y="10007600"/>
                    <a:pt x="3023997" y="10007600"/>
                  </a:cubicBezTo>
                  <a:cubicBezTo>
                    <a:pt x="1353947" y="10007600"/>
                    <a:pt x="0" y="8653653"/>
                    <a:pt x="0" y="6983603"/>
                  </a:cubicBezTo>
                  <a:close/>
                </a:path>
              </a:pathLst>
            </a:custGeom>
            <a:blipFill>
              <a:blip r:embed="rId2"/>
              <a:stretch>
                <a:fillRect l="-97624" t="0" r="-97625" b="0"/>
              </a:stretch>
            </a:blipFill>
          </p:spPr>
        </p:sp>
      </p:grpSp>
      <p:sp>
        <p:nvSpPr>
          <p:cNvPr name="TextBox 10" id="10"/>
          <p:cNvSpPr txBox="true"/>
          <p:nvPr/>
        </p:nvSpPr>
        <p:spPr>
          <a:xfrm rot="0">
            <a:off x="2319894" y="3168631"/>
            <a:ext cx="8100000"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地區差異</a:t>
            </a:r>
          </a:p>
        </p:txBody>
      </p:sp>
      <p:sp>
        <p:nvSpPr>
          <p:cNvPr name="TextBox 11" id="11"/>
          <p:cNvSpPr txBox="true"/>
          <p:nvPr/>
        </p:nvSpPr>
        <p:spPr>
          <a:xfrm rot="0">
            <a:off x="2319894" y="3678420"/>
            <a:ext cx="8500993" cy="877809"/>
          </a:xfrm>
          <a:prstGeom prst="rect">
            <a:avLst/>
          </a:prstGeom>
        </p:spPr>
        <p:txBody>
          <a:bodyPr anchor="t" rtlCol="false" tIns="0" lIns="0" bIns="0" rIns="0">
            <a:spAutoFit/>
          </a:bodyPr>
          <a:lstStyle/>
          <a:p>
            <a:pPr algn="l" marL="0" indent="0" lvl="0">
              <a:lnSpc>
                <a:spcPts val="1717"/>
              </a:lnSpc>
              <a:spcBef>
                <a:spcPct val="0"/>
              </a:spcBef>
            </a:pPr>
            <a:r>
              <a:rPr lang="en-US" sz="1431" strike="noStrike" u="none">
                <a:solidFill>
                  <a:srgbClr val="262626"/>
                </a:solidFill>
                <a:latin typeface="王漢宗特黑體"/>
                <a:ea typeface="王漢宗特黑體"/>
                <a:cs typeface="王漢宗特黑體"/>
                <a:sym typeface="王漢宗特黑體"/>
              </a:rPr>
              <a:t>要使用酷英語，您需要網路連線和設備，但不同地區的使用環境不同，這可能會造成數位落差。特別是在基礎設施缺乏的農村地區，有些學生無法充分利用平板車。</a:t>
            </a:r>
          </a:p>
          <a:p>
            <a:pPr algn="l" marL="0" indent="0" lvl="0">
              <a:lnSpc>
                <a:spcPts val="1717"/>
              </a:lnSpc>
              <a:spcBef>
                <a:spcPct val="0"/>
              </a:spcBef>
            </a:pPr>
            <a:r>
              <a:rPr lang="en-US" sz="1431" strike="noStrike" u="none">
                <a:solidFill>
                  <a:srgbClr val="262626"/>
                </a:solidFill>
                <a:latin typeface="王漢宗特黑體"/>
                <a:ea typeface="王漢宗特黑體"/>
                <a:cs typeface="王漢宗特黑體"/>
                <a:sym typeface="王漢宗特黑體"/>
              </a:rPr>
              <a:t>為了解決這個問題，需要了解各個地區的情況並提供適當的支援。例如，必須透過借用設備、提供可離線使用的學習資料等多種方式努力實現學習機會均等。</a:t>
            </a:r>
          </a:p>
        </p:txBody>
      </p:sp>
      <p:grpSp>
        <p:nvGrpSpPr>
          <p:cNvPr name="Group 12" id="12"/>
          <p:cNvGrpSpPr/>
          <p:nvPr/>
        </p:nvGrpSpPr>
        <p:grpSpPr>
          <a:xfrm rot="0">
            <a:off x="990600" y="2923906"/>
            <a:ext cx="1080000" cy="1080000"/>
            <a:chOff x="0" y="0"/>
            <a:chExt cx="1440000" cy="1440000"/>
          </a:xfrm>
        </p:grpSpPr>
        <p:sp>
          <p:nvSpPr>
            <p:cNvPr name="Freeform 13" id="13"/>
            <p:cNvSpPr/>
            <p:nvPr/>
          </p:nvSpPr>
          <p:spPr>
            <a:xfrm flipH="false" flipV="false" rot="0">
              <a:off x="0" y="0"/>
              <a:ext cx="1439926" cy="1440053"/>
            </a:xfrm>
            <a:custGeom>
              <a:avLst/>
              <a:gdLst/>
              <a:ahLst/>
              <a:cxnLst/>
              <a:rect r="r" b="b" t="t" l="l"/>
              <a:pathLst>
                <a:path h="1440053" w="1439926">
                  <a:moveTo>
                    <a:pt x="0" y="719963"/>
                  </a:moveTo>
                  <a:cubicBezTo>
                    <a:pt x="0" y="322326"/>
                    <a:pt x="322326" y="0"/>
                    <a:pt x="719963" y="0"/>
                  </a:cubicBezTo>
                  <a:cubicBezTo>
                    <a:pt x="1117600" y="0"/>
                    <a:pt x="1439926" y="322326"/>
                    <a:pt x="1439926" y="719963"/>
                  </a:cubicBezTo>
                  <a:cubicBezTo>
                    <a:pt x="1439926" y="1117600"/>
                    <a:pt x="1117600" y="1440053"/>
                    <a:pt x="719963" y="1440053"/>
                  </a:cubicBezTo>
                  <a:cubicBezTo>
                    <a:pt x="322326" y="1440053"/>
                    <a:pt x="0" y="1117600"/>
                    <a:pt x="0" y="719963"/>
                  </a:cubicBezTo>
                  <a:close/>
                </a:path>
              </a:pathLst>
            </a:custGeom>
            <a:gradFill rotWithShape="true">
              <a:gsLst>
                <a:gs pos="0">
                  <a:srgbClr val="F2CA9E">
                    <a:alpha val="100000"/>
                  </a:srgbClr>
                </a:gs>
                <a:gs pos="100000">
                  <a:srgbClr val="E9A65D">
                    <a:alpha val="100000"/>
                  </a:srgbClr>
                </a:gs>
              </a:gsLst>
              <a:lin ang="2700000"/>
            </a:gradFill>
          </p:spPr>
        </p:sp>
      </p:grpSp>
      <p:grpSp>
        <p:nvGrpSpPr>
          <p:cNvPr name="Group 14" id="14"/>
          <p:cNvGrpSpPr/>
          <p:nvPr/>
        </p:nvGrpSpPr>
        <p:grpSpPr>
          <a:xfrm rot="0">
            <a:off x="1260600" y="3193905"/>
            <a:ext cx="540002" cy="540000"/>
            <a:chOff x="0" y="0"/>
            <a:chExt cx="720002" cy="720000"/>
          </a:xfrm>
        </p:grpSpPr>
        <p:sp>
          <p:nvSpPr>
            <p:cNvPr name="Freeform 15" id="15"/>
            <p:cNvSpPr/>
            <p:nvPr/>
          </p:nvSpPr>
          <p:spPr>
            <a:xfrm flipH="false" flipV="false" rot="0">
              <a:off x="0" y="0"/>
              <a:ext cx="719963" cy="719963"/>
            </a:xfrm>
            <a:custGeom>
              <a:avLst/>
              <a:gdLst/>
              <a:ahLst/>
              <a:cxnLst/>
              <a:rect r="r" b="b" t="t" l="l"/>
              <a:pathLst>
                <a:path h="719963" w="719963">
                  <a:moveTo>
                    <a:pt x="457073" y="57150"/>
                  </a:moveTo>
                  <a:lnTo>
                    <a:pt x="457073" y="263017"/>
                  </a:lnTo>
                  <a:lnTo>
                    <a:pt x="662940" y="263017"/>
                  </a:lnTo>
                  <a:cubicBezTo>
                    <a:pt x="659511" y="245745"/>
                    <a:pt x="654304" y="228981"/>
                    <a:pt x="647446" y="212725"/>
                  </a:cubicBezTo>
                  <a:cubicBezTo>
                    <a:pt x="634111" y="181356"/>
                    <a:pt x="615315" y="153289"/>
                    <a:pt x="591058" y="129159"/>
                  </a:cubicBezTo>
                  <a:cubicBezTo>
                    <a:pt x="566801" y="105029"/>
                    <a:pt x="538734" y="86106"/>
                    <a:pt x="507492" y="72771"/>
                  </a:cubicBezTo>
                  <a:cubicBezTo>
                    <a:pt x="491236" y="65786"/>
                    <a:pt x="474345" y="60706"/>
                    <a:pt x="457200" y="57277"/>
                  </a:cubicBezTo>
                  <a:close/>
                  <a:moveTo>
                    <a:pt x="405003" y="0"/>
                  </a:moveTo>
                  <a:cubicBezTo>
                    <a:pt x="578993" y="0"/>
                    <a:pt x="719963" y="141097"/>
                    <a:pt x="719963" y="314960"/>
                  </a:cubicBezTo>
                  <a:lnTo>
                    <a:pt x="405003" y="314960"/>
                  </a:lnTo>
                  <a:close/>
                  <a:moveTo>
                    <a:pt x="360045" y="0"/>
                  </a:moveTo>
                  <a:lnTo>
                    <a:pt x="360045" y="360045"/>
                  </a:lnTo>
                  <a:lnTo>
                    <a:pt x="719963" y="360045"/>
                  </a:lnTo>
                  <a:cubicBezTo>
                    <a:pt x="719963" y="558800"/>
                    <a:pt x="558800" y="719963"/>
                    <a:pt x="360045" y="719963"/>
                  </a:cubicBezTo>
                  <a:cubicBezTo>
                    <a:pt x="161290" y="719963"/>
                    <a:pt x="0" y="558800"/>
                    <a:pt x="0" y="360045"/>
                  </a:cubicBezTo>
                  <a:cubicBezTo>
                    <a:pt x="0" y="161290"/>
                    <a:pt x="161163" y="0"/>
                    <a:pt x="360045" y="0"/>
                  </a:cubicBezTo>
                  <a:close/>
                </a:path>
              </a:pathLst>
            </a:custGeom>
            <a:solidFill>
              <a:srgbClr val="FFFFFF"/>
            </a:solidFill>
          </p:spPr>
        </p:sp>
      </p:grpSp>
      <p:sp>
        <p:nvSpPr>
          <p:cNvPr name="TextBox 16" id="16"/>
          <p:cNvSpPr txBox="true"/>
          <p:nvPr/>
        </p:nvSpPr>
        <p:spPr>
          <a:xfrm rot="0">
            <a:off x="2319894" y="6034437"/>
            <a:ext cx="8100000"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家庭經濟實力的影響</a:t>
            </a:r>
          </a:p>
        </p:txBody>
      </p:sp>
      <p:sp>
        <p:nvSpPr>
          <p:cNvPr name="TextBox 17" id="17"/>
          <p:cNvSpPr txBox="true"/>
          <p:nvPr/>
        </p:nvSpPr>
        <p:spPr>
          <a:xfrm rot="0">
            <a:off x="2319894" y="6544224"/>
            <a:ext cx="8100000" cy="838200"/>
          </a:xfrm>
          <a:prstGeom prst="rect">
            <a:avLst/>
          </a:prstGeom>
        </p:spPr>
        <p:txBody>
          <a:bodyPr anchor="t" rtlCol="false" tIns="0" lIns="0" bIns="0" rIns="0">
            <a:spAutoFit/>
          </a:bodyPr>
          <a:lstStyle/>
          <a:p>
            <a:pPr algn="l" marL="0" indent="0" lvl="0">
              <a:lnSpc>
                <a:spcPts val="1636"/>
              </a:lnSpc>
              <a:spcBef>
                <a:spcPct val="0"/>
              </a:spcBef>
            </a:pPr>
            <a:r>
              <a:rPr lang="en-US" sz="1363" strike="noStrike" u="none">
                <a:solidFill>
                  <a:srgbClr val="262626"/>
                </a:solidFill>
                <a:latin typeface="王漢宗特黑體"/>
                <a:ea typeface="王漢宗特黑體"/>
                <a:cs typeface="王漢宗特黑體"/>
                <a:sym typeface="王漢宗特黑體"/>
              </a:rPr>
              <a:t>根據家庭的經濟實力，酷英語的使用也可能有差異。設備和網路連線的成本可能使一些家庭難以提供足夠的學習環境。為此，需要採取措施確保學生不會因經濟原因而失去學習機會。</a:t>
            </a:r>
          </a:p>
          <a:p>
            <a:pPr algn="l" marL="0" indent="0" lvl="0">
              <a:lnSpc>
                <a:spcPts val="1636"/>
              </a:lnSpc>
              <a:spcBef>
                <a:spcPct val="0"/>
              </a:spcBef>
            </a:pPr>
            <a:r>
              <a:rPr lang="en-US" sz="1363" strike="noStrike" u="none">
                <a:solidFill>
                  <a:srgbClr val="262626"/>
                </a:solidFill>
                <a:latin typeface="王漢宗特黑體"/>
                <a:ea typeface="王漢宗特黑體"/>
                <a:cs typeface="王漢宗特黑體"/>
                <a:sym typeface="王漢宗特黑體"/>
              </a:rPr>
              <a:t>例如，可以利用公共學習空間和學校機房，提供一個所有學生都能平等使用酷英語的環境。此外，還需要透過加強地方和學校層面的支持系統並提供必要的資源來努力克服經濟障礙。</a:t>
            </a:r>
          </a:p>
        </p:txBody>
      </p:sp>
      <p:grpSp>
        <p:nvGrpSpPr>
          <p:cNvPr name="Group 18" id="18"/>
          <p:cNvGrpSpPr/>
          <p:nvPr/>
        </p:nvGrpSpPr>
        <p:grpSpPr>
          <a:xfrm rot="0">
            <a:off x="990600" y="5789714"/>
            <a:ext cx="1080000" cy="1080000"/>
            <a:chOff x="0" y="0"/>
            <a:chExt cx="1440000" cy="1440000"/>
          </a:xfrm>
        </p:grpSpPr>
        <p:sp>
          <p:nvSpPr>
            <p:cNvPr name="Freeform 19" id="19"/>
            <p:cNvSpPr/>
            <p:nvPr/>
          </p:nvSpPr>
          <p:spPr>
            <a:xfrm flipH="false" flipV="false" rot="0">
              <a:off x="0" y="0"/>
              <a:ext cx="1439926" cy="1440053"/>
            </a:xfrm>
            <a:custGeom>
              <a:avLst/>
              <a:gdLst/>
              <a:ahLst/>
              <a:cxnLst/>
              <a:rect r="r" b="b" t="t" l="l"/>
              <a:pathLst>
                <a:path h="1440053" w="1439926">
                  <a:moveTo>
                    <a:pt x="0" y="719963"/>
                  </a:moveTo>
                  <a:cubicBezTo>
                    <a:pt x="0" y="322326"/>
                    <a:pt x="322326" y="0"/>
                    <a:pt x="719963" y="0"/>
                  </a:cubicBezTo>
                  <a:cubicBezTo>
                    <a:pt x="1117600" y="0"/>
                    <a:pt x="1439926" y="322326"/>
                    <a:pt x="1439926" y="719963"/>
                  </a:cubicBezTo>
                  <a:cubicBezTo>
                    <a:pt x="1439926" y="1117600"/>
                    <a:pt x="1117600" y="1440053"/>
                    <a:pt x="719963" y="1440053"/>
                  </a:cubicBezTo>
                  <a:cubicBezTo>
                    <a:pt x="322326" y="1440053"/>
                    <a:pt x="0" y="1117600"/>
                    <a:pt x="0" y="719963"/>
                  </a:cubicBezTo>
                  <a:close/>
                </a:path>
              </a:pathLst>
            </a:custGeom>
            <a:gradFill rotWithShape="true">
              <a:gsLst>
                <a:gs pos="0">
                  <a:srgbClr val="F2CA9E">
                    <a:alpha val="100000"/>
                  </a:srgbClr>
                </a:gs>
                <a:gs pos="100000">
                  <a:srgbClr val="E9A65D">
                    <a:alpha val="100000"/>
                  </a:srgbClr>
                </a:gs>
              </a:gsLst>
              <a:lin ang="2700000"/>
            </a:gradFill>
          </p:spPr>
        </p:sp>
      </p:grpSp>
      <p:sp>
        <p:nvSpPr>
          <p:cNvPr name="Freeform 20" id="20"/>
          <p:cNvSpPr/>
          <p:nvPr/>
        </p:nvSpPr>
        <p:spPr>
          <a:xfrm flipH="false" flipV="false" rot="0">
            <a:off x="1260600" y="6079947"/>
            <a:ext cx="540000" cy="499535"/>
          </a:xfrm>
          <a:custGeom>
            <a:avLst/>
            <a:gdLst/>
            <a:ahLst/>
            <a:cxnLst/>
            <a:rect r="r" b="b" t="t" l="l"/>
            <a:pathLst>
              <a:path h="499535" w="540000">
                <a:moveTo>
                  <a:pt x="0" y="0"/>
                </a:moveTo>
                <a:lnTo>
                  <a:pt x="540000" y="0"/>
                </a:lnTo>
                <a:lnTo>
                  <a:pt x="540000" y="499535"/>
                </a:lnTo>
                <a:lnTo>
                  <a:pt x="0" y="4995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a:solidFill>
                  <a:srgbClr val="262626"/>
                </a:solidFill>
                <a:latin typeface="王漢宗特黑體"/>
                <a:ea typeface="王漢宗特黑體"/>
                <a:cs typeface="王漢宗特黑體"/>
                <a:sym typeface="王漢宗特黑體"/>
              </a:rPr>
              <a:t>數</a:t>
            </a:r>
            <a:r>
              <a:rPr lang="en-US" sz="4200" strike="noStrike" u="none">
                <a:solidFill>
                  <a:srgbClr val="262626"/>
                </a:solidFill>
                <a:latin typeface="王漢宗特黑體"/>
                <a:ea typeface="王漢宗特黑體"/>
                <a:cs typeface="王漢宗特黑體"/>
                <a:sym typeface="王漢宗特黑體"/>
              </a:rPr>
              <a:t>字落差問題</a:t>
            </a:r>
          </a:p>
        </p:txBody>
      </p:sp>
      <p:grpSp>
        <p:nvGrpSpPr>
          <p:cNvPr name="Group 22" id="22"/>
          <p:cNvGrpSpPr/>
          <p:nvPr/>
        </p:nvGrpSpPr>
        <p:grpSpPr>
          <a:xfrm rot="0">
            <a:off x="507207" y="541823"/>
            <a:ext cx="483393" cy="347514"/>
            <a:chOff x="0" y="0"/>
            <a:chExt cx="644524" cy="463352"/>
          </a:xfrm>
        </p:grpSpPr>
        <p:sp>
          <p:nvSpPr>
            <p:cNvPr name="Freeform 23" id="23"/>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4" id="24"/>
          <p:cNvGrpSpPr/>
          <p:nvPr/>
        </p:nvGrpSpPr>
        <p:grpSpPr>
          <a:xfrm rot="0">
            <a:off x="735807" y="974172"/>
            <a:ext cx="254793" cy="183173"/>
            <a:chOff x="0" y="0"/>
            <a:chExt cx="339724" cy="244230"/>
          </a:xfrm>
        </p:grpSpPr>
        <p:sp>
          <p:nvSpPr>
            <p:cNvPr name="Freeform 25" id="25"/>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6" id="26"/>
          <p:cNvGrpSpPr/>
          <p:nvPr/>
        </p:nvGrpSpPr>
        <p:grpSpPr>
          <a:xfrm rot="0">
            <a:off x="735807" y="1242180"/>
            <a:ext cx="254793" cy="183173"/>
            <a:chOff x="0" y="0"/>
            <a:chExt cx="339724" cy="244230"/>
          </a:xfrm>
        </p:grpSpPr>
        <p:sp>
          <p:nvSpPr>
            <p:cNvPr name="Freeform 27" id="27"/>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998" cy="10286998"/>
            <a:chOff x="0" y="0"/>
            <a:chExt cx="24383998" cy="13715998"/>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EDDF"/>
            </a:solidFill>
          </p:spPr>
        </p:sp>
      </p:grpSp>
      <p:grpSp>
        <p:nvGrpSpPr>
          <p:cNvPr name="Group 4" id="4"/>
          <p:cNvGrpSpPr/>
          <p:nvPr/>
        </p:nvGrpSpPr>
        <p:grpSpPr>
          <a:xfrm rot="0">
            <a:off x="12053078" y="1"/>
            <a:ext cx="6243495" cy="5236365"/>
            <a:chOff x="0" y="0"/>
            <a:chExt cx="8324660" cy="6981820"/>
          </a:xfrm>
        </p:grpSpPr>
        <p:sp>
          <p:nvSpPr>
            <p:cNvPr name="Freeform 5" id="5"/>
            <p:cNvSpPr/>
            <p:nvPr/>
          </p:nvSpPr>
          <p:spPr>
            <a:xfrm flipH="false" flipV="false" rot="0">
              <a:off x="0" y="0"/>
              <a:ext cx="8324723" cy="6981825"/>
            </a:xfrm>
            <a:custGeom>
              <a:avLst/>
              <a:gdLst/>
              <a:ahLst/>
              <a:cxnLst/>
              <a:rect r="r" b="b" t="t" l="l"/>
              <a:pathLst>
                <a:path h="6981825" w="8324723">
                  <a:moveTo>
                    <a:pt x="0" y="0"/>
                  </a:moveTo>
                  <a:lnTo>
                    <a:pt x="8324723" y="0"/>
                  </a:lnTo>
                  <a:lnTo>
                    <a:pt x="8324723" y="2636393"/>
                  </a:lnTo>
                  <a:cubicBezTo>
                    <a:pt x="8324723" y="5036312"/>
                    <a:pt x="6379210" y="6981825"/>
                    <a:pt x="3979291" y="6981825"/>
                  </a:cubicBezTo>
                  <a:lnTo>
                    <a:pt x="0" y="6981825"/>
                  </a:lnTo>
                  <a:close/>
                </a:path>
              </a:pathLst>
            </a:custGeom>
            <a:solidFill>
              <a:srgbClr val="E9A65D">
                <a:alpha val="24706"/>
              </a:srgbClr>
            </a:solidFill>
          </p:spPr>
        </p:sp>
      </p:grpSp>
      <p:sp>
        <p:nvSpPr>
          <p:cNvPr name="Freeform 6" id="6"/>
          <p:cNvSpPr/>
          <p:nvPr/>
        </p:nvSpPr>
        <p:spPr>
          <a:xfrm flipH="false" flipV="false" rot="0">
            <a:off x="10162366" y="1695450"/>
            <a:ext cx="5882973" cy="8596761"/>
          </a:xfrm>
          <a:custGeom>
            <a:avLst/>
            <a:gdLst/>
            <a:ahLst/>
            <a:cxnLst/>
            <a:rect r="r" b="b" t="t" l="l"/>
            <a:pathLst>
              <a:path h="8596761" w="5882973">
                <a:moveTo>
                  <a:pt x="0" y="0"/>
                </a:moveTo>
                <a:lnTo>
                  <a:pt x="5882973" y="0"/>
                </a:lnTo>
                <a:lnTo>
                  <a:pt x="5882973" y="8596761"/>
                </a:lnTo>
                <a:lnTo>
                  <a:pt x="0" y="8596761"/>
                </a:lnTo>
                <a:lnTo>
                  <a:pt x="0" y="0"/>
                </a:lnTo>
                <a:close/>
              </a:path>
            </a:pathLst>
          </a:custGeom>
          <a:blipFill>
            <a:blip r:embed="rId2"/>
            <a:stretch>
              <a:fillRect l="-7241" t="-27460" r="-319000" b="-36013"/>
            </a:stretch>
          </a:blipFill>
        </p:spPr>
      </p:sp>
      <p:grpSp>
        <p:nvGrpSpPr>
          <p:cNvPr name="Group 7" id="7"/>
          <p:cNvGrpSpPr/>
          <p:nvPr/>
        </p:nvGrpSpPr>
        <p:grpSpPr>
          <a:xfrm rot="0">
            <a:off x="912019" y="4793698"/>
            <a:ext cx="4757133" cy="4641266"/>
            <a:chOff x="0" y="0"/>
            <a:chExt cx="6342844" cy="6188354"/>
          </a:xfrm>
        </p:grpSpPr>
        <p:sp>
          <p:nvSpPr>
            <p:cNvPr name="Freeform 8" id="8"/>
            <p:cNvSpPr/>
            <p:nvPr/>
          </p:nvSpPr>
          <p:spPr>
            <a:xfrm flipH="false" flipV="false" rot="0">
              <a:off x="3175" y="3175"/>
              <a:ext cx="6336538" cy="6182106"/>
            </a:xfrm>
            <a:custGeom>
              <a:avLst/>
              <a:gdLst/>
              <a:ahLst/>
              <a:cxnLst/>
              <a:rect r="r" b="b" t="t" l="l"/>
              <a:pathLst>
                <a:path h="6182106" w="6336538">
                  <a:moveTo>
                    <a:pt x="0" y="413131"/>
                  </a:moveTo>
                  <a:cubicBezTo>
                    <a:pt x="0" y="184912"/>
                    <a:pt x="184912" y="0"/>
                    <a:pt x="413131" y="0"/>
                  </a:cubicBezTo>
                  <a:lnTo>
                    <a:pt x="5923407" y="0"/>
                  </a:lnTo>
                  <a:cubicBezTo>
                    <a:pt x="6151499" y="0"/>
                    <a:pt x="6336538" y="184912"/>
                    <a:pt x="6336538" y="413131"/>
                  </a:cubicBezTo>
                  <a:lnTo>
                    <a:pt x="6336538" y="5768975"/>
                  </a:lnTo>
                  <a:cubicBezTo>
                    <a:pt x="6336538" y="5997067"/>
                    <a:pt x="6151626" y="6182106"/>
                    <a:pt x="5923407" y="6182106"/>
                  </a:cubicBezTo>
                  <a:lnTo>
                    <a:pt x="413131" y="6182106"/>
                  </a:lnTo>
                  <a:cubicBezTo>
                    <a:pt x="184912" y="6181979"/>
                    <a:pt x="0" y="5997067"/>
                    <a:pt x="0" y="5768975"/>
                  </a:cubicBezTo>
                  <a:close/>
                </a:path>
              </a:pathLst>
            </a:custGeom>
            <a:solidFill>
              <a:srgbClr val="FFFFFF"/>
            </a:solidFill>
          </p:spPr>
        </p:sp>
        <p:sp>
          <p:nvSpPr>
            <p:cNvPr name="Freeform 9" id="9"/>
            <p:cNvSpPr/>
            <p:nvPr/>
          </p:nvSpPr>
          <p:spPr>
            <a:xfrm flipH="false" flipV="false" rot="0">
              <a:off x="0" y="0"/>
              <a:ext cx="6342888" cy="6188456"/>
            </a:xfrm>
            <a:custGeom>
              <a:avLst/>
              <a:gdLst/>
              <a:ahLst/>
              <a:cxnLst/>
              <a:rect r="r" b="b" t="t" l="l"/>
              <a:pathLst>
                <a:path h="6188456" w="6342888">
                  <a:moveTo>
                    <a:pt x="0" y="416306"/>
                  </a:moveTo>
                  <a:cubicBezTo>
                    <a:pt x="0" y="186309"/>
                    <a:pt x="186309" y="0"/>
                    <a:pt x="416306" y="0"/>
                  </a:cubicBezTo>
                  <a:lnTo>
                    <a:pt x="5926582" y="0"/>
                  </a:lnTo>
                  <a:lnTo>
                    <a:pt x="5926582" y="3175"/>
                  </a:lnTo>
                  <a:lnTo>
                    <a:pt x="5926582" y="0"/>
                  </a:lnTo>
                  <a:cubicBezTo>
                    <a:pt x="6156452" y="0"/>
                    <a:pt x="6342888" y="186309"/>
                    <a:pt x="6342888" y="416306"/>
                  </a:cubicBezTo>
                  <a:lnTo>
                    <a:pt x="6339713" y="416306"/>
                  </a:lnTo>
                  <a:lnTo>
                    <a:pt x="6342888" y="416306"/>
                  </a:lnTo>
                  <a:lnTo>
                    <a:pt x="6342888" y="5772150"/>
                  </a:lnTo>
                  <a:lnTo>
                    <a:pt x="6339713" y="5772150"/>
                  </a:lnTo>
                  <a:lnTo>
                    <a:pt x="6342888" y="5772150"/>
                  </a:lnTo>
                  <a:cubicBezTo>
                    <a:pt x="6342888" y="6002020"/>
                    <a:pt x="6156579" y="6188456"/>
                    <a:pt x="5926582" y="6188456"/>
                  </a:cubicBezTo>
                  <a:lnTo>
                    <a:pt x="5926582" y="6185281"/>
                  </a:lnTo>
                  <a:lnTo>
                    <a:pt x="5926582" y="6188456"/>
                  </a:lnTo>
                  <a:lnTo>
                    <a:pt x="416306" y="6188456"/>
                  </a:lnTo>
                  <a:lnTo>
                    <a:pt x="416306" y="6185281"/>
                  </a:lnTo>
                  <a:lnTo>
                    <a:pt x="416306" y="6188456"/>
                  </a:lnTo>
                  <a:cubicBezTo>
                    <a:pt x="186309" y="6188329"/>
                    <a:pt x="0" y="6002020"/>
                    <a:pt x="0" y="5772150"/>
                  </a:cubicBezTo>
                  <a:lnTo>
                    <a:pt x="0" y="416306"/>
                  </a:lnTo>
                  <a:lnTo>
                    <a:pt x="3175" y="416306"/>
                  </a:lnTo>
                  <a:lnTo>
                    <a:pt x="0" y="416306"/>
                  </a:lnTo>
                  <a:moveTo>
                    <a:pt x="6350" y="416306"/>
                  </a:moveTo>
                  <a:lnTo>
                    <a:pt x="6350" y="5772150"/>
                  </a:lnTo>
                  <a:lnTo>
                    <a:pt x="3175" y="5772150"/>
                  </a:lnTo>
                  <a:lnTo>
                    <a:pt x="6350" y="5772150"/>
                  </a:lnTo>
                  <a:cubicBezTo>
                    <a:pt x="6350" y="5998591"/>
                    <a:pt x="189865" y="6182106"/>
                    <a:pt x="416306" y="6182106"/>
                  </a:cubicBezTo>
                  <a:lnTo>
                    <a:pt x="5926582" y="6182106"/>
                  </a:lnTo>
                  <a:cubicBezTo>
                    <a:pt x="6153023" y="6182106"/>
                    <a:pt x="6336538" y="5998591"/>
                    <a:pt x="6336538" y="5772150"/>
                  </a:cubicBezTo>
                  <a:lnTo>
                    <a:pt x="6336538" y="416306"/>
                  </a:lnTo>
                  <a:cubicBezTo>
                    <a:pt x="6336538" y="189865"/>
                    <a:pt x="6153023" y="6350"/>
                    <a:pt x="5926582" y="6350"/>
                  </a:cubicBezTo>
                  <a:lnTo>
                    <a:pt x="416306" y="6350"/>
                  </a:lnTo>
                  <a:lnTo>
                    <a:pt x="416306" y="3175"/>
                  </a:lnTo>
                  <a:lnTo>
                    <a:pt x="416306" y="6350"/>
                  </a:lnTo>
                  <a:cubicBezTo>
                    <a:pt x="189865" y="6350"/>
                    <a:pt x="6350" y="189865"/>
                    <a:pt x="6350" y="416306"/>
                  </a:cubicBezTo>
                  <a:close/>
                </a:path>
              </a:pathLst>
            </a:custGeom>
            <a:solidFill>
              <a:srgbClr val="E9A65D"/>
            </a:solidFill>
          </p:spPr>
        </p:sp>
      </p:grpSp>
      <p:grpSp>
        <p:nvGrpSpPr>
          <p:cNvPr name="Group 10" id="10"/>
          <p:cNvGrpSpPr/>
          <p:nvPr/>
        </p:nvGrpSpPr>
        <p:grpSpPr>
          <a:xfrm rot="0">
            <a:off x="6271388" y="4793698"/>
            <a:ext cx="4757133" cy="4641266"/>
            <a:chOff x="0" y="0"/>
            <a:chExt cx="6342844" cy="6188354"/>
          </a:xfrm>
        </p:grpSpPr>
        <p:sp>
          <p:nvSpPr>
            <p:cNvPr name="Freeform 11" id="11"/>
            <p:cNvSpPr/>
            <p:nvPr/>
          </p:nvSpPr>
          <p:spPr>
            <a:xfrm flipH="false" flipV="false" rot="0">
              <a:off x="3175" y="3175"/>
              <a:ext cx="6336538" cy="6182106"/>
            </a:xfrm>
            <a:custGeom>
              <a:avLst/>
              <a:gdLst/>
              <a:ahLst/>
              <a:cxnLst/>
              <a:rect r="r" b="b" t="t" l="l"/>
              <a:pathLst>
                <a:path h="6182106" w="6336538">
                  <a:moveTo>
                    <a:pt x="0" y="413131"/>
                  </a:moveTo>
                  <a:cubicBezTo>
                    <a:pt x="0" y="184912"/>
                    <a:pt x="184912" y="0"/>
                    <a:pt x="413131" y="0"/>
                  </a:cubicBezTo>
                  <a:lnTo>
                    <a:pt x="5923407" y="0"/>
                  </a:lnTo>
                  <a:cubicBezTo>
                    <a:pt x="6151499" y="0"/>
                    <a:pt x="6336538" y="184912"/>
                    <a:pt x="6336538" y="413131"/>
                  </a:cubicBezTo>
                  <a:lnTo>
                    <a:pt x="6336538" y="5768975"/>
                  </a:lnTo>
                  <a:cubicBezTo>
                    <a:pt x="6336538" y="5997067"/>
                    <a:pt x="6151626" y="6182106"/>
                    <a:pt x="5923407" y="6182106"/>
                  </a:cubicBezTo>
                  <a:lnTo>
                    <a:pt x="413131" y="6182106"/>
                  </a:lnTo>
                  <a:cubicBezTo>
                    <a:pt x="184912" y="6181979"/>
                    <a:pt x="0" y="5997067"/>
                    <a:pt x="0" y="5768975"/>
                  </a:cubicBezTo>
                  <a:close/>
                </a:path>
              </a:pathLst>
            </a:custGeom>
            <a:solidFill>
              <a:srgbClr val="FFFFFF"/>
            </a:solidFill>
          </p:spPr>
        </p:sp>
        <p:sp>
          <p:nvSpPr>
            <p:cNvPr name="Freeform 12" id="12"/>
            <p:cNvSpPr/>
            <p:nvPr/>
          </p:nvSpPr>
          <p:spPr>
            <a:xfrm flipH="false" flipV="false" rot="0">
              <a:off x="0" y="0"/>
              <a:ext cx="6342888" cy="6188456"/>
            </a:xfrm>
            <a:custGeom>
              <a:avLst/>
              <a:gdLst/>
              <a:ahLst/>
              <a:cxnLst/>
              <a:rect r="r" b="b" t="t" l="l"/>
              <a:pathLst>
                <a:path h="6188456" w="6342888">
                  <a:moveTo>
                    <a:pt x="0" y="416306"/>
                  </a:moveTo>
                  <a:cubicBezTo>
                    <a:pt x="0" y="186309"/>
                    <a:pt x="186309" y="0"/>
                    <a:pt x="416306" y="0"/>
                  </a:cubicBezTo>
                  <a:lnTo>
                    <a:pt x="5926582" y="0"/>
                  </a:lnTo>
                  <a:lnTo>
                    <a:pt x="5926582" y="3175"/>
                  </a:lnTo>
                  <a:lnTo>
                    <a:pt x="5926582" y="0"/>
                  </a:lnTo>
                  <a:cubicBezTo>
                    <a:pt x="6156452" y="0"/>
                    <a:pt x="6342888" y="186309"/>
                    <a:pt x="6342888" y="416306"/>
                  </a:cubicBezTo>
                  <a:lnTo>
                    <a:pt x="6339713" y="416306"/>
                  </a:lnTo>
                  <a:lnTo>
                    <a:pt x="6342888" y="416306"/>
                  </a:lnTo>
                  <a:lnTo>
                    <a:pt x="6342888" y="5772150"/>
                  </a:lnTo>
                  <a:lnTo>
                    <a:pt x="6339713" y="5772150"/>
                  </a:lnTo>
                  <a:lnTo>
                    <a:pt x="6342888" y="5772150"/>
                  </a:lnTo>
                  <a:cubicBezTo>
                    <a:pt x="6342888" y="6002020"/>
                    <a:pt x="6156579" y="6188456"/>
                    <a:pt x="5926582" y="6188456"/>
                  </a:cubicBezTo>
                  <a:lnTo>
                    <a:pt x="5926582" y="6185281"/>
                  </a:lnTo>
                  <a:lnTo>
                    <a:pt x="5926582" y="6188456"/>
                  </a:lnTo>
                  <a:lnTo>
                    <a:pt x="416306" y="6188456"/>
                  </a:lnTo>
                  <a:lnTo>
                    <a:pt x="416306" y="6185281"/>
                  </a:lnTo>
                  <a:lnTo>
                    <a:pt x="416306" y="6188456"/>
                  </a:lnTo>
                  <a:cubicBezTo>
                    <a:pt x="186309" y="6188329"/>
                    <a:pt x="0" y="6002020"/>
                    <a:pt x="0" y="5772150"/>
                  </a:cubicBezTo>
                  <a:lnTo>
                    <a:pt x="0" y="416306"/>
                  </a:lnTo>
                  <a:lnTo>
                    <a:pt x="3175" y="416306"/>
                  </a:lnTo>
                  <a:lnTo>
                    <a:pt x="0" y="416306"/>
                  </a:lnTo>
                  <a:moveTo>
                    <a:pt x="6350" y="416306"/>
                  </a:moveTo>
                  <a:lnTo>
                    <a:pt x="6350" y="5772150"/>
                  </a:lnTo>
                  <a:lnTo>
                    <a:pt x="3175" y="5772150"/>
                  </a:lnTo>
                  <a:lnTo>
                    <a:pt x="6350" y="5772150"/>
                  </a:lnTo>
                  <a:cubicBezTo>
                    <a:pt x="6350" y="5998591"/>
                    <a:pt x="189865" y="6182106"/>
                    <a:pt x="416306" y="6182106"/>
                  </a:cubicBezTo>
                  <a:lnTo>
                    <a:pt x="5926582" y="6182106"/>
                  </a:lnTo>
                  <a:cubicBezTo>
                    <a:pt x="6153023" y="6182106"/>
                    <a:pt x="6336538" y="5998591"/>
                    <a:pt x="6336538" y="5772150"/>
                  </a:cubicBezTo>
                  <a:lnTo>
                    <a:pt x="6336538" y="416306"/>
                  </a:lnTo>
                  <a:cubicBezTo>
                    <a:pt x="6336538" y="189865"/>
                    <a:pt x="6153023" y="6350"/>
                    <a:pt x="5926582" y="6350"/>
                  </a:cubicBezTo>
                  <a:lnTo>
                    <a:pt x="416306" y="6350"/>
                  </a:lnTo>
                  <a:lnTo>
                    <a:pt x="416306" y="3175"/>
                  </a:lnTo>
                  <a:lnTo>
                    <a:pt x="416306" y="6350"/>
                  </a:lnTo>
                  <a:cubicBezTo>
                    <a:pt x="189865" y="6350"/>
                    <a:pt x="6350" y="189865"/>
                    <a:pt x="6350" y="416306"/>
                  </a:cubicBezTo>
                  <a:close/>
                </a:path>
              </a:pathLst>
            </a:custGeom>
            <a:solidFill>
              <a:srgbClr val="E9A65D"/>
            </a:solidFill>
          </p:spPr>
        </p:sp>
      </p:grpSp>
      <p:sp>
        <p:nvSpPr>
          <p:cNvPr name="Freeform 13" id="13"/>
          <p:cNvSpPr/>
          <p:nvPr/>
        </p:nvSpPr>
        <p:spPr>
          <a:xfrm flipH="false" flipV="false" rot="0">
            <a:off x="2887404" y="5049610"/>
            <a:ext cx="806361" cy="873480"/>
          </a:xfrm>
          <a:custGeom>
            <a:avLst/>
            <a:gdLst/>
            <a:ahLst/>
            <a:cxnLst/>
            <a:rect r="r" b="b" t="t" l="l"/>
            <a:pathLst>
              <a:path h="873480" w="806361">
                <a:moveTo>
                  <a:pt x="0" y="0"/>
                </a:moveTo>
                <a:lnTo>
                  <a:pt x="806361" y="0"/>
                </a:lnTo>
                <a:lnTo>
                  <a:pt x="806361" y="873480"/>
                </a:lnTo>
                <a:lnTo>
                  <a:pt x="0" y="8734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4" id="14"/>
          <p:cNvGrpSpPr/>
          <p:nvPr/>
        </p:nvGrpSpPr>
        <p:grpSpPr>
          <a:xfrm rot="0">
            <a:off x="3137777" y="6253092"/>
            <a:ext cx="305620" cy="88827"/>
            <a:chOff x="0" y="0"/>
            <a:chExt cx="407494" cy="118436"/>
          </a:xfrm>
        </p:grpSpPr>
        <p:sp>
          <p:nvSpPr>
            <p:cNvPr name="Freeform 15" id="15"/>
            <p:cNvSpPr/>
            <p:nvPr/>
          </p:nvSpPr>
          <p:spPr>
            <a:xfrm flipH="false" flipV="false" rot="0">
              <a:off x="0" y="0"/>
              <a:ext cx="407543" cy="118491"/>
            </a:xfrm>
            <a:custGeom>
              <a:avLst/>
              <a:gdLst/>
              <a:ahLst/>
              <a:cxnLst/>
              <a:rect r="r" b="b" t="t" l="l"/>
              <a:pathLst>
                <a:path h="118491" w="407543">
                  <a:moveTo>
                    <a:pt x="0" y="0"/>
                  </a:moveTo>
                  <a:lnTo>
                    <a:pt x="407543" y="0"/>
                  </a:lnTo>
                  <a:lnTo>
                    <a:pt x="407543" y="118491"/>
                  </a:lnTo>
                  <a:lnTo>
                    <a:pt x="0" y="118491"/>
                  </a:lnTo>
                  <a:close/>
                </a:path>
              </a:pathLst>
            </a:custGeom>
            <a:solidFill>
              <a:srgbClr val="E9A65D"/>
            </a:solidFill>
          </p:spPr>
        </p:sp>
      </p:grpSp>
      <p:sp>
        <p:nvSpPr>
          <p:cNvPr name="Freeform 16" id="16"/>
          <p:cNvSpPr/>
          <p:nvPr/>
        </p:nvSpPr>
        <p:spPr>
          <a:xfrm flipH="false" flipV="false" rot="0">
            <a:off x="8213211" y="5063698"/>
            <a:ext cx="873489" cy="845306"/>
          </a:xfrm>
          <a:custGeom>
            <a:avLst/>
            <a:gdLst/>
            <a:ahLst/>
            <a:cxnLst/>
            <a:rect r="r" b="b" t="t" l="l"/>
            <a:pathLst>
              <a:path h="845306" w="873489">
                <a:moveTo>
                  <a:pt x="0" y="0"/>
                </a:moveTo>
                <a:lnTo>
                  <a:pt x="873489" y="0"/>
                </a:lnTo>
                <a:lnTo>
                  <a:pt x="873489" y="845306"/>
                </a:lnTo>
                <a:lnTo>
                  <a:pt x="0" y="8453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8497146" y="6253092"/>
            <a:ext cx="305621" cy="88827"/>
            <a:chOff x="0" y="0"/>
            <a:chExt cx="407494" cy="118436"/>
          </a:xfrm>
        </p:grpSpPr>
        <p:sp>
          <p:nvSpPr>
            <p:cNvPr name="Freeform 18" id="18"/>
            <p:cNvSpPr/>
            <p:nvPr/>
          </p:nvSpPr>
          <p:spPr>
            <a:xfrm flipH="false" flipV="false" rot="0">
              <a:off x="0" y="0"/>
              <a:ext cx="407543" cy="118491"/>
            </a:xfrm>
            <a:custGeom>
              <a:avLst/>
              <a:gdLst/>
              <a:ahLst/>
              <a:cxnLst/>
              <a:rect r="r" b="b" t="t" l="l"/>
              <a:pathLst>
                <a:path h="118491" w="407543">
                  <a:moveTo>
                    <a:pt x="0" y="0"/>
                  </a:moveTo>
                  <a:lnTo>
                    <a:pt x="407543" y="0"/>
                  </a:lnTo>
                  <a:lnTo>
                    <a:pt x="407543" y="118491"/>
                  </a:lnTo>
                  <a:lnTo>
                    <a:pt x="0" y="118491"/>
                  </a:lnTo>
                  <a:close/>
                </a:path>
              </a:pathLst>
            </a:custGeom>
            <a:solidFill>
              <a:srgbClr val="E9A65D"/>
            </a:solidFill>
          </p:spPr>
        </p:sp>
      </p:grpSp>
      <p:sp>
        <p:nvSpPr>
          <p:cNvPr name="TextBox 19" id="19"/>
          <p:cNvSpPr txBox="true"/>
          <p:nvPr/>
        </p:nvSpPr>
        <p:spPr>
          <a:xfrm rot="0">
            <a:off x="914400" y="3265715"/>
            <a:ext cx="8408670" cy="4095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62626"/>
                </a:solidFill>
                <a:latin typeface="王漢宗特黑體"/>
                <a:ea typeface="王漢宗特黑體"/>
                <a:cs typeface="王漢宗特黑體"/>
                <a:sym typeface="王漢宗特黑體"/>
              </a:rPr>
              <a:t>掌握數位工具</a:t>
            </a:r>
          </a:p>
        </p:txBody>
      </p:sp>
      <p:sp>
        <p:nvSpPr>
          <p:cNvPr name="TextBox 20" id="20"/>
          <p:cNvSpPr txBox="true"/>
          <p:nvPr/>
        </p:nvSpPr>
        <p:spPr>
          <a:xfrm rot="0">
            <a:off x="1111799" y="6674495"/>
            <a:ext cx="4421084" cy="942975"/>
          </a:xfrm>
          <a:prstGeom prst="rect">
            <a:avLst/>
          </a:prstGeom>
        </p:spPr>
        <p:txBody>
          <a:bodyPr anchor="t" rtlCol="false" tIns="0" lIns="0" bIns="0" rIns="0">
            <a:spAutoFit/>
          </a:bodyPr>
          <a:lstStyle/>
          <a:p>
            <a:pPr algn="ctr" marL="0" indent="0" lvl="0">
              <a:lnSpc>
                <a:spcPts val="1863"/>
              </a:lnSpc>
              <a:spcBef>
                <a:spcPct val="0"/>
              </a:spcBef>
            </a:pPr>
            <a:r>
              <a:rPr lang="en-US" sz="1552" strike="noStrike" u="none">
                <a:solidFill>
                  <a:srgbClr val="404040"/>
                </a:solidFill>
                <a:latin typeface="王漢宗特黑體"/>
                <a:ea typeface="王漢宗特黑體"/>
                <a:cs typeface="王漢宗特黑體"/>
                <a:sym typeface="王漢宗特黑體"/>
              </a:rPr>
              <a:t>有些老師可能不熟悉數位工具，可能需要花費大量時間和精力才能將酷英語資源有效地融入他們的課程中。特別是對於那些不願意引入新技術的教師來說，瀏覽平台和選擇內容可能是一種負擔。</a:t>
            </a:r>
          </a:p>
        </p:txBody>
      </p:sp>
      <p:sp>
        <p:nvSpPr>
          <p:cNvPr name="TextBox 21" id="21"/>
          <p:cNvSpPr txBox="true"/>
          <p:nvPr/>
        </p:nvSpPr>
        <p:spPr>
          <a:xfrm rot="0">
            <a:off x="6441559" y="6655445"/>
            <a:ext cx="4421083" cy="6762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404040"/>
                </a:solidFill>
                <a:latin typeface="王漢宗特黑體"/>
                <a:ea typeface="王漢宗特黑體"/>
                <a:cs typeface="王漢宗特黑體"/>
                <a:sym typeface="王漢宗特黑體"/>
              </a:rPr>
              <a:t>為了解決這個問題，需要對教師進行培訓和支援。</a:t>
            </a:r>
          </a:p>
        </p:txBody>
      </p:sp>
      <p:sp>
        <p:nvSpPr>
          <p:cNvPr name="TextBox 22" id="22"/>
          <p:cNvSpPr txBox="true"/>
          <p:nvPr/>
        </p:nvSpPr>
        <p:spPr>
          <a:xfrm rot="0">
            <a:off x="1138572" y="676481"/>
            <a:ext cx="16287750" cy="723900"/>
          </a:xfrm>
          <a:prstGeom prst="rect">
            <a:avLst/>
          </a:prstGeom>
        </p:spPr>
        <p:txBody>
          <a:bodyPr anchor="t" rtlCol="false" tIns="0" lIns="0" bIns="0" rIns="0">
            <a:spAutoFit/>
          </a:bodyPr>
          <a:lstStyle/>
          <a:p>
            <a:pPr algn="l" marL="0" indent="0" lvl="0">
              <a:lnSpc>
                <a:spcPts val="5040"/>
              </a:lnSpc>
              <a:spcBef>
                <a:spcPct val="0"/>
              </a:spcBef>
            </a:pPr>
            <a:r>
              <a:rPr lang="en-US" sz="4200" strike="noStrike" u="none">
                <a:solidFill>
                  <a:srgbClr val="262626"/>
                </a:solidFill>
                <a:latin typeface="王漢宗特黑體"/>
                <a:ea typeface="王漢宗特黑體"/>
                <a:cs typeface="王漢宗特黑體"/>
                <a:sym typeface="王漢宗特黑體"/>
              </a:rPr>
              <a:t>教師適應與培訓</a:t>
            </a:r>
          </a:p>
        </p:txBody>
      </p:sp>
      <p:grpSp>
        <p:nvGrpSpPr>
          <p:cNvPr name="Group 23" id="23"/>
          <p:cNvGrpSpPr/>
          <p:nvPr/>
        </p:nvGrpSpPr>
        <p:grpSpPr>
          <a:xfrm rot="0">
            <a:off x="507207" y="541823"/>
            <a:ext cx="483393" cy="347514"/>
            <a:chOff x="0" y="0"/>
            <a:chExt cx="644524" cy="463352"/>
          </a:xfrm>
        </p:grpSpPr>
        <p:sp>
          <p:nvSpPr>
            <p:cNvPr name="Freeform 24" id="24"/>
            <p:cNvSpPr/>
            <p:nvPr/>
          </p:nvSpPr>
          <p:spPr>
            <a:xfrm flipH="false" flipV="false" rot="0">
              <a:off x="0" y="0"/>
              <a:ext cx="644525" cy="463296"/>
            </a:xfrm>
            <a:custGeom>
              <a:avLst/>
              <a:gdLst/>
              <a:ahLst/>
              <a:cxnLst/>
              <a:rect r="r" b="b" t="t" l="l"/>
              <a:pathLst>
                <a:path h="463296" w="644525">
                  <a:moveTo>
                    <a:pt x="0" y="463296"/>
                  </a:moveTo>
                  <a:lnTo>
                    <a:pt x="644525" y="463296"/>
                  </a:lnTo>
                  <a:lnTo>
                    <a:pt x="644525" y="0"/>
                  </a:lnTo>
                  <a:lnTo>
                    <a:pt x="0" y="0"/>
                  </a:lnTo>
                  <a:close/>
                </a:path>
              </a:pathLst>
            </a:custGeom>
            <a:solidFill>
              <a:srgbClr val="E9A65D"/>
            </a:solidFill>
          </p:spPr>
        </p:sp>
      </p:grpSp>
      <p:grpSp>
        <p:nvGrpSpPr>
          <p:cNvPr name="Group 25" id="25"/>
          <p:cNvGrpSpPr/>
          <p:nvPr/>
        </p:nvGrpSpPr>
        <p:grpSpPr>
          <a:xfrm rot="0">
            <a:off x="735807" y="974172"/>
            <a:ext cx="254793" cy="183173"/>
            <a:chOff x="0" y="0"/>
            <a:chExt cx="339724" cy="244230"/>
          </a:xfrm>
        </p:grpSpPr>
        <p:sp>
          <p:nvSpPr>
            <p:cNvPr name="Freeform 26" id="26"/>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grpSp>
        <p:nvGrpSpPr>
          <p:cNvPr name="Group 27" id="27"/>
          <p:cNvGrpSpPr/>
          <p:nvPr/>
        </p:nvGrpSpPr>
        <p:grpSpPr>
          <a:xfrm rot="0">
            <a:off x="735807" y="1242180"/>
            <a:ext cx="254793" cy="183173"/>
            <a:chOff x="0" y="0"/>
            <a:chExt cx="339724" cy="244230"/>
          </a:xfrm>
        </p:grpSpPr>
        <p:sp>
          <p:nvSpPr>
            <p:cNvPr name="Freeform 28" id="28"/>
            <p:cNvSpPr/>
            <p:nvPr/>
          </p:nvSpPr>
          <p:spPr>
            <a:xfrm flipH="false" flipV="false" rot="0">
              <a:off x="0" y="0"/>
              <a:ext cx="339725" cy="244221"/>
            </a:xfrm>
            <a:custGeom>
              <a:avLst/>
              <a:gdLst/>
              <a:ahLst/>
              <a:cxnLst/>
              <a:rect r="r" b="b" t="t" l="l"/>
              <a:pathLst>
                <a:path h="244221" w="339725">
                  <a:moveTo>
                    <a:pt x="0" y="244221"/>
                  </a:moveTo>
                  <a:lnTo>
                    <a:pt x="339725" y="244221"/>
                  </a:lnTo>
                  <a:lnTo>
                    <a:pt x="339725" y="0"/>
                  </a:lnTo>
                  <a:lnTo>
                    <a:pt x="0" y="0"/>
                  </a:lnTo>
                  <a:close/>
                </a:path>
              </a:pathLst>
            </a:custGeom>
            <a:solidFill>
              <a:srgbClr val="E9A65D"/>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DBBE"/>
        </a:solidFill>
      </p:bgPr>
    </p:bg>
    <p:spTree>
      <p:nvGrpSpPr>
        <p:cNvPr id="1" name=""/>
        <p:cNvGrpSpPr/>
        <p:nvPr/>
      </p:nvGrpSpPr>
      <p:grpSpPr>
        <a:xfrm>
          <a:off x="0" y="0"/>
          <a:ext cx="0" cy="0"/>
          <a:chOff x="0" y="0"/>
          <a:chExt cx="0" cy="0"/>
        </a:xfrm>
      </p:grpSpPr>
      <p:grpSp>
        <p:nvGrpSpPr>
          <p:cNvPr name="Group 2" id="2"/>
          <p:cNvGrpSpPr/>
          <p:nvPr/>
        </p:nvGrpSpPr>
        <p:grpSpPr>
          <a:xfrm rot="176969">
            <a:off x="3118278" y="1882936"/>
            <a:ext cx="12578661" cy="6400736"/>
            <a:chOff x="0" y="0"/>
            <a:chExt cx="16771548" cy="8534314"/>
          </a:xfrm>
        </p:grpSpPr>
        <p:sp>
          <p:nvSpPr>
            <p:cNvPr name="Freeform 3" id="3"/>
            <p:cNvSpPr/>
            <p:nvPr/>
          </p:nvSpPr>
          <p:spPr>
            <a:xfrm flipH="false" flipV="false" rot="0">
              <a:off x="0" y="0"/>
              <a:ext cx="16771493" cy="8534273"/>
            </a:xfrm>
            <a:custGeom>
              <a:avLst/>
              <a:gdLst/>
              <a:ahLst/>
              <a:cxnLst/>
              <a:rect r="r" b="b" t="t" l="l"/>
              <a:pathLst>
                <a:path h="8534273" w="16771493">
                  <a:moveTo>
                    <a:pt x="0" y="0"/>
                  </a:moveTo>
                  <a:lnTo>
                    <a:pt x="16771493" y="0"/>
                  </a:lnTo>
                  <a:lnTo>
                    <a:pt x="16771493" y="8534273"/>
                  </a:lnTo>
                  <a:lnTo>
                    <a:pt x="0" y="8534273"/>
                  </a:lnTo>
                  <a:close/>
                </a:path>
              </a:pathLst>
            </a:custGeom>
            <a:solidFill>
              <a:srgbClr val="DE6258"/>
            </a:solidFill>
          </p:spPr>
        </p:sp>
      </p:grpSp>
      <p:grpSp>
        <p:nvGrpSpPr>
          <p:cNvPr name="Group 4" id="4"/>
          <p:cNvGrpSpPr/>
          <p:nvPr/>
        </p:nvGrpSpPr>
        <p:grpSpPr>
          <a:xfrm rot="2725">
            <a:off x="3231730" y="1736535"/>
            <a:ext cx="12578661" cy="6400736"/>
            <a:chOff x="0" y="0"/>
            <a:chExt cx="16771548" cy="8534314"/>
          </a:xfrm>
        </p:grpSpPr>
        <p:sp>
          <p:nvSpPr>
            <p:cNvPr name="Freeform 5" id="5"/>
            <p:cNvSpPr/>
            <p:nvPr/>
          </p:nvSpPr>
          <p:spPr>
            <a:xfrm flipH="false" flipV="false" rot="0">
              <a:off x="0" y="0"/>
              <a:ext cx="16771493" cy="8534274"/>
            </a:xfrm>
            <a:custGeom>
              <a:avLst/>
              <a:gdLst/>
              <a:ahLst/>
              <a:cxnLst/>
              <a:rect r="r" b="b" t="t" l="l"/>
              <a:pathLst>
                <a:path h="8534274" w="16771493">
                  <a:moveTo>
                    <a:pt x="0" y="0"/>
                  </a:moveTo>
                  <a:lnTo>
                    <a:pt x="16771493" y="0"/>
                  </a:lnTo>
                  <a:lnTo>
                    <a:pt x="16771493" y="6247003"/>
                  </a:lnTo>
                  <a:lnTo>
                    <a:pt x="14484223" y="8534274"/>
                  </a:lnTo>
                  <a:lnTo>
                    <a:pt x="0" y="8534274"/>
                  </a:lnTo>
                  <a:close/>
                </a:path>
              </a:pathLst>
            </a:custGeom>
            <a:solidFill>
              <a:srgbClr val="F2CA9E"/>
            </a:solidFill>
          </p:spPr>
        </p:sp>
        <p:sp>
          <p:nvSpPr>
            <p:cNvPr name="Freeform 6" id="6"/>
            <p:cNvSpPr/>
            <p:nvPr/>
          </p:nvSpPr>
          <p:spPr>
            <a:xfrm flipH="false" flipV="false" rot="0">
              <a:off x="14484223" y="6247003"/>
              <a:ext cx="2287270" cy="2287270"/>
            </a:xfrm>
            <a:custGeom>
              <a:avLst/>
              <a:gdLst/>
              <a:ahLst/>
              <a:cxnLst/>
              <a:rect r="r" b="b" t="t" l="l"/>
              <a:pathLst>
                <a:path h="2287270" w="2287270">
                  <a:moveTo>
                    <a:pt x="0" y="2287270"/>
                  </a:moveTo>
                  <a:lnTo>
                    <a:pt x="457454" y="457454"/>
                  </a:lnTo>
                  <a:lnTo>
                    <a:pt x="2287270" y="0"/>
                  </a:lnTo>
                  <a:close/>
                </a:path>
              </a:pathLst>
            </a:custGeom>
            <a:solidFill>
              <a:srgbClr val="C1A17E"/>
            </a:solidFill>
          </p:spPr>
        </p:sp>
        <p:sp>
          <p:nvSpPr>
            <p:cNvPr name="Freeform 7" id="7"/>
            <p:cNvSpPr/>
            <p:nvPr/>
          </p:nvSpPr>
          <p:spPr>
            <a:xfrm flipH="false" flipV="false" rot="0">
              <a:off x="0" y="0"/>
              <a:ext cx="16771493" cy="8534273"/>
            </a:xfrm>
            <a:custGeom>
              <a:avLst/>
              <a:gdLst/>
              <a:ahLst/>
              <a:cxnLst/>
              <a:rect r="r" b="b" t="t" l="l"/>
              <a:pathLst>
                <a:path h="8534273" w="16771493">
                  <a:moveTo>
                    <a:pt x="14484223" y="8534273"/>
                  </a:moveTo>
                  <a:lnTo>
                    <a:pt x="14941677" y="6704457"/>
                  </a:lnTo>
                  <a:lnTo>
                    <a:pt x="16771493" y="6247003"/>
                  </a:lnTo>
                  <a:lnTo>
                    <a:pt x="14484223" y="8534273"/>
                  </a:lnTo>
                  <a:lnTo>
                    <a:pt x="0" y="8534273"/>
                  </a:lnTo>
                  <a:lnTo>
                    <a:pt x="0" y="0"/>
                  </a:lnTo>
                  <a:lnTo>
                    <a:pt x="16771493" y="0"/>
                  </a:lnTo>
                  <a:lnTo>
                    <a:pt x="16771493" y="6247003"/>
                  </a:lnTo>
                </a:path>
              </a:pathLst>
            </a:custGeom>
            <a:solidFill>
              <a:srgbClr val="000000">
                <a:alpha val="0"/>
              </a:srgbClr>
            </a:solidFill>
          </p:spPr>
        </p:sp>
      </p:grpSp>
      <p:grpSp>
        <p:nvGrpSpPr>
          <p:cNvPr name="Group 8" id="8"/>
          <p:cNvGrpSpPr/>
          <p:nvPr/>
        </p:nvGrpSpPr>
        <p:grpSpPr>
          <a:xfrm rot="-447427">
            <a:off x="3416526" y="1909875"/>
            <a:ext cx="263322" cy="263322"/>
            <a:chOff x="0" y="0"/>
            <a:chExt cx="351096" cy="351096"/>
          </a:xfrm>
        </p:grpSpPr>
        <p:sp>
          <p:nvSpPr>
            <p:cNvPr name="Freeform 9" id="9"/>
            <p:cNvSpPr/>
            <p:nvPr/>
          </p:nvSpPr>
          <p:spPr>
            <a:xfrm flipH="false" flipV="false" rot="0">
              <a:off x="0" y="0"/>
              <a:ext cx="351155" cy="351155"/>
            </a:xfrm>
            <a:custGeom>
              <a:avLst/>
              <a:gdLst/>
              <a:ahLst/>
              <a:cxnLst/>
              <a:rect r="r" b="b" t="t" l="l"/>
              <a:pathLst>
                <a:path h="351155" w="351155">
                  <a:moveTo>
                    <a:pt x="0" y="175514"/>
                  </a:moveTo>
                  <a:cubicBezTo>
                    <a:pt x="0" y="78613"/>
                    <a:pt x="78613" y="0"/>
                    <a:pt x="175514" y="0"/>
                  </a:cubicBezTo>
                  <a:cubicBezTo>
                    <a:pt x="272415" y="0"/>
                    <a:pt x="351155" y="78613"/>
                    <a:pt x="351155" y="175514"/>
                  </a:cubicBezTo>
                  <a:cubicBezTo>
                    <a:pt x="351155" y="272415"/>
                    <a:pt x="272542" y="351155"/>
                    <a:pt x="175514" y="351155"/>
                  </a:cubicBezTo>
                  <a:cubicBezTo>
                    <a:pt x="78486" y="351155"/>
                    <a:pt x="0" y="272542"/>
                    <a:pt x="0" y="175514"/>
                  </a:cubicBezTo>
                  <a:close/>
                </a:path>
              </a:pathLst>
            </a:custGeom>
            <a:solidFill>
              <a:srgbClr val="D77E1D"/>
            </a:solidFill>
          </p:spPr>
        </p:sp>
      </p:grpSp>
      <p:sp>
        <p:nvSpPr>
          <p:cNvPr name="TextBox 10" id="10"/>
          <p:cNvSpPr txBox="true"/>
          <p:nvPr/>
        </p:nvSpPr>
        <p:spPr>
          <a:xfrm rot="0">
            <a:off x="3585814" y="3659773"/>
            <a:ext cx="11870490" cy="923925"/>
          </a:xfrm>
          <a:prstGeom prst="rect">
            <a:avLst/>
          </a:prstGeom>
        </p:spPr>
        <p:txBody>
          <a:bodyPr anchor="t" rtlCol="false" tIns="0" lIns="0" bIns="0" rIns="0">
            <a:spAutoFit/>
          </a:bodyPr>
          <a:lstStyle/>
          <a:p>
            <a:pPr algn="ctr" marL="0" indent="0" lvl="0">
              <a:lnSpc>
                <a:spcPts val="6480"/>
              </a:lnSpc>
              <a:spcBef>
                <a:spcPct val="0"/>
              </a:spcBef>
            </a:pPr>
            <a:r>
              <a:rPr lang="en-US" sz="5400" strike="noStrike" u="none">
                <a:solidFill>
                  <a:srgbClr val="000000"/>
                </a:solidFill>
                <a:latin typeface="王漢宗特黑體"/>
                <a:ea typeface="王漢宗特黑體"/>
                <a:cs typeface="王漢宗特黑體"/>
                <a:sym typeface="王漢宗特黑體"/>
              </a:rPr>
              <a:t>感謝您的關注</a:t>
            </a:r>
          </a:p>
        </p:txBody>
      </p:sp>
      <p:sp>
        <p:nvSpPr>
          <p:cNvPr name="TextBox 11" id="11"/>
          <p:cNvSpPr txBox="true"/>
          <p:nvPr/>
        </p:nvSpPr>
        <p:spPr>
          <a:xfrm rot="0">
            <a:off x="5499219" y="6293188"/>
            <a:ext cx="7289562" cy="304800"/>
          </a:xfrm>
          <a:prstGeom prst="rect">
            <a:avLst/>
          </a:prstGeom>
        </p:spPr>
        <p:txBody>
          <a:bodyPr anchor="t" rtlCol="false" tIns="0" lIns="0" bIns="0" rIns="0">
            <a:spAutoFit/>
          </a:bodyPr>
          <a:lstStyle/>
          <a:p>
            <a:pPr algn="ctr" marL="0" indent="0" lvl="0">
              <a:lnSpc>
                <a:spcPts val="2160"/>
              </a:lnSpc>
              <a:spcBef>
                <a:spcPct val="0"/>
              </a:spcBef>
            </a:pPr>
            <a:r>
              <a:rPr lang="en-US" sz="1800" strike="noStrike" u="none">
                <a:solidFill>
                  <a:srgbClr val="000000"/>
                </a:solidFill>
                <a:latin typeface="王漢宗特黑體"/>
                <a:ea typeface="王漢宗特黑體"/>
                <a:cs typeface="王漢宗特黑體"/>
                <a:sym typeface="王漢宗特黑體"/>
              </a:rPr>
              <a:t>您的演示從這裡開始</a:t>
            </a:r>
          </a:p>
        </p:txBody>
      </p:sp>
      <p:sp>
        <p:nvSpPr>
          <p:cNvPr name="Freeform 12" id="12"/>
          <p:cNvSpPr/>
          <p:nvPr/>
        </p:nvSpPr>
        <p:spPr>
          <a:xfrm flipH="false" flipV="false" rot="0">
            <a:off x="361796" y="4419322"/>
            <a:ext cx="8251135" cy="6215142"/>
          </a:xfrm>
          <a:custGeom>
            <a:avLst/>
            <a:gdLst/>
            <a:ahLst/>
            <a:cxnLst/>
            <a:rect r="r" b="b" t="t" l="l"/>
            <a:pathLst>
              <a:path h="6215142" w="8251135">
                <a:moveTo>
                  <a:pt x="0" y="0"/>
                </a:moveTo>
                <a:lnTo>
                  <a:pt x="8251135" y="0"/>
                </a:lnTo>
                <a:lnTo>
                  <a:pt x="8251135" y="6215142"/>
                </a:lnTo>
                <a:lnTo>
                  <a:pt x="0" y="6215142"/>
                </a:lnTo>
                <a:lnTo>
                  <a:pt x="0" y="0"/>
                </a:lnTo>
                <a:close/>
              </a:path>
            </a:pathLst>
          </a:custGeom>
          <a:blipFill>
            <a:blip r:embed="rId2"/>
            <a:stretch>
              <a:fillRect l="0" t="0" r="0" b="0"/>
            </a:stretch>
          </a:blipFill>
        </p:spPr>
      </p:sp>
      <p:sp>
        <p:nvSpPr>
          <p:cNvPr name="Freeform 13" id="13"/>
          <p:cNvSpPr/>
          <p:nvPr/>
        </p:nvSpPr>
        <p:spPr>
          <a:xfrm flipH="false" flipV="false" rot="0">
            <a:off x="366632" y="9370885"/>
            <a:ext cx="723219" cy="332974"/>
          </a:xfrm>
          <a:custGeom>
            <a:avLst/>
            <a:gdLst/>
            <a:ahLst/>
            <a:cxnLst/>
            <a:rect r="r" b="b" t="t" l="l"/>
            <a:pathLst>
              <a:path h="332974" w="723219">
                <a:moveTo>
                  <a:pt x="0" y="0"/>
                </a:moveTo>
                <a:lnTo>
                  <a:pt x="723218" y="0"/>
                </a:lnTo>
                <a:lnTo>
                  <a:pt x="723218" y="332974"/>
                </a:lnTo>
                <a:lnTo>
                  <a:pt x="0" y="3329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5400000">
            <a:off x="1018864" y="4620783"/>
            <a:ext cx="1088813" cy="1076551"/>
          </a:xfrm>
          <a:custGeom>
            <a:avLst/>
            <a:gdLst/>
            <a:ahLst/>
            <a:cxnLst/>
            <a:rect r="r" b="b" t="t" l="l"/>
            <a:pathLst>
              <a:path h="1076551" w="1088813">
                <a:moveTo>
                  <a:pt x="0" y="0"/>
                </a:moveTo>
                <a:lnTo>
                  <a:pt x="1088813" y="0"/>
                </a:lnTo>
                <a:lnTo>
                  <a:pt x="1088813" y="1076551"/>
                </a:lnTo>
                <a:lnTo>
                  <a:pt x="0" y="1076551"/>
                </a:lnTo>
                <a:lnTo>
                  <a:pt x="0" y="0"/>
                </a:lnTo>
                <a:close/>
              </a:path>
            </a:pathLst>
          </a:custGeom>
          <a:blipFill>
            <a:blip r:embed="rId5"/>
            <a:stretch>
              <a:fillRect l="10265" t="3623" r="-2" b="8293"/>
            </a:stretch>
          </a:blipFill>
        </p:spPr>
      </p:sp>
      <p:sp>
        <p:nvSpPr>
          <p:cNvPr name="Freeform 15" id="15"/>
          <p:cNvSpPr/>
          <p:nvPr/>
        </p:nvSpPr>
        <p:spPr>
          <a:xfrm flipH="false" flipV="false" rot="1800000">
            <a:off x="16766488" y="2995848"/>
            <a:ext cx="1342235" cy="1421544"/>
          </a:xfrm>
          <a:custGeom>
            <a:avLst/>
            <a:gdLst/>
            <a:ahLst/>
            <a:cxnLst/>
            <a:rect r="r" b="b" t="t" l="l"/>
            <a:pathLst>
              <a:path h="1421544" w="1342235">
                <a:moveTo>
                  <a:pt x="0" y="0"/>
                </a:moveTo>
                <a:lnTo>
                  <a:pt x="1342235" y="0"/>
                </a:lnTo>
                <a:lnTo>
                  <a:pt x="1342235" y="1421544"/>
                </a:lnTo>
                <a:lnTo>
                  <a:pt x="0" y="1421544"/>
                </a:lnTo>
                <a:lnTo>
                  <a:pt x="0" y="0"/>
                </a:lnTo>
                <a:close/>
              </a:path>
            </a:pathLst>
          </a:custGeom>
          <a:blipFill>
            <a:blip r:embed="rId6"/>
            <a:stretch>
              <a:fillRect l="525" t="15594" r="10373" b="966"/>
            </a:stretch>
          </a:blipFill>
        </p:spPr>
      </p:sp>
      <p:sp>
        <p:nvSpPr>
          <p:cNvPr name="Freeform 16" id="16"/>
          <p:cNvSpPr/>
          <p:nvPr/>
        </p:nvSpPr>
        <p:spPr>
          <a:xfrm flipH="false" flipV="false" rot="288320">
            <a:off x="9595440" y="188185"/>
            <a:ext cx="2992242" cy="1476752"/>
          </a:xfrm>
          <a:custGeom>
            <a:avLst/>
            <a:gdLst/>
            <a:ahLst/>
            <a:cxnLst/>
            <a:rect r="r" b="b" t="t" l="l"/>
            <a:pathLst>
              <a:path h="1476752" w="2992242">
                <a:moveTo>
                  <a:pt x="0" y="0"/>
                </a:moveTo>
                <a:lnTo>
                  <a:pt x="2992242" y="0"/>
                </a:lnTo>
                <a:lnTo>
                  <a:pt x="2992242" y="1476752"/>
                </a:lnTo>
                <a:lnTo>
                  <a:pt x="0" y="1476752"/>
                </a:lnTo>
                <a:lnTo>
                  <a:pt x="0" y="0"/>
                </a:lnTo>
                <a:close/>
              </a:path>
            </a:pathLst>
          </a:custGeom>
          <a:blipFill>
            <a:blip r:embed="rId7"/>
            <a:stretch>
              <a:fillRect l="3912" t="13374" r="23842" b="0"/>
            </a:stretch>
          </a:blipFill>
        </p:spPr>
      </p:sp>
      <p:sp>
        <p:nvSpPr>
          <p:cNvPr name="Freeform 17" id="17"/>
          <p:cNvSpPr/>
          <p:nvPr/>
        </p:nvSpPr>
        <p:spPr>
          <a:xfrm flipH="false" flipV="false" rot="3600000">
            <a:off x="14086644" y="195992"/>
            <a:ext cx="3022517" cy="2503563"/>
          </a:xfrm>
          <a:custGeom>
            <a:avLst/>
            <a:gdLst/>
            <a:ahLst/>
            <a:cxnLst/>
            <a:rect r="r" b="b" t="t" l="l"/>
            <a:pathLst>
              <a:path h="2503563" w="3022517">
                <a:moveTo>
                  <a:pt x="0" y="0"/>
                </a:moveTo>
                <a:lnTo>
                  <a:pt x="3022517" y="0"/>
                </a:lnTo>
                <a:lnTo>
                  <a:pt x="3022517" y="2503563"/>
                </a:lnTo>
                <a:lnTo>
                  <a:pt x="0" y="2503563"/>
                </a:lnTo>
                <a:lnTo>
                  <a:pt x="0" y="0"/>
                </a:lnTo>
                <a:close/>
              </a:path>
            </a:pathLst>
          </a:custGeom>
          <a:blipFill>
            <a:blip r:embed="rId8"/>
            <a:stretch>
              <a:fillRect l="-1041" t="0" r="-1041" b="0"/>
            </a:stretch>
          </a:blipFill>
        </p:spPr>
      </p:sp>
      <p:sp>
        <p:nvSpPr>
          <p:cNvPr name="Freeform 18" id="18"/>
          <p:cNvSpPr/>
          <p:nvPr/>
        </p:nvSpPr>
        <p:spPr>
          <a:xfrm flipH="false" flipV="false" rot="0">
            <a:off x="13971762" y="6153741"/>
            <a:ext cx="2371929" cy="2546526"/>
          </a:xfrm>
          <a:custGeom>
            <a:avLst/>
            <a:gdLst/>
            <a:ahLst/>
            <a:cxnLst/>
            <a:rect r="r" b="b" t="t" l="l"/>
            <a:pathLst>
              <a:path h="2546526" w="2371929">
                <a:moveTo>
                  <a:pt x="0" y="0"/>
                </a:moveTo>
                <a:lnTo>
                  <a:pt x="2371929" y="0"/>
                </a:lnTo>
                <a:lnTo>
                  <a:pt x="2371929" y="2546526"/>
                </a:lnTo>
                <a:lnTo>
                  <a:pt x="0" y="2546526"/>
                </a:lnTo>
                <a:lnTo>
                  <a:pt x="0" y="0"/>
                </a:lnTo>
                <a:close/>
              </a:path>
            </a:pathLst>
          </a:custGeom>
          <a:blipFill>
            <a:blip r:embed="rId9"/>
            <a:stretch>
              <a:fillRect l="0" t="0" r="0" b="0"/>
            </a:stretch>
          </a:blipFill>
        </p:spPr>
      </p:sp>
      <p:sp>
        <p:nvSpPr>
          <p:cNvPr name="Freeform 19" id="19"/>
          <p:cNvSpPr/>
          <p:nvPr/>
        </p:nvSpPr>
        <p:spPr>
          <a:xfrm flipH="false" flipV="false" rot="0">
            <a:off x="12457181" y="1179021"/>
            <a:ext cx="1673251" cy="1609459"/>
          </a:xfrm>
          <a:custGeom>
            <a:avLst/>
            <a:gdLst/>
            <a:ahLst/>
            <a:cxnLst/>
            <a:rect r="r" b="b" t="t" l="l"/>
            <a:pathLst>
              <a:path h="1609459" w="1673251">
                <a:moveTo>
                  <a:pt x="0" y="0"/>
                </a:moveTo>
                <a:lnTo>
                  <a:pt x="1673251" y="0"/>
                </a:lnTo>
                <a:lnTo>
                  <a:pt x="1673251" y="1609459"/>
                </a:lnTo>
                <a:lnTo>
                  <a:pt x="0" y="1609459"/>
                </a:lnTo>
                <a:lnTo>
                  <a:pt x="0" y="0"/>
                </a:lnTo>
                <a:close/>
              </a:path>
            </a:pathLst>
          </a:custGeom>
          <a:blipFill>
            <a:blip r:embed="rId10"/>
            <a:stretch>
              <a:fillRect l="14395" t="21072" r="15182" b="20634"/>
            </a:stretch>
          </a:blipFill>
        </p:spPr>
      </p:sp>
      <p:sp>
        <p:nvSpPr>
          <p:cNvPr name="Freeform 20" id="20"/>
          <p:cNvSpPr/>
          <p:nvPr/>
        </p:nvSpPr>
        <p:spPr>
          <a:xfrm flipH="true" flipV="false" rot="-1423885">
            <a:off x="2005866" y="1430556"/>
            <a:ext cx="1562070" cy="2273550"/>
          </a:xfrm>
          <a:custGeom>
            <a:avLst/>
            <a:gdLst/>
            <a:ahLst/>
            <a:cxnLst/>
            <a:rect r="r" b="b" t="t" l="l"/>
            <a:pathLst>
              <a:path h="2273550" w="1562070">
                <a:moveTo>
                  <a:pt x="1562070" y="0"/>
                </a:moveTo>
                <a:lnTo>
                  <a:pt x="0" y="0"/>
                </a:lnTo>
                <a:lnTo>
                  <a:pt x="0" y="2273550"/>
                </a:lnTo>
                <a:lnTo>
                  <a:pt x="1562070" y="2273550"/>
                </a:lnTo>
                <a:lnTo>
                  <a:pt x="1562070" y="0"/>
                </a:lnTo>
                <a:close/>
              </a:path>
            </a:pathLst>
          </a:custGeom>
          <a:blipFill>
            <a:blip r:embed="rId11"/>
            <a:stretch>
              <a:fillRect l="20526" t="10668" r="10720" b="6217"/>
            </a:stretch>
          </a:blipFill>
        </p:spPr>
      </p:sp>
      <p:grpSp>
        <p:nvGrpSpPr>
          <p:cNvPr name="Group 21" id="21"/>
          <p:cNvGrpSpPr/>
          <p:nvPr/>
        </p:nvGrpSpPr>
        <p:grpSpPr>
          <a:xfrm rot="0">
            <a:off x="7710825" y="6805620"/>
            <a:ext cx="2866351" cy="469638"/>
            <a:chOff x="0" y="0"/>
            <a:chExt cx="3821802" cy="626184"/>
          </a:xfrm>
        </p:grpSpPr>
        <p:sp>
          <p:nvSpPr>
            <p:cNvPr name="Freeform 22" id="22"/>
            <p:cNvSpPr/>
            <p:nvPr/>
          </p:nvSpPr>
          <p:spPr>
            <a:xfrm flipH="false" flipV="false" rot="0">
              <a:off x="0" y="0"/>
              <a:ext cx="3821811" cy="626237"/>
            </a:xfrm>
            <a:custGeom>
              <a:avLst/>
              <a:gdLst/>
              <a:ahLst/>
              <a:cxnLst/>
              <a:rect r="r" b="b" t="t" l="l"/>
              <a:pathLst>
                <a:path h="626237" w="3821811">
                  <a:moveTo>
                    <a:pt x="284734" y="0"/>
                  </a:moveTo>
                  <a:lnTo>
                    <a:pt x="1846580" y="0"/>
                  </a:lnTo>
                  <a:lnTo>
                    <a:pt x="1975231" y="0"/>
                  </a:lnTo>
                  <a:lnTo>
                    <a:pt x="3537077" y="0"/>
                  </a:lnTo>
                  <a:cubicBezTo>
                    <a:pt x="3694303" y="0"/>
                    <a:pt x="3821811" y="117856"/>
                    <a:pt x="3821811" y="263017"/>
                  </a:cubicBezTo>
                  <a:lnTo>
                    <a:pt x="3821811" y="363220"/>
                  </a:lnTo>
                  <a:cubicBezTo>
                    <a:pt x="3821811" y="508381"/>
                    <a:pt x="3694176" y="626237"/>
                    <a:pt x="3537077" y="626237"/>
                  </a:cubicBezTo>
                  <a:lnTo>
                    <a:pt x="1975231" y="626237"/>
                  </a:lnTo>
                  <a:lnTo>
                    <a:pt x="1846580" y="626237"/>
                  </a:lnTo>
                  <a:lnTo>
                    <a:pt x="284734" y="626237"/>
                  </a:lnTo>
                  <a:cubicBezTo>
                    <a:pt x="127635" y="626237"/>
                    <a:pt x="0" y="508381"/>
                    <a:pt x="0" y="363220"/>
                  </a:cubicBezTo>
                  <a:lnTo>
                    <a:pt x="0" y="263017"/>
                  </a:lnTo>
                  <a:cubicBezTo>
                    <a:pt x="0" y="117856"/>
                    <a:pt x="127635" y="0"/>
                    <a:pt x="284734" y="0"/>
                  </a:cubicBezTo>
                  <a:close/>
                </a:path>
              </a:pathLst>
            </a:custGeom>
            <a:solidFill>
              <a:srgbClr val="81211A"/>
            </a:solidFill>
          </p:spPr>
        </p:sp>
      </p:grpSp>
      <p:sp>
        <p:nvSpPr>
          <p:cNvPr name="TextBox 23" id="23"/>
          <p:cNvSpPr txBox="true"/>
          <p:nvPr/>
        </p:nvSpPr>
        <p:spPr>
          <a:xfrm rot="0">
            <a:off x="7951772" y="6811254"/>
            <a:ext cx="2384458" cy="676275"/>
          </a:xfrm>
          <a:prstGeom prst="rect">
            <a:avLst/>
          </a:prstGeom>
        </p:spPr>
        <p:txBody>
          <a:bodyPr anchor="t" rtlCol="false" tIns="0" lIns="0" bIns="0" rIns="0">
            <a:spAutoFit/>
          </a:bodyPr>
          <a:lstStyle/>
          <a:p>
            <a:pPr algn="ctr" marL="0" indent="0" lvl="0">
              <a:lnSpc>
                <a:spcPts val="2520"/>
              </a:lnSpc>
              <a:spcBef>
                <a:spcPct val="0"/>
              </a:spcBef>
            </a:pPr>
            <a:r>
              <a:rPr lang="en-US" sz="2100" strike="noStrike" u="none">
                <a:solidFill>
                  <a:srgbClr val="FFFFFF"/>
                </a:solidFill>
                <a:latin typeface="王漢宗特黑體"/>
                <a:ea typeface="王漢宗特黑體"/>
                <a:cs typeface="王漢宗特黑體"/>
                <a:sym typeface="王漢宗特黑體"/>
              </a:rPr>
              <a:t>20XX年XX月XX日</a:t>
            </a:r>
          </a:p>
        </p:txBody>
      </p:sp>
      <p:sp>
        <p:nvSpPr>
          <p:cNvPr name="Freeform 24" id="24"/>
          <p:cNvSpPr/>
          <p:nvPr/>
        </p:nvSpPr>
        <p:spPr>
          <a:xfrm flipH="false" flipV="false" rot="0">
            <a:off x="1208008" y="630687"/>
            <a:ext cx="1819600" cy="225956"/>
          </a:xfrm>
          <a:custGeom>
            <a:avLst/>
            <a:gdLst/>
            <a:ahLst/>
            <a:cxnLst/>
            <a:rect r="r" b="b" t="t" l="l"/>
            <a:pathLst>
              <a:path h="225956" w="1819600">
                <a:moveTo>
                  <a:pt x="0" y="0"/>
                </a:moveTo>
                <a:lnTo>
                  <a:pt x="1819601" y="0"/>
                </a:lnTo>
                <a:lnTo>
                  <a:pt x="1819601" y="225955"/>
                </a:lnTo>
                <a:lnTo>
                  <a:pt x="0" y="2259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0">
            <a:off x="606219" y="503781"/>
            <a:ext cx="479769" cy="479769"/>
          </a:xfrm>
          <a:custGeom>
            <a:avLst/>
            <a:gdLst/>
            <a:ahLst/>
            <a:cxnLst/>
            <a:rect r="r" b="b" t="t" l="l"/>
            <a:pathLst>
              <a:path h="479769" w="479769">
                <a:moveTo>
                  <a:pt x="0" y="0"/>
                </a:moveTo>
                <a:lnTo>
                  <a:pt x="479769" y="0"/>
                </a:lnTo>
                <a:lnTo>
                  <a:pt x="479769" y="479769"/>
                </a:lnTo>
                <a:lnTo>
                  <a:pt x="0" y="479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DAGYf2EstGU</dc:identifier>
  <dcterms:modified xsi:type="dcterms:W3CDTF">2011-08-01T06:04:30Z</dcterms:modified>
  <cp:revision>1</cp:revision>
  <dc:title>クールイングリッシュ+(Cool+English)+が英語教育において持つ利点と課題.pptx (繁體中文)</dc:title>
</cp:coreProperties>
</file>