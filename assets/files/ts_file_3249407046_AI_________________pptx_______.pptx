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思源宋体" charset="1" panose="020204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762" y="2441744"/>
            <a:ext cx="7740340" cy="6966969"/>
          </a:xfrm>
          <a:custGeom>
            <a:avLst/>
            <a:gdLst/>
            <a:ahLst/>
            <a:cxnLst/>
            <a:rect r="r" b="b" t="t" l="l"/>
            <a:pathLst>
              <a:path h="6966969" w="7740340">
                <a:moveTo>
                  <a:pt x="0" y="0"/>
                </a:moveTo>
                <a:lnTo>
                  <a:pt x="7740340" y="0"/>
                </a:lnTo>
                <a:lnTo>
                  <a:pt x="7740340" y="6966968"/>
                </a:lnTo>
                <a:lnTo>
                  <a:pt x="0" y="6966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7" t="0" r="-97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19852" y="1294996"/>
            <a:ext cx="2909970" cy="435207"/>
          </a:xfrm>
          <a:custGeom>
            <a:avLst/>
            <a:gdLst/>
            <a:ahLst/>
            <a:cxnLst/>
            <a:rect r="r" b="b" t="t" l="l"/>
            <a:pathLst>
              <a:path h="435207" w="2909970">
                <a:moveTo>
                  <a:pt x="0" y="0"/>
                </a:moveTo>
                <a:lnTo>
                  <a:pt x="2909970" y="0"/>
                </a:lnTo>
                <a:lnTo>
                  <a:pt x="2909970" y="435208"/>
                </a:lnTo>
                <a:lnTo>
                  <a:pt x="0" y="4352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8080300"/>
            <a:ext cx="6152587" cy="542925"/>
            <a:chOff x="0" y="0"/>
            <a:chExt cx="8203450" cy="723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438" cy="723900"/>
            </a:xfrm>
            <a:custGeom>
              <a:avLst/>
              <a:gdLst/>
              <a:ahLst/>
              <a:cxnLst/>
              <a:rect r="r" b="b" t="t" l="l"/>
              <a:pathLst>
                <a:path h="723900" w="8203438">
                  <a:moveTo>
                    <a:pt x="0" y="361950"/>
                  </a:moveTo>
                  <a:cubicBezTo>
                    <a:pt x="0" y="162052"/>
                    <a:pt x="162052" y="0"/>
                    <a:pt x="361950" y="0"/>
                  </a:cubicBezTo>
                  <a:lnTo>
                    <a:pt x="7841488" y="0"/>
                  </a:lnTo>
                  <a:cubicBezTo>
                    <a:pt x="8041386" y="0"/>
                    <a:pt x="8203438" y="162052"/>
                    <a:pt x="8203438" y="361950"/>
                  </a:cubicBezTo>
                  <a:cubicBezTo>
                    <a:pt x="8203438" y="561848"/>
                    <a:pt x="8041386" y="723900"/>
                    <a:pt x="7841488" y="723900"/>
                  </a:cubicBezTo>
                  <a:lnTo>
                    <a:pt x="361950" y="723900"/>
                  </a:lnTo>
                  <a:cubicBezTo>
                    <a:pt x="162052" y="723900"/>
                    <a:pt x="0" y="561848"/>
                    <a:pt x="0" y="361950"/>
                  </a:cubicBezTo>
                  <a:close/>
                </a:path>
              </a:pathLst>
            </a:custGeom>
            <a:solidFill>
              <a:srgbClr val="EC868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48592" y="8109054"/>
            <a:ext cx="59434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這是您的演示開始的地方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235440" y="3904189"/>
            <a:ext cx="8390618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sz="69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人工智慧技術的進步和媒體素養的重要性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36256" y="1631446"/>
            <a:ext cx="1114467" cy="261264"/>
          </a:xfrm>
          <a:custGeom>
            <a:avLst/>
            <a:gdLst/>
            <a:ahLst/>
            <a:cxnLst/>
            <a:rect r="r" b="b" t="t" l="l"/>
            <a:pathLst>
              <a:path h="261264" w="1114467">
                <a:moveTo>
                  <a:pt x="0" y="0"/>
                </a:moveTo>
                <a:lnTo>
                  <a:pt x="1114468" y="0"/>
                </a:lnTo>
                <a:lnTo>
                  <a:pt x="1114468" y="261265"/>
                </a:lnTo>
                <a:lnTo>
                  <a:pt x="0" y="2612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01180" y="8900434"/>
            <a:ext cx="230612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20XX-XX-XX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97036" y="8906880"/>
            <a:ext cx="449669" cy="449669"/>
          </a:xfrm>
          <a:custGeom>
            <a:avLst/>
            <a:gdLst/>
            <a:ahLst/>
            <a:cxnLst/>
            <a:rect r="r" b="b" t="t" l="l"/>
            <a:pathLst>
              <a:path h="449669" w="449669">
                <a:moveTo>
                  <a:pt x="0" y="0"/>
                </a:moveTo>
                <a:lnTo>
                  <a:pt x="449668" y="0"/>
                </a:lnTo>
                <a:lnTo>
                  <a:pt x="449668" y="449668"/>
                </a:lnTo>
                <a:lnTo>
                  <a:pt x="0" y="4496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8575" y="-9525"/>
            <a:ext cx="6195528" cy="2762250"/>
          </a:xfrm>
          <a:custGeom>
            <a:avLst/>
            <a:gdLst/>
            <a:ahLst/>
            <a:cxnLst/>
            <a:rect r="r" b="b" t="t" l="l"/>
            <a:pathLst>
              <a:path h="2762250" w="6195528">
                <a:moveTo>
                  <a:pt x="0" y="0"/>
                </a:moveTo>
                <a:lnTo>
                  <a:pt x="6195528" y="0"/>
                </a:lnTo>
                <a:lnTo>
                  <a:pt x="6195528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07585" y="-9525"/>
            <a:ext cx="3689941" cy="2762250"/>
          </a:xfrm>
          <a:custGeom>
            <a:avLst/>
            <a:gdLst/>
            <a:ahLst/>
            <a:cxnLst/>
            <a:rect r="r" b="b" t="t" l="l"/>
            <a:pathLst>
              <a:path h="2762250" w="3689941">
                <a:moveTo>
                  <a:pt x="0" y="0"/>
                </a:moveTo>
                <a:lnTo>
                  <a:pt x="3689941" y="0"/>
                </a:lnTo>
                <a:lnTo>
                  <a:pt x="3689941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10973" y="2145919"/>
            <a:ext cx="386339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內容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14508" y="2404380"/>
            <a:ext cx="5061632" cy="5004975"/>
            <a:chOff x="0" y="0"/>
            <a:chExt cx="6748842" cy="6673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413004" y="-322453"/>
              <a:ext cx="7574915" cy="6995795"/>
            </a:xfrm>
            <a:custGeom>
              <a:avLst/>
              <a:gdLst/>
              <a:ahLst/>
              <a:cxnLst/>
              <a:rect r="r" b="b" t="t" l="l"/>
              <a:pathLst>
                <a:path h="6995795" w="7574915">
                  <a:moveTo>
                    <a:pt x="5479669" y="6995795"/>
                  </a:moveTo>
                  <a:cubicBezTo>
                    <a:pt x="6946265" y="6995795"/>
                    <a:pt x="7574915" y="5940552"/>
                    <a:pt x="6876669" y="4650867"/>
                  </a:cubicBezTo>
                  <a:lnTo>
                    <a:pt x="5057013" y="1289812"/>
                  </a:lnTo>
                  <a:cubicBezTo>
                    <a:pt x="4358767" y="0"/>
                    <a:pt x="3216148" y="0"/>
                    <a:pt x="2517902" y="1289812"/>
                  </a:cubicBezTo>
                  <a:lnTo>
                    <a:pt x="698246" y="4650740"/>
                  </a:lnTo>
                  <a:cubicBezTo>
                    <a:pt x="0" y="5941060"/>
                    <a:pt x="628523" y="6995668"/>
                    <a:pt x="2095246" y="6995668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0086975"/>
            <a:ext cx="18287612" cy="200265"/>
            <a:chOff x="0" y="0"/>
            <a:chExt cx="24383482" cy="2670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3492" cy="267081"/>
            </a:xfrm>
            <a:custGeom>
              <a:avLst/>
              <a:gdLst/>
              <a:ahLst/>
              <a:cxnLst/>
              <a:rect r="r" b="b" t="t" l="l"/>
              <a:pathLst>
                <a:path h="267081" w="24383492">
                  <a:moveTo>
                    <a:pt x="0" y="0"/>
                  </a:moveTo>
                  <a:lnTo>
                    <a:pt x="24383492" y="0"/>
                  </a:lnTo>
                  <a:lnTo>
                    <a:pt x="24383492" y="267081"/>
                  </a:lnTo>
                  <a:lnTo>
                    <a:pt x="0" y="267081"/>
                  </a:lnTo>
                  <a:close/>
                </a:path>
              </a:pathLst>
            </a:custGeom>
            <a:solidFill>
              <a:srgbClr val="CF2555"/>
            </a:solid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4109405" y="4682954"/>
            <a:ext cx="4860000" cy="54000"/>
            <a:chOff x="0" y="0"/>
            <a:chExt cx="6480000" cy="7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80048" cy="72009"/>
            </a:xfrm>
            <a:custGeom>
              <a:avLst/>
              <a:gdLst/>
              <a:ahLst/>
              <a:cxnLst/>
              <a:rect r="r" b="b" t="t" l="l"/>
              <a:pathLst>
                <a:path h="72009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609764" y="2293556"/>
            <a:ext cx="81258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22350" y="2364170"/>
            <a:ext cx="8856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虛假資訊的挑戰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09764" y="3891895"/>
            <a:ext cx="81258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22350" y="3962508"/>
            <a:ext cx="8856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媒介素養的重要性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9764" y="5490233"/>
            <a:ext cx="81258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22350" y="5560846"/>
            <a:ext cx="8856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提高媒體素養的舉措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4254" y="1618754"/>
            <a:ext cx="8215779" cy="7520794"/>
          </a:xfrm>
          <a:custGeom>
            <a:avLst/>
            <a:gdLst/>
            <a:ahLst/>
            <a:cxnLst/>
            <a:rect r="r" b="b" t="t" l="l"/>
            <a:pathLst>
              <a:path h="7520794" w="8215779">
                <a:moveTo>
                  <a:pt x="0" y="0"/>
                </a:moveTo>
                <a:lnTo>
                  <a:pt x="8215778" y="0"/>
                </a:lnTo>
                <a:lnTo>
                  <a:pt x="8215778" y="7520794"/>
                </a:lnTo>
                <a:lnTo>
                  <a:pt x="0" y="752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63" t="0" r="-1076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42585" y="1507449"/>
            <a:ext cx="2909970" cy="435207"/>
          </a:xfrm>
          <a:custGeom>
            <a:avLst/>
            <a:gdLst/>
            <a:ahLst/>
            <a:cxnLst/>
            <a:rect r="r" b="b" t="t" l="l"/>
            <a:pathLst>
              <a:path h="435207" w="2909970">
                <a:moveTo>
                  <a:pt x="0" y="0"/>
                </a:moveTo>
                <a:lnTo>
                  <a:pt x="2909970" y="0"/>
                </a:lnTo>
                <a:lnTo>
                  <a:pt x="2909970" y="435207"/>
                </a:lnTo>
                <a:lnTo>
                  <a:pt x="0" y="4352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47765" y="3858231"/>
            <a:ext cx="839061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虛假資訊的挑戰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39634" y="8552674"/>
            <a:ext cx="1114467" cy="261264"/>
          </a:xfrm>
          <a:custGeom>
            <a:avLst/>
            <a:gdLst/>
            <a:ahLst/>
            <a:cxnLst/>
            <a:rect r="r" b="b" t="t" l="l"/>
            <a:pathLst>
              <a:path h="261264" w="1114467">
                <a:moveTo>
                  <a:pt x="0" y="0"/>
                </a:moveTo>
                <a:lnTo>
                  <a:pt x="1114467" y="0"/>
                </a:lnTo>
                <a:lnTo>
                  <a:pt x="1114467" y="261264"/>
                </a:lnTo>
                <a:lnTo>
                  <a:pt x="0" y="261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8575" y="-9525"/>
            <a:ext cx="6195528" cy="2762250"/>
          </a:xfrm>
          <a:custGeom>
            <a:avLst/>
            <a:gdLst/>
            <a:ahLst/>
            <a:cxnLst/>
            <a:rect r="r" b="b" t="t" l="l"/>
            <a:pathLst>
              <a:path h="2762250" w="6195528">
                <a:moveTo>
                  <a:pt x="0" y="0"/>
                </a:moveTo>
                <a:lnTo>
                  <a:pt x="6195528" y="0"/>
                </a:lnTo>
                <a:lnTo>
                  <a:pt x="6195528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07585" y="-9525"/>
            <a:ext cx="3689941" cy="2762250"/>
          </a:xfrm>
          <a:custGeom>
            <a:avLst/>
            <a:gdLst/>
            <a:ahLst/>
            <a:cxnLst/>
            <a:rect r="r" b="b" t="t" l="l"/>
            <a:pathLst>
              <a:path h="2762250" w="3689941">
                <a:moveTo>
                  <a:pt x="0" y="0"/>
                </a:moveTo>
                <a:lnTo>
                  <a:pt x="3689941" y="0"/>
                </a:lnTo>
                <a:lnTo>
                  <a:pt x="3689941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12041" y="1754241"/>
            <a:ext cx="2575701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40"/>
              </a:lnSpc>
              <a:spcBef>
                <a:spcPct val="0"/>
              </a:spcBef>
            </a:pPr>
            <a:r>
              <a:rPr lang="en-US" sz="13200" strike="noStrike" u="none">
                <a:solidFill>
                  <a:srgbClr val="EC8686"/>
                </a:solidFill>
                <a:latin typeface="思源宋体"/>
                <a:ea typeface="思源宋体"/>
                <a:cs typeface="思源宋体"/>
                <a:sym typeface="思源宋体"/>
              </a:rPr>
              <a:t>01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110684" y="3138272"/>
            <a:ext cx="1106784" cy="388836"/>
          </a:xfrm>
          <a:custGeom>
            <a:avLst/>
            <a:gdLst/>
            <a:ahLst/>
            <a:cxnLst/>
            <a:rect r="r" b="b" t="t" l="l"/>
            <a:pathLst>
              <a:path h="388836" w="1106784">
                <a:moveTo>
                  <a:pt x="0" y="0"/>
                </a:moveTo>
                <a:lnTo>
                  <a:pt x="1106785" y="0"/>
                </a:lnTo>
                <a:lnTo>
                  <a:pt x="1106785" y="388836"/>
                </a:lnTo>
                <a:lnTo>
                  <a:pt x="0" y="3888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1650" y="4379494"/>
            <a:ext cx="15105651" cy="4475748"/>
          </a:xfrm>
          <a:custGeom>
            <a:avLst/>
            <a:gdLst/>
            <a:ahLst/>
            <a:cxnLst/>
            <a:rect r="r" b="b" t="t" l="l"/>
            <a:pathLst>
              <a:path h="4475748" w="15105651">
                <a:moveTo>
                  <a:pt x="0" y="0"/>
                </a:moveTo>
                <a:lnTo>
                  <a:pt x="15105650" y="0"/>
                </a:lnTo>
                <a:lnTo>
                  <a:pt x="15105650" y="4475748"/>
                </a:lnTo>
                <a:lnTo>
                  <a:pt x="0" y="4475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6" t="-29591" r="-1749" b="-6592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65428" y="1685925"/>
            <a:ext cx="6489543" cy="4724400"/>
            <a:chOff x="0" y="0"/>
            <a:chExt cx="8652724" cy="629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8627364" cy="6273800"/>
            </a:xfrm>
            <a:custGeom>
              <a:avLst/>
              <a:gdLst/>
              <a:ahLst/>
              <a:cxnLst/>
              <a:rect r="r" b="b" t="t" l="l"/>
              <a:pathLst>
                <a:path h="6273800" w="8627364">
                  <a:moveTo>
                    <a:pt x="0" y="0"/>
                  </a:moveTo>
                  <a:lnTo>
                    <a:pt x="8627364" y="0"/>
                  </a:lnTo>
                  <a:lnTo>
                    <a:pt x="8627364" y="6273800"/>
                  </a:lnTo>
                  <a:lnTo>
                    <a:pt x="0" y="6273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52764" cy="6299200"/>
            </a:xfrm>
            <a:custGeom>
              <a:avLst/>
              <a:gdLst/>
              <a:ahLst/>
              <a:cxnLst/>
              <a:rect r="r" b="b" t="t" l="l"/>
              <a:pathLst>
                <a:path h="6299200" w="8652764">
                  <a:moveTo>
                    <a:pt x="12700" y="0"/>
                  </a:moveTo>
                  <a:lnTo>
                    <a:pt x="8640064" y="0"/>
                  </a:lnTo>
                  <a:cubicBezTo>
                    <a:pt x="8647049" y="0"/>
                    <a:pt x="8652764" y="5715"/>
                    <a:pt x="8652764" y="12700"/>
                  </a:cubicBezTo>
                  <a:lnTo>
                    <a:pt x="8652764" y="6286500"/>
                  </a:lnTo>
                  <a:cubicBezTo>
                    <a:pt x="8652764" y="6293485"/>
                    <a:pt x="8647049" y="6299200"/>
                    <a:pt x="8640064" y="6299200"/>
                  </a:cubicBezTo>
                  <a:lnTo>
                    <a:pt x="12700" y="6299200"/>
                  </a:lnTo>
                  <a:cubicBezTo>
                    <a:pt x="5715" y="6299200"/>
                    <a:pt x="0" y="6293485"/>
                    <a:pt x="0" y="62865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286500"/>
                  </a:lnTo>
                  <a:lnTo>
                    <a:pt x="12700" y="6286500"/>
                  </a:lnTo>
                  <a:lnTo>
                    <a:pt x="12700" y="6273800"/>
                  </a:lnTo>
                  <a:lnTo>
                    <a:pt x="8640064" y="6273800"/>
                  </a:lnTo>
                  <a:lnTo>
                    <a:pt x="8640064" y="6286500"/>
                  </a:lnTo>
                  <a:lnTo>
                    <a:pt x="8627364" y="6286500"/>
                  </a:lnTo>
                  <a:lnTo>
                    <a:pt x="8627364" y="12700"/>
                  </a:lnTo>
                  <a:lnTo>
                    <a:pt x="8640064" y="12700"/>
                  </a:lnTo>
                  <a:lnTo>
                    <a:pt x="8640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31654" y="4022057"/>
            <a:ext cx="595707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隨著社群媒體的發展和傳播，假訊息瞬時傳播的現象增加。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年輕人特別容易透過社群媒體受到假訊息的影響。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假訊息快速傳播對現實世界的影響。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151759" y="1900202"/>
            <a:ext cx="716880" cy="627609"/>
          </a:xfrm>
          <a:custGeom>
            <a:avLst/>
            <a:gdLst/>
            <a:ahLst/>
            <a:cxnLst/>
            <a:rect r="r" b="b" t="t" l="l"/>
            <a:pathLst>
              <a:path h="627609" w="716880">
                <a:moveTo>
                  <a:pt x="0" y="0"/>
                </a:moveTo>
                <a:lnTo>
                  <a:pt x="716880" y="0"/>
                </a:lnTo>
                <a:lnTo>
                  <a:pt x="716880" y="627608"/>
                </a:lnTo>
                <a:lnTo>
                  <a:pt x="0" y="627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87954" y="5374605"/>
            <a:ext cx="985845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90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」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550688" y="1800318"/>
            <a:ext cx="168445" cy="168446"/>
            <a:chOff x="0" y="0"/>
            <a:chExt cx="224594" cy="2245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536" cy="224536"/>
            </a:xfrm>
            <a:custGeom>
              <a:avLst/>
              <a:gdLst/>
              <a:ahLst/>
              <a:cxnLst/>
              <a:rect r="r" b="b" t="t" l="l"/>
              <a:pathLst>
                <a:path h="224536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224536"/>
                  </a:lnTo>
                  <a:lnTo>
                    <a:pt x="0" y="224536"/>
                  </a:lnTo>
                  <a:close/>
                </a:path>
              </a:pathLst>
            </a:custGeom>
            <a:solidFill>
              <a:srgbClr val="F4C1C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32800" y="2338675"/>
            <a:ext cx="240629" cy="240628"/>
            <a:chOff x="0" y="0"/>
            <a:chExt cx="320838" cy="320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0802" cy="320802"/>
            </a:xfrm>
            <a:custGeom>
              <a:avLst/>
              <a:gdLst/>
              <a:ahLst/>
              <a:cxnLst/>
              <a:rect r="r" b="b" t="t" l="l"/>
              <a:pathLst>
                <a:path h="320802" w="320802">
                  <a:moveTo>
                    <a:pt x="0" y="0"/>
                  </a:moveTo>
                  <a:lnTo>
                    <a:pt x="320802" y="0"/>
                  </a:lnTo>
                  <a:lnTo>
                    <a:pt x="320802" y="320802"/>
                  </a:lnTo>
                  <a:lnTo>
                    <a:pt x="0" y="320802"/>
                  </a:lnTo>
                  <a:close/>
                </a:path>
              </a:pathLst>
            </a:custGeom>
            <a:solidFill>
              <a:srgbClr val="F4C1C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27778" y="1685925"/>
            <a:ext cx="6489543" cy="4724400"/>
            <a:chOff x="0" y="0"/>
            <a:chExt cx="8652724" cy="629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8627364" cy="6273800"/>
            </a:xfrm>
            <a:custGeom>
              <a:avLst/>
              <a:gdLst/>
              <a:ahLst/>
              <a:cxnLst/>
              <a:rect r="r" b="b" t="t" l="l"/>
              <a:pathLst>
                <a:path h="6273800" w="8627364">
                  <a:moveTo>
                    <a:pt x="0" y="0"/>
                  </a:moveTo>
                  <a:lnTo>
                    <a:pt x="8627364" y="0"/>
                  </a:lnTo>
                  <a:lnTo>
                    <a:pt x="8627364" y="6273800"/>
                  </a:lnTo>
                  <a:lnTo>
                    <a:pt x="0" y="6273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52764" cy="6299200"/>
            </a:xfrm>
            <a:custGeom>
              <a:avLst/>
              <a:gdLst/>
              <a:ahLst/>
              <a:cxnLst/>
              <a:rect r="r" b="b" t="t" l="l"/>
              <a:pathLst>
                <a:path h="6299200" w="8652764">
                  <a:moveTo>
                    <a:pt x="12700" y="0"/>
                  </a:moveTo>
                  <a:lnTo>
                    <a:pt x="8640064" y="0"/>
                  </a:lnTo>
                  <a:cubicBezTo>
                    <a:pt x="8647049" y="0"/>
                    <a:pt x="8652764" y="5715"/>
                    <a:pt x="8652764" y="12700"/>
                  </a:cubicBezTo>
                  <a:lnTo>
                    <a:pt x="8652764" y="6286500"/>
                  </a:lnTo>
                  <a:cubicBezTo>
                    <a:pt x="8652764" y="6293485"/>
                    <a:pt x="8647049" y="6299200"/>
                    <a:pt x="8640064" y="6299200"/>
                  </a:cubicBezTo>
                  <a:lnTo>
                    <a:pt x="12700" y="6299200"/>
                  </a:lnTo>
                  <a:cubicBezTo>
                    <a:pt x="5715" y="6299200"/>
                    <a:pt x="0" y="6293485"/>
                    <a:pt x="0" y="62865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286500"/>
                  </a:lnTo>
                  <a:lnTo>
                    <a:pt x="12700" y="6286500"/>
                  </a:lnTo>
                  <a:lnTo>
                    <a:pt x="12700" y="6273800"/>
                  </a:lnTo>
                  <a:lnTo>
                    <a:pt x="8640064" y="6273800"/>
                  </a:lnTo>
                  <a:lnTo>
                    <a:pt x="8640064" y="6286500"/>
                  </a:lnTo>
                  <a:lnTo>
                    <a:pt x="8627364" y="6286500"/>
                  </a:lnTo>
                  <a:lnTo>
                    <a:pt x="8627364" y="12700"/>
                  </a:lnTo>
                  <a:lnTo>
                    <a:pt x="8640064" y="12700"/>
                  </a:lnTo>
                  <a:lnTo>
                    <a:pt x="8640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094008" y="4022057"/>
            <a:ext cx="595707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假新聞、錯誤訊息和錯誤訊息的區別和例子。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冠狀病毒大流行期間虛假資訊的一個例子。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分析虛假資訊的社會和經濟影響。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714110" y="1882424"/>
            <a:ext cx="716880" cy="663164"/>
          </a:xfrm>
          <a:custGeom>
            <a:avLst/>
            <a:gdLst/>
            <a:ahLst/>
            <a:cxnLst/>
            <a:rect r="r" b="b" t="t" l="l"/>
            <a:pathLst>
              <a:path h="663164" w="716880">
                <a:moveTo>
                  <a:pt x="0" y="0"/>
                </a:moveTo>
                <a:lnTo>
                  <a:pt x="716880" y="0"/>
                </a:lnTo>
                <a:lnTo>
                  <a:pt x="716880" y="663163"/>
                </a:lnTo>
                <a:lnTo>
                  <a:pt x="0" y="663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450305" y="5374605"/>
            <a:ext cx="985845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90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」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113039" y="1800318"/>
            <a:ext cx="168445" cy="168446"/>
            <a:chOff x="0" y="0"/>
            <a:chExt cx="224594" cy="2245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536" cy="224536"/>
            </a:xfrm>
            <a:custGeom>
              <a:avLst/>
              <a:gdLst/>
              <a:ahLst/>
              <a:cxnLst/>
              <a:rect r="r" b="b" t="t" l="l"/>
              <a:pathLst>
                <a:path h="224536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224536"/>
                  </a:lnTo>
                  <a:lnTo>
                    <a:pt x="0" y="224536"/>
                  </a:lnTo>
                  <a:close/>
                </a:path>
              </a:pathLst>
            </a:custGeom>
            <a:solidFill>
              <a:srgbClr val="F4C1C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95151" y="2338675"/>
            <a:ext cx="240628" cy="240628"/>
            <a:chOff x="0" y="0"/>
            <a:chExt cx="320838" cy="320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0802" cy="320802"/>
            </a:xfrm>
            <a:custGeom>
              <a:avLst/>
              <a:gdLst/>
              <a:ahLst/>
              <a:cxnLst/>
              <a:rect r="r" b="b" t="t" l="l"/>
              <a:pathLst>
                <a:path h="320802" w="320802">
                  <a:moveTo>
                    <a:pt x="0" y="0"/>
                  </a:moveTo>
                  <a:lnTo>
                    <a:pt x="320802" y="0"/>
                  </a:lnTo>
                  <a:lnTo>
                    <a:pt x="320802" y="320802"/>
                  </a:lnTo>
                  <a:lnTo>
                    <a:pt x="0" y="320802"/>
                  </a:lnTo>
                  <a:close/>
                </a:path>
              </a:pathLst>
            </a:custGeom>
            <a:solidFill>
              <a:srgbClr val="F4C1C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531655" y="3161920"/>
            <a:ext cx="595707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社群媒體的作用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94010" y="3161920"/>
            <a:ext cx="595707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虛假資訊的類型和範例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傳播錯誤訊息</a:t>
            </a:r>
          </a:p>
        </p:txBody>
      </p:sp>
      <p:grpSp>
        <p:nvGrpSpPr>
          <p:cNvPr name="Group 28" id="28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30" id="30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76328" y="2252412"/>
            <a:ext cx="2690061" cy="2702092"/>
            <a:chOff x="0" y="0"/>
            <a:chExt cx="3586748" cy="36027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3561334" cy="3577336"/>
            </a:xfrm>
            <a:custGeom>
              <a:avLst/>
              <a:gdLst/>
              <a:ahLst/>
              <a:cxnLst/>
              <a:rect r="r" b="b" t="t" l="l"/>
              <a:pathLst>
                <a:path h="3577336" w="3561334">
                  <a:moveTo>
                    <a:pt x="593598" y="0"/>
                  </a:moveTo>
                  <a:lnTo>
                    <a:pt x="3561334" y="0"/>
                  </a:lnTo>
                  <a:lnTo>
                    <a:pt x="3561334" y="2983738"/>
                  </a:lnTo>
                  <a:cubicBezTo>
                    <a:pt x="3561334" y="3311525"/>
                    <a:pt x="3295523" y="3577336"/>
                    <a:pt x="2967736" y="3577336"/>
                  </a:cubicBezTo>
                  <a:lnTo>
                    <a:pt x="0" y="3577336"/>
                  </a:lnTo>
                  <a:lnTo>
                    <a:pt x="0" y="593598"/>
                  </a:lnTo>
                  <a:cubicBezTo>
                    <a:pt x="0" y="265811"/>
                    <a:pt x="265811" y="0"/>
                    <a:pt x="5935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6734" cy="3602736"/>
            </a:xfrm>
            <a:custGeom>
              <a:avLst/>
              <a:gdLst/>
              <a:ahLst/>
              <a:cxnLst/>
              <a:rect r="r" b="b" t="t" l="l"/>
              <a:pathLst>
                <a:path h="3602736" w="3586734">
                  <a:moveTo>
                    <a:pt x="606298" y="0"/>
                  </a:moveTo>
                  <a:lnTo>
                    <a:pt x="3574034" y="0"/>
                  </a:lnTo>
                  <a:cubicBezTo>
                    <a:pt x="3581019" y="0"/>
                    <a:pt x="3586734" y="5715"/>
                    <a:pt x="3586734" y="12700"/>
                  </a:cubicBezTo>
                  <a:lnTo>
                    <a:pt x="3586734" y="2996438"/>
                  </a:lnTo>
                  <a:lnTo>
                    <a:pt x="3574034" y="2996438"/>
                  </a:lnTo>
                  <a:lnTo>
                    <a:pt x="3586734" y="2996438"/>
                  </a:lnTo>
                  <a:cubicBezTo>
                    <a:pt x="3586734" y="3331337"/>
                    <a:pt x="3315335" y="3602736"/>
                    <a:pt x="2980436" y="3602736"/>
                  </a:cubicBezTo>
                  <a:lnTo>
                    <a:pt x="2980436" y="3590036"/>
                  </a:lnTo>
                  <a:lnTo>
                    <a:pt x="2980436" y="3602736"/>
                  </a:lnTo>
                  <a:lnTo>
                    <a:pt x="12700" y="3602736"/>
                  </a:lnTo>
                  <a:cubicBezTo>
                    <a:pt x="5715" y="3602736"/>
                    <a:pt x="0" y="3597021"/>
                    <a:pt x="0" y="3590036"/>
                  </a:cubicBezTo>
                  <a:lnTo>
                    <a:pt x="0" y="606298"/>
                  </a:lnTo>
                  <a:lnTo>
                    <a:pt x="12700" y="606298"/>
                  </a:lnTo>
                  <a:lnTo>
                    <a:pt x="0" y="606298"/>
                  </a:lnTo>
                  <a:cubicBezTo>
                    <a:pt x="0" y="271399"/>
                    <a:pt x="271399" y="0"/>
                    <a:pt x="606298" y="0"/>
                  </a:cubicBezTo>
                  <a:cubicBezTo>
                    <a:pt x="610235" y="0"/>
                    <a:pt x="613918" y="1778"/>
                    <a:pt x="616331" y="4826"/>
                  </a:cubicBezTo>
                  <a:lnTo>
                    <a:pt x="606298" y="12700"/>
                  </a:lnTo>
                  <a:lnTo>
                    <a:pt x="606298" y="0"/>
                  </a:lnTo>
                  <a:moveTo>
                    <a:pt x="606298" y="25400"/>
                  </a:moveTo>
                  <a:cubicBezTo>
                    <a:pt x="602361" y="25400"/>
                    <a:pt x="598678" y="23622"/>
                    <a:pt x="596265" y="20574"/>
                  </a:cubicBezTo>
                  <a:lnTo>
                    <a:pt x="606298" y="12700"/>
                  </a:lnTo>
                  <a:lnTo>
                    <a:pt x="606298" y="25400"/>
                  </a:lnTo>
                  <a:cubicBezTo>
                    <a:pt x="285496" y="25400"/>
                    <a:pt x="25400" y="285496"/>
                    <a:pt x="25400" y="606298"/>
                  </a:cubicBezTo>
                  <a:lnTo>
                    <a:pt x="25400" y="3590036"/>
                  </a:lnTo>
                  <a:lnTo>
                    <a:pt x="12700" y="3590036"/>
                  </a:lnTo>
                  <a:lnTo>
                    <a:pt x="12700" y="3577336"/>
                  </a:lnTo>
                  <a:lnTo>
                    <a:pt x="2980436" y="3577336"/>
                  </a:lnTo>
                  <a:cubicBezTo>
                    <a:pt x="3301238" y="3577336"/>
                    <a:pt x="3561334" y="3317240"/>
                    <a:pt x="3561334" y="2996438"/>
                  </a:cubicBezTo>
                  <a:lnTo>
                    <a:pt x="3561334" y="12700"/>
                  </a:lnTo>
                  <a:lnTo>
                    <a:pt x="3574034" y="12700"/>
                  </a:lnTo>
                  <a:lnTo>
                    <a:pt x="3574034" y="25400"/>
                  </a:lnTo>
                  <a:lnTo>
                    <a:pt x="606298" y="25400"/>
                  </a:ln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65151" y="2261937"/>
            <a:ext cx="10647945" cy="2683042"/>
            <a:chOff x="0" y="0"/>
            <a:chExt cx="14197260" cy="35773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97203" cy="3577463"/>
            </a:xfrm>
            <a:custGeom>
              <a:avLst/>
              <a:gdLst/>
              <a:ahLst/>
              <a:cxnLst/>
              <a:rect r="r" b="b" t="t" l="l"/>
              <a:pathLst>
                <a:path h="3577463" w="14197203">
                  <a:moveTo>
                    <a:pt x="13601064" y="0"/>
                  </a:moveTo>
                  <a:lnTo>
                    <a:pt x="0" y="0"/>
                  </a:lnTo>
                  <a:lnTo>
                    <a:pt x="0" y="2981198"/>
                  </a:lnTo>
                  <a:cubicBezTo>
                    <a:pt x="0" y="3310509"/>
                    <a:pt x="266954" y="3577463"/>
                    <a:pt x="596265" y="3577463"/>
                  </a:cubicBezTo>
                  <a:lnTo>
                    <a:pt x="14197203" y="3577463"/>
                  </a:lnTo>
                  <a:lnTo>
                    <a:pt x="14197203" y="596265"/>
                  </a:lnTo>
                  <a:cubicBezTo>
                    <a:pt x="14197203" y="266954"/>
                    <a:pt x="13930249" y="0"/>
                    <a:pt x="13600939" y="0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481922" y="3353682"/>
            <a:ext cx="1001440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Deepfake 技術及其演變概述。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深度造假的影響及其潛在危險。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如何辨識 Deepfake 影片及對策。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993540" y="1820289"/>
            <a:ext cx="1020561" cy="1025072"/>
            <a:chOff x="0" y="0"/>
            <a:chExt cx="1360748" cy="13667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1335278" cy="1341374"/>
            </a:xfrm>
            <a:custGeom>
              <a:avLst/>
              <a:gdLst/>
              <a:ahLst/>
              <a:cxnLst/>
              <a:rect r="r" b="b" t="t" l="l"/>
              <a:pathLst>
                <a:path h="1341374" w="1335278">
                  <a:moveTo>
                    <a:pt x="222504" y="0"/>
                  </a:moveTo>
                  <a:lnTo>
                    <a:pt x="1335278" y="0"/>
                  </a:lnTo>
                  <a:lnTo>
                    <a:pt x="1335278" y="1118743"/>
                  </a:lnTo>
                  <a:cubicBezTo>
                    <a:pt x="1335278" y="1241679"/>
                    <a:pt x="1235583" y="1341374"/>
                    <a:pt x="1112774" y="1341374"/>
                  </a:cubicBezTo>
                  <a:lnTo>
                    <a:pt x="0" y="1341374"/>
                  </a:lnTo>
                  <a:lnTo>
                    <a:pt x="0" y="222631"/>
                  </a:lnTo>
                  <a:cubicBezTo>
                    <a:pt x="0" y="99695"/>
                    <a:pt x="99695" y="0"/>
                    <a:pt x="222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0678" cy="1366774"/>
            </a:xfrm>
            <a:custGeom>
              <a:avLst/>
              <a:gdLst/>
              <a:ahLst/>
              <a:cxnLst/>
              <a:rect r="r" b="b" t="t" l="l"/>
              <a:pathLst>
                <a:path h="1366774" w="1360678">
                  <a:moveTo>
                    <a:pt x="235204" y="0"/>
                  </a:moveTo>
                  <a:lnTo>
                    <a:pt x="1347978" y="0"/>
                  </a:lnTo>
                  <a:cubicBezTo>
                    <a:pt x="1354963" y="0"/>
                    <a:pt x="1360678" y="5715"/>
                    <a:pt x="1360678" y="12700"/>
                  </a:cubicBezTo>
                  <a:lnTo>
                    <a:pt x="1360678" y="1131443"/>
                  </a:lnTo>
                  <a:lnTo>
                    <a:pt x="1347978" y="1131443"/>
                  </a:lnTo>
                  <a:lnTo>
                    <a:pt x="1360678" y="1131443"/>
                  </a:lnTo>
                  <a:cubicBezTo>
                    <a:pt x="1360678" y="1261364"/>
                    <a:pt x="1255395" y="1366774"/>
                    <a:pt x="1125474" y="1366774"/>
                  </a:cubicBezTo>
                  <a:lnTo>
                    <a:pt x="1125474" y="1354074"/>
                  </a:lnTo>
                  <a:lnTo>
                    <a:pt x="1125474" y="1366774"/>
                  </a:lnTo>
                  <a:lnTo>
                    <a:pt x="12700" y="1366774"/>
                  </a:lnTo>
                  <a:cubicBezTo>
                    <a:pt x="5715" y="1366774"/>
                    <a:pt x="0" y="1361059"/>
                    <a:pt x="0" y="1354074"/>
                  </a:cubicBezTo>
                  <a:lnTo>
                    <a:pt x="0" y="235331"/>
                  </a:lnTo>
                  <a:lnTo>
                    <a:pt x="12700" y="235331"/>
                  </a:lnTo>
                  <a:lnTo>
                    <a:pt x="0" y="235331"/>
                  </a:lnTo>
                  <a:cubicBezTo>
                    <a:pt x="0" y="105283"/>
                    <a:pt x="105283" y="0"/>
                    <a:pt x="235204" y="0"/>
                  </a:cubicBezTo>
                  <a:cubicBezTo>
                    <a:pt x="237617" y="0"/>
                    <a:pt x="239903" y="635"/>
                    <a:pt x="241935" y="1905"/>
                  </a:cubicBezTo>
                  <a:lnTo>
                    <a:pt x="235204" y="12700"/>
                  </a:lnTo>
                  <a:lnTo>
                    <a:pt x="235204" y="0"/>
                  </a:lnTo>
                  <a:moveTo>
                    <a:pt x="235204" y="25400"/>
                  </a:moveTo>
                  <a:cubicBezTo>
                    <a:pt x="232791" y="25400"/>
                    <a:pt x="230505" y="24765"/>
                    <a:pt x="228473" y="23495"/>
                  </a:cubicBezTo>
                  <a:lnTo>
                    <a:pt x="235204" y="12700"/>
                  </a:lnTo>
                  <a:lnTo>
                    <a:pt x="235204" y="25400"/>
                  </a:lnTo>
                  <a:cubicBezTo>
                    <a:pt x="119380" y="25400"/>
                    <a:pt x="25400" y="119380"/>
                    <a:pt x="25400" y="235331"/>
                  </a:cubicBezTo>
                  <a:lnTo>
                    <a:pt x="25400" y="1354074"/>
                  </a:lnTo>
                  <a:lnTo>
                    <a:pt x="12700" y="1354074"/>
                  </a:lnTo>
                  <a:lnTo>
                    <a:pt x="12700" y="1341374"/>
                  </a:lnTo>
                  <a:lnTo>
                    <a:pt x="1125474" y="1341374"/>
                  </a:lnTo>
                  <a:cubicBezTo>
                    <a:pt x="1241425" y="1341374"/>
                    <a:pt x="1335278" y="1247394"/>
                    <a:pt x="1335278" y="1131443"/>
                  </a:cubicBezTo>
                  <a:lnTo>
                    <a:pt x="1335278" y="12700"/>
                  </a:lnTo>
                  <a:lnTo>
                    <a:pt x="1347978" y="12700"/>
                  </a:lnTo>
                  <a:lnTo>
                    <a:pt x="1347978" y="25400"/>
                  </a:lnTo>
                  <a:lnTo>
                    <a:pt x="235204" y="25400"/>
                  </a:ln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5248246" y="2096400"/>
            <a:ext cx="511150" cy="472849"/>
          </a:xfrm>
          <a:custGeom>
            <a:avLst/>
            <a:gdLst/>
            <a:ahLst/>
            <a:cxnLst/>
            <a:rect r="r" b="b" t="t" l="l"/>
            <a:pathLst>
              <a:path h="472849" w="511150">
                <a:moveTo>
                  <a:pt x="0" y="0"/>
                </a:moveTo>
                <a:lnTo>
                  <a:pt x="511150" y="0"/>
                </a:lnTo>
                <a:lnTo>
                  <a:pt x="511150" y="472850"/>
                </a:lnTo>
                <a:lnTo>
                  <a:pt x="0" y="472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64507" y="2709612"/>
            <a:ext cx="211370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90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78744" y="2025512"/>
            <a:ext cx="305936" cy="307314"/>
            <a:chOff x="0" y="0"/>
            <a:chExt cx="407914" cy="409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7924" cy="409702"/>
            </a:xfrm>
            <a:custGeom>
              <a:avLst/>
              <a:gdLst/>
              <a:ahLst/>
              <a:cxnLst/>
              <a:rect r="r" b="b" t="t" l="l"/>
              <a:pathLst>
                <a:path h="409702" w="407924">
                  <a:moveTo>
                    <a:pt x="67945" y="0"/>
                  </a:moveTo>
                  <a:lnTo>
                    <a:pt x="407924" y="0"/>
                  </a:lnTo>
                  <a:lnTo>
                    <a:pt x="407924" y="341757"/>
                  </a:lnTo>
                  <a:cubicBezTo>
                    <a:pt x="407924" y="379349"/>
                    <a:pt x="377444" y="409702"/>
                    <a:pt x="339979" y="409702"/>
                  </a:cubicBezTo>
                  <a:lnTo>
                    <a:pt x="0" y="409702"/>
                  </a:lnTo>
                  <a:lnTo>
                    <a:pt x="0" y="67945"/>
                  </a:lnTo>
                  <a:cubicBezTo>
                    <a:pt x="0" y="30480"/>
                    <a:pt x="30480" y="0"/>
                    <a:pt x="67945" y="0"/>
                  </a:cubicBezTo>
                  <a:close/>
                </a:path>
              </a:pathLst>
            </a:custGeom>
            <a:solidFill>
              <a:srgbClr val="EC868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481922" y="2918488"/>
            <a:ext cx="1001440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Deepfake技術的威脅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376328" y="6100119"/>
            <a:ext cx="2690061" cy="2702092"/>
            <a:chOff x="0" y="0"/>
            <a:chExt cx="3586748" cy="36027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3561334" cy="3577336"/>
            </a:xfrm>
            <a:custGeom>
              <a:avLst/>
              <a:gdLst/>
              <a:ahLst/>
              <a:cxnLst/>
              <a:rect r="r" b="b" t="t" l="l"/>
              <a:pathLst>
                <a:path h="3577336" w="3561334">
                  <a:moveTo>
                    <a:pt x="593598" y="0"/>
                  </a:moveTo>
                  <a:lnTo>
                    <a:pt x="3561334" y="0"/>
                  </a:lnTo>
                  <a:lnTo>
                    <a:pt x="3561334" y="2983738"/>
                  </a:lnTo>
                  <a:cubicBezTo>
                    <a:pt x="3561334" y="3311525"/>
                    <a:pt x="3295523" y="3577336"/>
                    <a:pt x="2967736" y="3577336"/>
                  </a:cubicBezTo>
                  <a:lnTo>
                    <a:pt x="0" y="3577336"/>
                  </a:lnTo>
                  <a:lnTo>
                    <a:pt x="0" y="593598"/>
                  </a:lnTo>
                  <a:cubicBezTo>
                    <a:pt x="0" y="265811"/>
                    <a:pt x="265811" y="0"/>
                    <a:pt x="5935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86734" cy="3602736"/>
            </a:xfrm>
            <a:custGeom>
              <a:avLst/>
              <a:gdLst/>
              <a:ahLst/>
              <a:cxnLst/>
              <a:rect r="r" b="b" t="t" l="l"/>
              <a:pathLst>
                <a:path h="3602736" w="3586734">
                  <a:moveTo>
                    <a:pt x="606298" y="0"/>
                  </a:moveTo>
                  <a:lnTo>
                    <a:pt x="3574034" y="0"/>
                  </a:lnTo>
                  <a:cubicBezTo>
                    <a:pt x="3581019" y="0"/>
                    <a:pt x="3586734" y="5715"/>
                    <a:pt x="3586734" y="12700"/>
                  </a:cubicBezTo>
                  <a:lnTo>
                    <a:pt x="3586734" y="2996438"/>
                  </a:lnTo>
                  <a:lnTo>
                    <a:pt x="3574034" y="2996438"/>
                  </a:lnTo>
                  <a:lnTo>
                    <a:pt x="3586734" y="2996438"/>
                  </a:lnTo>
                  <a:cubicBezTo>
                    <a:pt x="3586734" y="3331337"/>
                    <a:pt x="3315335" y="3602736"/>
                    <a:pt x="2980436" y="3602736"/>
                  </a:cubicBezTo>
                  <a:lnTo>
                    <a:pt x="2980436" y="3590036"/>
                  </a:lnTo>
                  <a:lnTo>
                    <a:pt x="2980436" y="3602736"/>
                  </a:lnTo>
                  <a:lnTo>
                    <a:pt x="12700" y="3602736"/>
                  </a:lnTo>
                  <a:cubicBezTo>
                    <a:pt x="5715" y="3602736"/>
                    <a:pt x="0" y="3597021"/>
                    <a:pt x="0" y="3590036"/>
                  </a:cubicBezTo>
                  <a:lnTo>
                    <a:pt x="0" y="606298"/>
                  </a:lnTo>
                  <a:lnTo>
                    <a:pt x="12700" y="606298"/>
                  </a:lnTo>
                  <a:lnTo>
                    <a:pt x="0" y="606298"/>
                  </a:lnTo>
                  <a:cubicBezTo>
                    <a:pt x="0" y="271399"/>
                    <a:pt x="271399" y="0"/>
                    <a:pt x="606298" y="0"/>
                  </a:cubicBezTo>
                  <a:cubicBezTo>
                    <a:pt x="610235" y="0"/>
                    <a:pt x="613918" y="1778"/>
                    <a:pt x="616331" y="4826"/>
                  </a:cubicBezTo>
                  <a:lnTo>
                    <a:pt x="606298" y="12700"/>
                  </a:lnTo>
                  <a:lnTo>
                    <a:pt x="606298" y="0"/>
                  </a:lnTo>
                  <a:moveTo>
                    <a:pt x="606298" y="25400"/>
                  </a:moveTo>
                  <a:cubicBezTo>
                    <a:pt x="602361" y="25400"/>
                    <a:pt x="598678" y="23622"/>
                    <a:pt x="596265" y="20574"/>
                  </a:cubicBezTo>
                  <a:lnTo>
                    <a:pt x="606298" y="12700"/>
                  </a:lnTo>
                  <a:lnTo>
                    <a:pt x="606298" y="25400"/>
                  </a:lnTo>
                  <a:cubicBezTo>
                    <a:pt x="285496" y="25400"/>
                    <a:pt x="25400" y="285496"/>
                    <a:pt x="25400" y="606298"/>
                  </a:cubicBezTo>
                  <a:lnTo>
                    <a:pt x="25400" y="3590036"/>
                  </a:lnTo>
                  <a:lnTo>
                    <a:pt x="12700" y="3590036"/>
                  </a:lnTo>
                  <a:lnTo>
                    <a:pt x="12700" y="3577336"/>
                  </a:lnTo>
                  <a:lnTo>
                    <a:pt x="2980436" y="3577336"/>
                  </a:lnTo>
                  <a:cubicBezTo>
                    <a:pt x="3301238" y="3577336"/>
                    <a:pt x="3561334" y="3317240"/>
                    <a:pt x="3561334" y="2996438"/>
                  </a:cubicBezTo>
                  <a:lnTo>
                    <a:pt x="3561334" y="12700"/>
                  </a:lnTo>
                  <a:lnTo>
                    <a:pt x="3574034" y="12700"/>
                  </a:lnTo>
                  <a:lnTo>
                    <a:pt x="3574034" y="25400"/>
                  </a:lnTo>
                  <a:lnTo>
                    <a:pt x="606298" y="25400"/>
                  </a:ln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165151" y="6109644"/>
            <a:ext cx="10647945" cy="2683042"/>
            <a:chOff x="0" y="0"/>
            <a:chExt cx="14197260" cy="35773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197203" cy="3577463"/>
            </a:xfrm>
            <a:custGeom>
              <a:avLst/>
              <a:gdLst/>
              <a:ahLst/>
              <a:cxnLst/>
              <a:rect r="r" b="b" t="t" l="l"/>
              <a:pathLst>
                <a:path h="3577463" w="14197203">
                  <a:moveTo>
                    <a:pt x="13601064" y="0"/>
                  </a:moveTo>
                  <a:lnTo>
                    <a:pt x="0" y="0"/>
                  </a:lnTo>
                  <a:lnTo>
                    <a:pt x="0" y="2981198"/>
                  </a:lnTo>
                  <a:cubicBezTo>
                    <a:pt x="0" y="3310509"/>
                    <a:pt x="266954" y="3577463"/>
                    <a:pt x="596265" y="3577463"/>
                  </a:cubicBezTo>
                  <a:lnTo>
                    <a:pt x="14197203" y="3577463"/>
                  </a:lnTo>
                  <a:lnTo>
                    <a:pt x="14197203" y="596265"/>
                  </a:lnTo>
                  <a:cubicBezTo>
                    <a:pt x="14197203" y="266954"/>
                    <a:pt x="13930249" y="0"/>
                    <a:pt x="13600939" y="0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481922" y="7201389"/>
            <a:ext cx="1001440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社交機器人的角色及其影響。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資訊操縱與社交機器人之間的關係。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社交機器人對策的現況與挑戰。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993540" y="5667996"/>
            <a:ext cx="1020561" cy="1025072"/>
            <a:chOff x="0" y="0"/>
            <a:chExt cx="1360748" cy="13667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335278" cy="1341374"/>
            </a:xfrm>
            <a:custGeom>
              <a:avLst/>
              <a:gdLst/>
              <a:ahLst/>
              <a:cxnLst/>
              <a:rect r="r" b="b" t="t" l="l"/>
              <a:pathLst>
                <a:path h="1341374" w="1335278">
                  <a:moveTo>
                    <a:pt x="222504" y="0"/>
                  </a:moveTo>
                  <a:lnTo>
                    <a:pt x="1335278" y="0"/>
                  </a:lnTo>
                  <a:lnTo>
                    <a:pt x="1335278" y="1118743"/>
                  </a:lnTo>
                  <a:cubicBezTo>
                    <a:pt x="1335278" y="1241679"/>
                    <a:pt x="1235583" y="1341374"/>
                    <a:pt x="1112774" y="1341374"/>
                  </a:cubicBezTo>
                  <a:lnTo>
                    <a:pt x="0" y="1341374"/>
                  </a:lnTo>
                  <a:lnTo>
                    <a:pt x="0" y="222631"/>
                  </a:lnTo>
                  <a:cubicBezTo>
                    <a:pt x="0" y="99695"/>
                    <a:pt x="99695" y="0"/>
                    <a:pt x="222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60678" cy="1366774"/>
            </a:xfrm>
            <a:custGeom>
              <a:avLst/>
              <a:gdLst/>
              <a:ahLst/>
              <a:cxnLst/>
              <a:rect r="r" b="b" t="t" l="l"/>
              <a:pathLst>
                <a:path h="1366774" w="1360678">
                  <a:moveTo>
                    <a:pt x="235204" y="0"/>
                  </a:moveTo>
                  <a:lnTo>
                    <a:pt x="1347978" y="0"/>
                  </a:lnTo>
                  <a:cubicBezTo>
                    <a:pt x="1354963" y="0"/>
                    <a:pt x="1360678" y="5715"/>
                    <a:pt x="1360678" y="12700"/>
                  </a:cubicBezTo>
                  <a:lnTo>
                    <a:pt x="1360678" y="1131443"/>
                  </a:lnTo>
                  <a:lnTo>
                    <a:pt x="1347978" y="1131443"/>
                  </a:lnTo>
                  <a:lnTo>
                    <a:pt x="1360678" y="1131443"/>
                  </a:lnTo>
                  <a:cubicBezTo>
                    <a:pt x="1360678" y="1261364"/>
                    <a:pt x="1255395" y="1366774"/>
                    <a:pt x="1125474" y="1366774"/>
                  </a:cubicBezTo>
                  <a:lnTo>
                    <a:pt x="1125474" y="1354074"/>
                  </a:lnTo>
                  <a:lnTo>
                    <a:pt x="1125474" y="1366774"/>
                  </a:lnTo>
                  <a:lnTo>
                    <a:pt x="12700" y="1366774"/>
                  </a:lnTo>
                  <a:cubicBezTo>
                    <a:pt x="5715" y="1366774"/>
                    <a:pt x="0" y="1361059"/>
                    <a:pt x="0" y="1354074"/>
                  </a:cubicBezTo>
                  <a:lnTo>
                    <a:pt x="0" y="235331"/>
                  </a:lnTo>
                  <a:lnTo>
                    <a:pt x="12700" y="235331"/>
                  </a:lnTo>
                  <a:lnTo>
                    <a:pt x="0" y="235331"/>
                  </a:lnTo>
                  <a:cubicBezTo>
                    <a:pt x="0" y="105283"/>
                    <a:pt x="105283" y="0"/>
                    <a:pt x="235204" y="0"/>
                  </a:cubicBezTo>
                  <a:cubicBezTo>
                    <a:pt x="237617" y="0"/>
                    <a:pt x="239903" y="635"/>
                    <a:pt x="241935" y="1905"/>
                  </a:cubicBezTo>
                  <a:lnTo>
                    <a:pt x="235204" y="12700"/>
                  </a:lnTo>
                  <a:lnTo>
                    <a:pt x="235204" y="0"/>
                  </a:lnTo>
                  <a:moveTo>
                    <a:pt x="235204" y="25400"/>
                  </a:moveTo>
                  <a:cubicBezTo>
                    <a:pt x="232791" y="25400"/>
                    <a:pt x="230505" y="24765"/>
                    <a:pt x="228473" y="23495"/>
                  </a:cubicBezTo>
                  <a:lnTo>
                    <a:pt x="235204" y="12700"/>
                  </a:lnTo>
                  <a:lnTo>
                    <a:pt x="235204" y="25400"/>
                  </a:lnTo>
                  <a:cubicBezTo>
                    <a:pt x="119380" y="25400"/>
                    <a:pt x="25400" y="119380"/>
                    <a:pt x="25400" y="235331"/>
                  </a:cubicBezTo>
                  <a:lnTo>
                    <a:pt x="25400" y="1354074"/>
                  </a:lnTo>
                  <a:lnTo>
                    <a:pt x="12700" y="1354074"/>
                  </a:lnTo>
                  <a:lnTo>
                    <a:pt x="12700" y="1341374"/>
                  </a:lnTo>
                  <a:lnTo>
                    <a:pt x="1125474" y="1341374"/>
                  </a:lnTo>
                  <a:cubicBezTo>
                    <a:pt x="1241425" y="1341374"/>
                    <a:pt x="1335278" y="1247394"/>
                    <a:pt x="1335278" y="1131443"/>
                  </a:cubicBezTo>
                  <a:lnTo>
                    <a:pt x="1335278" y="12700"/>
                  </a:lnTo>
                  <a:lnTo>
                    <a:pt x="1347978" y="12700"/>
                  </a:lnTo>
                  <a:lnTo>
                    <a:pt x="1347978" y="25400"/>
                  </a:lnTo>
                  <a:lnTo>
                    <a:pt x="235204" y="25400"/>
                  </a:ln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5248246" y="5939648"/>
            <a:ext cx="511150" cy="481770"/>
          </a:xfrm>
          <a:custGeom>
            <a:avLst/>
            <a:gdLst/>
            <a:ahLst/>
            <a:cxnLst/>
            <a:rect r="r" b="b" t="t" l="l"/>
            <a:pathLst>
              <a:path h="481770" w="511150">
                <a:moveTo>
                  <a:pt x="0" y="0"/>
                </a:moveTo>
                <a:lnTo>
                  <a:pt x="511150" y="0"/>
                </a:lnTo>
                <a:lnTo>
                  <a:pt x="511150" y="481770"/>
                </a:lnTo>
                <a:lnTo>
                  <a:pt x="0" y="48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664507" y="6557319"/>
            <a:ext cx="211370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90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02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178744" y="5873218"/>
            <a:ext cx="305936" cy="307314"/>
            <a:chOff x="0" y="0"/>
            <a:chExt cx="407914" cy="409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7924" cy="409702"/>
            </a:xfrm>
            <a:custGeom>
              <a:avLst/>
              <a:gdLst/>
              <a:ahLst/>
              <a:cxnLst/>
              <a:rect r="r" b="b" t="t" l="l"/>
              <a:pathLst>
                <a:path h="409702" w="407924">
                  <a:moveTo>
                    <a:pt x="67945" y="0"/>
                  </a:moveTo>
                  <a:lnTo>
                    <a:pt x="407924" y="0"/>
                  </a:lnTo>
                  <a:lnTo>
                    <a:pt x="407924" y="341757"/>
                  </a:lnTo>
                  <a:cubicBezTo>
                    <a:pt x="407924" y="379349"/>
                    <a:pt x="377444" y="409702"/>
                    <a:pt x="339979" y="409702"/>
                  </a:cubicBezTo>
                  <a:lnTo>
                    <a:pt x="0" y="409702"/>
                  </a:lnTo>
                  <a:lnTo>
                    <a:pt x="0" y="67945"/>
                  </a:lnTo>
                  <a:cubicBezTo>
                    <a:pt x="0" y="30480"/>
                    <a:pt x="30480" y="0"/>
                    <a:pt x="67945" y="0"/>
                  </a:cubicBezTo>
                  <a:close/>
                </a:path>
              </a:pathLst>
            </a:custGeom>
            <a:solidFill>
              <a:srgbClr val="EC8686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481922" y="6766196"/>
            <a:ext cx="1001440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社交機器人和自動化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虛假資訊透過科技的演變</a:t>
            </a:r>
          </a:p>
        </p:txBody>
      </p:sp>
      <p:grpSp>
        <p:nvGrpSpPr>
          <p:cNvPr name="Group 33" id="33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35" id="35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01970" y="5898684"/>
            <a:ext cx="1571743" cy="1571743"/>
            <a:chOff x="0" y="0"/>
            <a:chExt cx="2095658" cy="20956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5754" cy="2095754"/>
            </a:xfrm>
            <a:custGeom>
              <a:avLst/>
              <a:gdLst/>
              <a:ahLst/>
              <a:cxnLst/>
              <a:rect r="r" b="b" t="t" l="l"/>
              <a:pathLst>
                <a:path h="2095754" w="2095754">
                  <a:moveTo>
                    <a:pt x="0" y="1047877"/>
                  </a:moveTo>
                  <a:cubicBezTo>
                    <a:pt x="0" y="469138"/>
                    <a:pt x="469138" y="0"/>
                    <a:pt x="1047877" y="0"/>
                  </a:cubicBezTo>
                  <a:cubicBezTo>
                    <a:pt x="1626616" y="0"/>
                    <a:pt x="2095754" y="469138"/>
                    <a:pt x="2095754" y="1047877"/>
                  </a:cubicBezTo>
                  <a:cubicBezTo>
                    <a:pt x="2095754" y="1626616"/>
                    <a:pt x="1626616" y="2095754"/>
                    <a:pt x="1047877" y="2095754"/>
                  </a:cubicBezTo>
                  <a:cubicBezTo>
                    <a:pt x="469138" y="2095754"/>
                    <a:pt x="0" y="1626489"/>
                    <a:pt x="0" y="10478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111252" y="3298903"/>
            <a:ext cx="597695" cy="1721645"/>
          </a:xfrm>
          <a:custGeom>
            <a:avLst/>
            <a:gdLst/>
            <a:ahLst/>
            <a:cxnLst/>
            <a:rect r="r" b="b" t="t" l="l"/>
            <a:pathLst>
              <a:path h="1721645" w="597695">
                <a:moveTo>
                  <a:pt x="0" y="0"/>
                </a:moveTo>
                <a:lnTo>
                  <a:pt x="597694" y="0"/>
                </a:lnTo>
                <a:lnTo>
                  <a:pt x="597694" y="1721645"/>
                </a:lnTo>
                <a:lnTo>
                  <a:pt x="0" y="1721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1252" y="5829219"/>
            <a:ext cx="597695" cy="1721644"/>
          </a:xfrm>
          <a:custGeom>
            <a:avLst/>
            <a:gdLst/>
            <a:ahLst/>
            <a:cxnLst/>
            <a:rect r="r" b="b" t="t" l="l"/>
            <a:pathLst>
              <a:path h="1721644" w="597695">
                <a:moveTo>
                  <a:pt x="0" y="0"/>
                </a:moveTo>
                <a:lnTo>
                  <a:pt x="597694" y="0"/>
                </a:lnTo>
                <a:lnTo>
                  <a:pt x="597694" y="1721645"/>
                </a:lnTo>
                <a:lnTo>
                  <a:pt x="0" y="1721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301970" y="3369968"/>
            <a:ext cx="1571743" cy="1571743"/>
            <a:chOff x="0" y="0"/>
            <a:chExt cx="2095658" cy="20956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5754" cy="2095754"/>
            </a:xfrm>
            <a:custGeom>
              <a:avLst/>
              <a:gdLst/>
              <a:ahLst/>
              <a:cxnLst/>
              <a:rect r="r" b="b" t="t" l="l"/>
              <a:pathLst>
                <a:path h="2095754" w="2095754">
                  <a:moveTo>
                    <a:pt x="0" y="1047877"/>
                  </a:moveTo>
                  <a:cubicBezTo>
                    <a:pt x="0" y="469138"/>
                    <a:pt x="469138" y="0"/>
                    <a:pt x="1047877" y="0"/>
                  </a:cubicBezTo>
                  <a:cubicBezTo>
                    <a:pt x="1626616" y="0"/>
                    <a:pt x="2095754" y="469138"/>
                    <a:pt x="2095754" y="1047877"/>
                  </a:cubicBezTo>
                  <a:cubicBezTo>
                    <a:pt x="2095754" y="1626616"/>
                    <a:pt x="1626616" y="2095754"/>
                    <a:pt x="1047877" y="2095754"/>
                  </a:cubicBezTo>
                  <a:cubicBezTo>
                    <a:pt x="469138" y="2095754"/>
                    <a:pt x="0" y="1626489"/>
                    <a:pt x="0" y="1047877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787579" y="6475623"/>
            <a:ext cx="586150" cy="542231"/>
          </a:xfrm>
          <a:custGeom>
            <a:avLst/>
            <a:gdLst/>
            <a:ahLst/>
            <a:cxnLst/>
            <a:rect r="r" b="b" t="t" l="l"/>
            <a:pathLst>
              <a:path h="542231" w="586150">
                <a:moveTo>
                  <a:pt x="0" y="0"/>
                </a:moveTo>
                <a:lnTo>
                  <a:pt x="586150" y="0"/>
                </a:lnTo>
                <a:lnTo>
                  <a:pt x="586150" y="542231"/>
                </a:lnTo>
                <a:lnTo>
                  <a:pt x="0" y="542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24028" y="3847014"/>
            <a:ext cx="513252" cy="586150"/>
          </a:xfrm>
          <a:custGeom>
            <a:avLst/>
            <a:gdLst/>
            <a:ahLst/>
            <a:cxnLst/>
            <a:rect r="r" b="b" t="t" l="l"/>
            <a:pathLst>
              <a:path h="586150" w="513252">
                <a:moveTo>
                  <a:pt x="0" y="0"/>
                </a:moveTo>
                <a:lnTo>
                  <a:pt x="513252" y="0"/>
                </a:lnTo>
                <a:lnTo>
                  <a:pt x="513252" y="586150"/>
                </a:lnTo>
                <a:lnTo>
                  <a:pt x="0" y="586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74180" y="2823280"/>
            <a:ext cx="1647926" cy="4854690"/>
          </a:xfrm>
          <a:custGeom>
            <a:avLst/>
            <a:gdLst/>
            <a:ahLst/>
            <a:cxnLst/>
            <a:rect r="r" b="b" t="t" l="l"/>
            <a:pathLst>
              <a:path h="4854690" w="1647926">
                <a:moveTo>
                  <a:pt x="0" y="0"/>
                </a:moveTo>
                <a:lnTo>
                  <a:pt x="1647926" y="0"/>
                </a:lnTo>
                <a:lnTo>
                  <a:pt x="1647926" y="4854691"/>
                </a:lnTo>
                <a:lnTo>
                  <a:pt x="0" y="48546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041874" y="2994535"/>
            <a:ext cx="4487187" cy="4487187"/>
            <a:chOff x="0" y="0"/>
            <a:chExt cx="5982916" cy="59829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82970" cy="5982970"/>
            </a:xfrm>
            <a:custGeom>
              <a:avLst/>
              <a:gdLst/>
              <a:ahLst/>
              <a:cxnLst/>
              <a:rect r="r" b="b" t="t" l="l"/>
              <a:pathLst>
                <a:path h="5982970" w="5982970">
                  <a:moveTo>
                    <a:pt x="0" y="2991485"/>
                  </a:moveTo>
                  <a:cubicBezTo>
                    <a:pt x="0" y="1339342"/>
                    <a:pt x="1339342" y="0"/>
                    <a:pt x="2991485" y="0"/>
                  </a:cubicBezTo>
                  <a:cubicBezTo>
                    <a:pt x="4643628" y="0"/>
                    <a:pt x="5982970" y="1339342"/>
                    <a:pt x="5982970" y="2991485"/>
                  </a:cubicBezTo>
                  <a:cubicBezTo>
                    <a:pt x="5982970" y="4643628"/>
                    <a:pt x="4643628" y="5982970"/>
                    <a:pt x="2991485" y="5982970"/>
                  </a:cubicBezTo>
                  <a:cubicBezTo>
                    <a:pt x="1339342" y="5982970"/>
                    <a:pt x="0" y="4643628"/>
                    <a:pt x="0" y="29914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119633" y="6033025"/>
            <a:ext cx="67437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社會分裂和偏見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19633" y="6595207"/>
            <a:ext cx="715871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595959"/>
                </a:solidFill>
                <a:latin typeface="思源宋体"/>
                <a:ea typeface="思源宋体"/>
                <a:cs typeface="思源宋体"/>
                <a:sym typeface="思源宋体"/>
              </a:rPr>
              <a:t>分析虛假資訊造成的社會分裂。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595959"/>
                </a:solidFill>
                <a:latin typeface="思源宋体"/>
                <a:ea typeface="思源宋体"/>
                <a:cs typeface="思源宋体"/>
                <a:sym typeface="思源宋体"/>
              </a:rPr>
              <a:t>助長偏見和歧視的假資訊案例。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595959"/>
                </a:solidFill>
                <a:latin typeface="思源宋体"/>
                <a:ea typeface="思源宋体"/>
                <a:cs typeface="思源宋体"/>
                <a:sym typeface="思源宋体"/>
              </a:rPr>
              <a:t>社會和解的努力和措施。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19632" y="3384180"/>
            <a:ext cx="67437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公眾信任與民主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19633" y="3946362"/>
            <a:ext cx="692936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595959"/>
                </a:solidFill>
                <a:latin typeface="思源宋体"/>
                <a:ea typeface="思源宋体"/>
                <a:cs typeface="思源宋体"/>
                <a:sym typeface="思源宋体"/>
              </a:rPr>
              <a:t>假訊息對公眾信任的影響。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595959"/>
                </a:solidFill>
                <a:latin typeface="思源宋体"/>
                <a:ea typeface="思源宋体"/>
                <a:cs typeface="思源宋体"/>
                <a:sym typeface="思源宋体"/>
              </a:rPr>
              <a:t>由於虛假資訊的傳播，民主面臨風險。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595959"/>
                </a:solidFill>
                <a:latin typeface="思源宋体"/>
                <a:ea typeface="思源宋体"/>
                <a:cs typeface="思源宋体"/>
                <a:sym typeface="思源宋体"/>
              </a:rPr>
              <a:t>恢復公眾信任的措施。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88197" y="4666629"/>
            <a:ext cx="29146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E36387"/>
                </a:solidFill>
                <a:latin typeface="思源宋体"/>
                <a:ea typeface="思源宋体"/>
                <a:cs typeface="思源宋体"/>
                <a:sym typeface="思源宋体"/>
              </a:rPr>
              <a:t>得到它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假訊息引發的社會問題</a:t>
            </a:r>
          </a:p>
        </p:txBody>
      </p:sp>
      <p:grpSp>
        <p:nvGrpSpPr>
          <p:cNvPr name="Group 21" id="21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23" id="23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4254" y="1618754"/>
            <a:ext cx="8215779" cy="7520794"/>
          </a:xfrm>
          <a:custGeom>
            <a:avLst/>
            <a:gdLst/>
            <a:ahLst/>
            <a:cxnLst/>
            <a:rect r="r" b="b" t="t" l="l"/>
            <a:pathLst>
              <a:path h="7520794" w="8215779">
                <a:moveTo>
                  <a:pt x="0" y="0"/>
                </a:moveTo>
                <a:lnTo>
                  <a:pt x="8215778" y="0"/>
                </a:lnTo>
                <a:lnTo>
                  <a:pt x="8215778" y="7520794"/>
                </a:lnTo>
                <a:lnTo>
                  <a:pt x="0" y="752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63" t="0" r="-1076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42585" y="1507449"/>
            <a:ext cx="2909970" cy="435207"/>
          </a:xfrm>
          <a:custGeom>
            <a:avLst/>
            <a:gdLst/>
            <a:ahLst/>
            <a:cxnLst/>
            <a:rect r="r" b="b" t="t" l="l"/>
            <a:pathLst>
              <a:path h="435207" w="2909970">
                <a:moveTo>
                  <a:pt x="0" y="0"/>
                </a:moveTo>
                <a:lnTo>
                  <a:pt x="2909970" y="0"/>
                </a:lnTo>
                <a:lnTo>
                  <a:pt x="2909970" y="435207"/>
                </a:lnTo>
                <a:lnTo>
                  <a:pt x="0" y="4352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47765" y="3858231"/>
            <a:ext cx="839061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媒介素養的重要性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39634" y="8552674"/>
            <a:ext cx="1114467" cy="261264"/>
          </a:xfrm>
          <a:custGeom>
            <a:avLst/>
            <a:gdLst/>
            <a:ahLst/>
            <a:cxnLst/>
            <a:rect r="r" b="b" t="t" l="l"/>
            <a:pathLst>
              <a:path h="261264" w="1114467">
                <a:moveTo>
                  <a:pt x="0" y="0"/>
                </a:moveTo>
                <a:lnTo>
                  <a:pt x="1114467" y="0"/>
                </a:lnTo>
                <a:lnTo>
                  <a:pt x="1114467" y="261264"/>
                </a:lnTo>
                <a:lnTo>
                  <a:pt x="0" y="261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8575" y="-9525"/>
            <a:ext cx="6195528" cy="2762250"/>
          </a:xfrm>
          <a:custGeom>
            <a:avLst/>
            <a:gdLst/>
            <a:ahLst/>
            <a:cxnLst/>
            <a:rect r="r" b="b" t="t" l="l"/>
            <a:pathLst>
              <a:path h="2762250" w="6195528">
                <a:moveTo>
                  <a:pt x="0" y="0"/>
                </a:moveTo>
                <a:lnTo>
                  <a:pt x="6195528" y="0"/>
                </a:lnTo>
                <a:lnTo>
                  <a:pt x="6195528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07585" y="-9525"/>
            <a:ext cx="3689941" cy="2762250"/>
          </a:xfrm>
          <a:custGeom>
            <a:avLst/>
            <a:gdLst/>
            <a:ahLst/>
            <a:cxnLst/>
            <a:rect r="r" b="b" t="t" l="l"/>
            <a:pathLst>
              <a:path h="2762250" w="3689941">
                <a:moveTo>
                  <a:pt x="0" y="0"/>
                </a:moveTo>
                <a:lnTo>
                  <a:pt x="3689941" y="0"/>
                </a:lnTo>
                <a:lnTo>
                  <a:pt x="3689941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12041" y="1754241"/>
            <a:ext cx="2575701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40"/>
              </a:lnSpc>
              <a:spcBef>
                <a:spcPct val="0"/>
              </a:spcBef>
            </a:pPr>
            <a:r>
              <a:rPr lang="en-US" sz="13200" strike="noStrike" u="none">
                <a:solidFill>
                  <a:srgbClr val="EC8686"/>
                </a:solidFill>
                <a:latin typeface="思源宋体"/>
                <a:ea typeface="思源宋体"/>
                <a:cs typeface="思源宋体"/>
                <a:sym typeface="思源宋体"/>
              </a:rPr>
              <a:t>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110684" y="3138272"/>
            <a:ext cx="1106784" cy="388836"/>
          </a:xfrm>
          <a:custGeom>
            <a:avLst/>
            <a:gdLst/>
            <a:ahLst/>
            <a:cxnLst/>
            <a:rect r="r" b="b" t="t" l="l"/>
            <a:pathLst>
              <a:path h="388836" w="1106784">
                <a:moveTo>
                  <a:pt x="0" y="0"/>
                </a:moveTo>
                <a:lnTo>
                  <a:pt x="1106785" y="0"/>
                </a:lnTo>
                <a:lnTo>
                  <a:pt x="1106785" y="388836"/>
                </a:lnTo>
                <a:lnTo>
                  <a:pt x="0" y="3888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91038" y="6279723"/>
            <a:ext cx="57104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媒介素養的定義及其重要性。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需要資訊評估、分析和批判性思考。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媒介素養的歷史與演變。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91038" y="5863728"/>
            <a:ext cx="5710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什麼是媒介素養？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93887" y="6279723"/>
            <a:ext cx="5710399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媒介素養教育的現況與挑戰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教育環境中媒體素養的具體措施。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成功案例及其影響。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93887" y="5863728"/>
            <a:ext cx="571039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媒介素養教育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76139" y="4355337"/>
            <a:ext cx="3345896" cy="898776"/>
            <a:chOff x="0" y="0"/>
            <a:chExt cx="4461194" cy="119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61256" cy="1198372"/>
            </a:xfrm>
            <a:custGeom>
              <a:avLst/>
              <a:gdLst/>
              <a:ahLst/>
              <a:cxnLst/>
              <a:rect r="r" b="b" t="t" l="l"/>
              <a:pathLst>
                <a:path h="1198372" w="4461256">
                  <a:moveTo>
                    <a:pt x="0" y="599186"/>
                  </a:moveTo>
                  <a:cubicBezTo>
                    <a:pt x="0" y="268224"/>
                    <a:pt x="998728" y="0"/>
                    <a:pt x="2230628" y="0"/>
                  </a:cubicBezTo>
                  <a:cubicBezTo>
                    <a:pt x="3462528" y="0"/>
                    <a:pt x="4461256" y="268224"/>
                    <a:pt x="4461256" y="599186"/>
                  </a:cubicBezTo>
                  <a:cubicBezTo>
                    <a:pt x="4461256" y="930148"/>
                    <a:pt x="3462528" y="1198372"/>
                    <a:pt x="2230628" y="1198372"/>
                  </a:cubicBezTo>
                  <a:cubicBezTo>
                    <a:pt x="998728" y="1198372"/>
                    <a:pt x="0" y="930148"/>
                    <a:pt x="0" y="59918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8000"/>
                  </a:srgbClr>
                </a:gs>
                <a:gs pos="50000">
                  <a:srgbClr val="F9E0E7">
                    <a:alpha val="34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026953" y="4376510"/>
            <a:ext cx="2644268" cy="710306"/>
            <a:chOff x="0" y="0"/>
            <a:chExt cx="3525690" cy="9470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25647" cy="947039"/>
            </a:xfrm>
            <a:custGeom>
              <a:avLst/>
              <a:gdLst/>
              <a:ahLst/>
              <a:cxnLst/>
              <a:rect r="r" b="b" t="t" l="l"/>
              <a:pathLst>
                <a:path h="947039" w="3525647">
                  <a:moveTo>
                    <a:pt x="0" y="473583"/>
                  </a:moveTo>
                  <a:cubicBezTo>
                    <a:pt x="0" y="211963"/>
                    <a:pt x="789305" y="0"/>
                    <a:pt x="1762887" y="0"/>
                  </a:cubicBezTo>
                  <a:cubicBezTo>
                    <a:pt x="2736469" y="0"/>
                    <a:pt x="3525647" y="211963"/>
                    <a:pt x="3525647" y="473583"/>
                  </a:cubicBezTo>
                  <a:cubicBezTo>
                    <a:pt x="3525647" y="735203"/>
                    <a:pt x="2736469" y="947039"/>
                    <a:pt x="1762887" y="947039"/>
                  </a:cubicBezTo>
                  <a:cubicBezTo>
                    <a:pt x="789305" y="947039"/>
                    <a:pt x="0" y="735076"/>
                    <a:pt x="0" y="47358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EA1B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1466392" y="2488461"/>
            <a:ext cx="1765391" cy="1765389"/>
            <a:chOff x="0" y="0"/>
            <a:chExt cx="2353854" cy="23538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3818" cy="2353818"/>
            </a:xfrm>
            <a:custGeom>
              <a:avLst/>
              <a:gdLst/>
              <a:ahLst/>
              <a:cxnLst/>
              <a:rect r="r" b="b" t="t" l="l"/>
              <a:pathLst>
                <a:path h="2353818" w="2353818">
                  <a:moveTo>
                    <a:pt x="0" y="107315"/>
                  </a:moveTo>
                  <a:cubicBezTo>
                    <a:pt x="0" y="48006"/>
                    <a:pt x="48006" y="0"/>
                    <a:pt x="107315" y="0"/>
                  </a:cubicBezTo>
                  <a:lnTo>
                    <a:pt x="2246503" y="0"/>
                  </a:lnTo>
                  <a:cubicBezTo>
                    <a:pt x="2305812" y="0"/>
                    <a:pt x="2353818" y="48006"/>
                    <a:pt x="2353818" y="107315"/>
                  </a:cubicBezTo>
                  <a:lnTo>
                    <a:pt x="2353818" y="2246503"/>
                  </a:lnTo>
                  <a:cubicBezTo>
                    <a:pt x="2353818" y="2305812"/>
                    <a:pt x="2305812" y="2353818"/>
                    <a:pt x="2246503" y="2353818"/>
                  </a:cubicBezTo>
                  <a:lnTo>
                    <a:pt x="107315" y="2353818"/>
                  </a:lnTo>
                  <a:cubicBezTo>
                    <a:pt x="48006" y="2353818"/>
                    <a:pt x="0" y="2305812"/>
                    <a:pt x="0" y="2246503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73290" y="4355337"/>
            <a:ext cx="3345896" cy="898776"/>
            <a:chOff x="0" y="0"/>
            <a:chExt cx="4461194" cy="1198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61256" cy="1198372"/>
            </a:xfrm>
            <a:custGeom>
              <a:avLst/>
              <a:gdLst/>
              <a:ahLst/>
              <a:cxnLst/>
              <a:rect r="r" b="b" t="t" l="l"/>
              <a:pathLst>
                <a:path h="1198372" w="4461256">
                  <a:moveTo>
                    <a:pt x="0" y="599186"/>
                  </a:moveTo>
                  <a:cubicBezTo>
                    <a:pt x="0" y="268224"/>
                    <a:pt x="998728" y="0"/>
                    <a:pt x="2230628" y="0"/>
                  </a:cubicBezTo>
                  <a:cubicBezTo>
                    <a:pt x="3462528" y="0"/>
                    <a:pt x="4461256" y="268224"/>
                    <a:pt x="4461256" y="599186"/>
                  </a:cubicBezTo>
                  <a:cubicBezTo>
                    <a:pt x="4461256" y="930148"/>
                    <a:pt x="3462528" y="1198372"/>
                    <a:pt x="2230628" y="1198372"/>
                  </a:cubicBezTo>
                  <a:cubicBezTo>
                    <a:pt x="998728" y="1198372"/>
                    <a:pt x="0" y="930148"/>
                    <a:pt x="0" y="59918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8000"/>
                  </a:srgbClr>
                </a:gs>
                <a:gs pos="50000">
                  <a:srgbClr val="F9E0E7">
                    <a:alpha val="34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624104" y="4376512"/>
            <a:ext cx="2644267" cy="710306"/>
            <a:chOff x="0" y="0"/>
            <a:chExt cx="3525690" cy="947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25647" cy="947039"/>
            </a:xfrm>
            <a:custGeom>
              <a:avLst/>
              <a:gdLst/>
              <a:ahLst/>
              <a:cxnLst/>
              <a:rect r="r" b="b" t="t" l="l"/>
              <a:pathLst>
                <a:path h="947039" w="3525647">
                  <a:moveTo>
                    <a:pt x="0" y="473583"/>
                  </a:moveTo>
                  <a:cubicBezTo>
                    <a:pt x="0" y="211963"/>
                    <a:pt x="789305" y="0"/>
                    <a:pt x="1762887" y="0"/>
                  </a:cubicBezTo>
                  <a:cubicBezTo>
                    <a:pt x="2736469" y="0"/>
                    <a:pt x="3525647" y="211963"/>
                    <a:pt x="3525647" y="473583"/>
                  </a:cubicBezTo>
                  <a:cubicBezTo>
                    <a:pt x="3525647" y="735203"/>
                    <a:pt x="2736469" y="947039"/>
                    <a:pt x="1762887" y="947039"/>
                  </a:cubicBezTo>
                  <a:cubicBezTo>
                    <a:pt x="789305" y="947039"/>
                    <a:pt x="0" y="735076"/>
                    <a:pt x="0" y="47358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EA1B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5063542" y="2488461"/>
            <a:ext cx="1765391" cy="1765389"/>
            <a:chOff x="0" y="0"/>
            <a:chExt cx="2353854" cy="23538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53818" cy="2353818"/>
            </a:xfrm>
            <a:custGeom>
              <a:avLst/>
              <a:gdLst/>
              <a:ahLst/>
              <a:cxnLst/>
              <a:rect r="r" b="b" t="t" l="l"/>
              <a:pathLst>
                <a:path h="2353818" w="2353818">
                  <a:moveTo>
                    <a:pt x="0" y="107315"/>
                  </a:moveTo>
                  <a:cubicBezTo>
                    <a:pt x="0" y="48006"/>
                    <a:pt x="48006" y="0"/>
                    <a:pt x="107315" y="0"/>
                  </a:cubicBezTo>
                  <a:lnTo>
                    <a:pt x="2246503" y="0"/>
                  </a:lnTo>
                  <a:cubicBezTo>
                    <a:pt x="2305812" y="0"/>
                    <a:pt x="2353818" y="48006"/>
                    <a:pt x="2353818" y="107315"/>
                  </a:cubicBezTo>
                  <a:lnTo>
                    <a:pt x="2353818" y="2246503"/>
                  </a:lnTo>
                  <a:cubicBezTo>
                    <a:pt x="2353818" y="2305812"/>
                    <a:pt x="2305812" y="2353818"/>
                    <a:pt x="2246503" y="2353818"/>
                  </a:cubicBezTo>
                  <a:lnTo>
                    <a:pt x="107315" y="2353818"/>
                  </a:lnTo>
                  <a:cubicBezTo>
                    <a:pt x="48006" y="2353818"/>
                    <a:pt x="0" y="2305812"/>
                    <a:pt x="0" y="2246503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4857022" y="2247558"/>
            <a:ext cx="2231634" cy="2231631"/>
          </a:xfrm>
          <a:custGeom>
            <a:avLst/>
            <a:gdLst/>
            <a:ahLst/>
            <a:cxnLst/>
            <a:rect r="r" b="b" t="t" l="l"/>
            <a:pathLst>
              <a:path h="2231631" w="2231634">
                <a:moveTo>
                  <a:pt x="0" y="0"/>
                </a:moveTo>
                <a:lnTo>
                  <a:pt x="2231634" y="0"/>
                </a:lnTo>
                <a:lnTo>
                  <a:pt x="2231634" y="2231631"/>
                </a:lnTo>
                <a:lnTo>
                  <a:pt x="0" y="2231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462" t="0" r="-46108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224214" y="2247558"/>
            <a:ext cx="2231634" cy="2231631"/>
          </a:xfrm>
          <a:custGeom>
            <a:avLst/>
            <a:gdLst/>
            <a:ahLst/>
            <a:cxnLst/>
            <a:rect r="r" b="b" t="t" l="l"/>
            <a:pathLst>
              <a:path h="2231631" w="2231634">
                <a:moveTo>
                  <a:pt x="0" y="0"/>
                </a:moveTo>
                <a:lnTo>
                  <a:pt x="2231633" y="0"/>
                </a:lnTo>
                <a:lnTo>
                  <a:pt x="2231633" y="2231631"/>
                </a:lnTo>
                <a:lnTo>
                  <a:pt x="0" y="2231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706" t="0" r="-48724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媒介素養基礎知識</a:t>
            </a:r>
          </a:p>
        </p:txBody>
      </p:sp>
      <p:grpSp>
        <p:nvGrpSpPr>
          <p:cNvPr name="Group 23" id="23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25" id="25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62663" y="3472553"/>
            <a:ext cx="7593337" cy="843337"/>
            <a:chOff x="0" y="0"/>
            <a:chExt cx="10124450" cy="1124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2225" y="22225"/>
              <a:ext cx="10080117" cy="1080008"/>
            </a:xfrm>
            <a:custGeom>
              <a:avLst/>
              <a:gdLst/>
              <a:ahLst/>
              <a:cxnLst/>
              <a:rect r="r" b="b" t="t" l="l"/>
              <a:pathLst>
                <a:path h="1080008" w="10080117">
                  <a:moveTo>
                    <a:pt x="0" y="540004"/>
                  </a:moveTo>
                  <a:cubicBezTo>
                    <a:pt x="0" y="241808"/>
                    <a:pt x="250571" y="0"/>
                    <a:pt x="559816" y="0"/>
                  </a:cubicBezTo>
                  <a:lnTo>
                    <a:pt x="9520301" y="0"/>
                  </a:lnTo>
                  <a:cubicBezTo>
                    <a:pt x="9829419" y="0"/>
                    <a:pt x="10080117" y="241808"/>
                    <a:pt x="10080117" y="540004"/>
                  </a:cubicBezTo>
                  <a:cubicBezTo>
                    <a:pt x="10080117" y="838200"/>
                    <a:pt x="9829546" y="1080008"/>
                    <a:pt x="9520301" y="1080008"/>
                  </a:cubicBezTo>
                  <a:lnTo>
                    <a:pt x="559816" y="1080008"/>
                  </a:lnTo>
                  <a:cubicBezTo>
                    <a:pt x="250698" y="1080008"/>
                    <a:pt x="0" y="838200"/>
                    <a:pt x="0" y="54000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C8686">
                    <a:alpha val="100000"/>
                  </a:srgbClr>
                </a:gs>
                <a:gs pos="100000">
                  <a:srgbClr val="EC868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24567" cy="1124458"/>
            </a:xfrm>
            <a:custGeom>
              <a:avLst/>
              <a:gdLst/>
              <a:ahLst/>
              <a:cxnLst/>
              <a:rect r="r" b="b" t="t" l="l"/>
              <a:pathLst>
                <a:path h="1124458" w="10124567">
                  <a:moveTo>
                    <a:pt x="0" y="562229"/>
                  </a:moveTo>
                  <a:cubicBezTo>
                    <a:pt x="0" y="250952"/>
                    <a:pt x="261366" y="0"/>
                    <a:pt x="582041" y="0"/>
                  </a:cubicBezTo>
                  <a:lnTo>
                    <a:pt x="9542526" y="0"/>
                  </a:lnTo>
                  <a:lnTo>
                    <a:pt x="9542526" y="22225"/>
                  </a:lnTo>
                  <a:lnTo>
                    <a:pt x="9542526" y="0"/>
                  </a:lnTo>
                  <a:cubicBezTo>
                    <a:pt x="9863201" y="0"/>
                    <a:pt x="10124567" y="250952"/>
                    <a:pt x="10124567" y="562229"/>
                  </a:cubicBezTo>
                  <a:lnTo>
                    <a:pt x="10102342" y="562229"/>
                  </a:lnTo>
                  <a:lnTo>
                    <a:pt x="10124567" y="562229"/>
                  </a:lnTo>
                  <a:lnTo>
                    <a:pt x="10102342" y="562229"/>
                  </a:lnTo>
                  <a:lnTo>
                    <a:pt x="10124567" y="562229"/>
                  </a:lnTo>
                  <a:cubicBezTo>
                    <a:pt x="10124567" y="873506"/>
                    <a:pt x="9863201" y="1124458"/>
                    <a:pt x="9542526" y="1124458"/>
                  </a:cubicBezTo>
                  <a:lnTo>
                    <a:pt x="9542526" y="1102233"/>
                  </a:lnTo>
                  <a:lnTo>
                    <a:pt x="9542526" y="1124458"/>
                  </a:lnTo>
                  <a:lnTo>
                    <a:pt x="582041" y="1124458"/>
                  </a:lnTo>
                  <a:lnTo>
                    <a:pt x="582041" y="1102233"/>
                  </a:lnTo>
                  <a:lnTo>
                    <a:pt x="582041" y="1124458"/>
                  </a:lnTo>
                  <a:cubicBezTo>
                    <a:pt x="261366" y="1124458"/>
                    <a:pt x="0" y="873506"/>
                    <a:pt x="0" y="562229"/>
                  </a:cubicBezTo>
                  <a:lnTo>
                    <a:pt x="22225" y="562229"/>
                  </a:lnTo>
                  <a:lnTo>
                    <a:pt x="0" y="562229"/>
                  </a:lnTo>
                  <a:moveTo>
                    <a:pt x="44450" y="562229"/>
                  </a:moveTo>
                  <a:lnTo>
                    <a:pt x="22225" y="562229"/>
                  </a:lnTo>
                  <a:lnTo>
                    <a:pt x="44450" y="562229"/>
                  </a:lnTo>
                  <a:cubicBezTo>
                    <a:pt x="44450" y="847471"/>
                    <a:pt x="284353" y="1080008"/>
                    <a:pt x="582041" y="1080008"/>
                  </a:cubicBezTo>
                  <a:lnTo>
                    <a:pt x="9542526" y="1080008"/>
                  </a:lnTo>
                  <a:cubicBezTo>
                    <a:pt x="9840214" y="1080008"/>
                    <a:pt x="10080117" y="847471"/>
                    <a:pt x="10080117" y="562229"/>
                  </a:cubicBezTo>
                  <a:cubicBezTo>
                    <a:pt x="10080117" y="276987"/>
                    <a:pt x="9840087" y="44450"/>
                    <a:pt x="9542526" y="44450"/>
                  </a:cubicBezTo>
                  <a:lnTo>
                    <a:pt x="582041" y="44450"/>
                  </a:lnTo>
                  <a:lnTo>
                    <a:pt x="582041" y="22225"/>
                  </a:lnTo>
                  <a:lnTo>
                    <a:pt x="582041" y="44450"/>
                  </a:lnTo>
                  <a:cubicBezTo>
                    <a:pt x="284353" y="44450"/>
                    <a:pt x="44450" y="276987"/>
                    <a:pt x="44450" y="56222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12949" y="3472553"/>
            <a:ext cx="7593337" cy="843337"/>
            <a:chOff x="0" y="0"/>
            <a:chExt cx="10124450" cy="1124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2225" y="22225"/>
              <a:ext cx="10080117" cy="1080008"/>
            </a:xfrm>
            <a:custGeom>
              <a:avLst/>
              <a:gdLst/>
              <a:ahLst/>
              <a:cxnLst/>
              <a:rect r="r" b="b" t="t" l="l"/>
              <a:pathLst>
                <a:path h="1080008" w="10080117">
                  <a:moveTo>
                    <a:pt x="0" y="540004"/>
                  </a:moveTo>
                  <a:cubicBezTo>
                    <a:pt x="0" y="241808"/>
                    <a:pt x="250571" y="0"/>
                    <a:pt x="559816" y="0"/>
                  </a:cubicBezTo>
                  <a:lnTo>
                    <a:pt x="9520301" y="0"/>
                  </a:lnTo>
                  <a:cubicBezTo>
                    <a:pt x="9829419" y="0"/>
                    <a:pt x="10080117" y="241808"/>
                    <a:pt x="10080117" y="540004"/>
                  </a:cubicBezTo>
                  <a:cubicBezTo>
                    <a:pt x="10080117" y="838200"/>
                    <a:pt x="9829546" y="1080008"/>
                    <a:pt x="9520301" y="1080008"/>
                  </a:cubicBezTo>
                  <a:lnTo>
                    <a:pt x="559816" y="1080008"/>
                  </a:lnTo>
                  <a:cubicBezTo>
                    <a:pt x="250698" y="1080008"/>
                    <a:pt x="0" y="838200"/>
                    <a:pt x="0" y="54000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E3638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24567" cy="1124458"/>
            </a:xfrm>
            <a:custGeom>
              <a:avLst/>
              <a:gdLst/>
              <a:ahLst/>
              <a:cxnLst/>
              <a:rect r="r" b="b" t="t" l="l"/>
              <a:pathLst>
                <a:path h="1124458" w="10124567">
                  <a:moveTo>
                    <a:pt x="0" y="562229"/>
                  </a:moveTo>
                  <a:cubicBezTo>
                    <a:pt x="0" y="250952"/>
                    <a:pt x="261366" y="0"/>
                    <a:pt x="582041" y="0"/>
                  </a:cubicBezTo>
                  <a:lnTo>
                    <a:pt x="9542526" y="0"/>
                  </a:lnTo>
                  <a:lnTo>
                    <a:pt x="9542526" y="22225"/>
                  </a:lnTo>
                  <a:lnTo>
                    <a:pt x="9542526" y="0"/>
                  </a:lnTo>
                  <a:cubicBezTo>
                    <a:pt x="9863201" y="0"/>
                    <a:pt x="10124567" y="250952"/>
                    <a:pt x="10124567" y="562229"/>
                  </a:cubicBezTo>
                  <a:lnTo>
                    <a:pt x="10102342" y="562229"/>
                  </a:lnTo>
                  <a:lnTo>
                    <a:pt x="10124567" y="562229"/>
                  </a:lnTo>
                  <a:lnTo>
                    <a:pt x="10102342" y="562229"/>
                  </a:lnTo>
                  <a:lnTo>
                    <a:pt x="10124567" y="562229"/>
                  </a:lnTo>
                  <a:cubicBezTo>
                    <a:pt x="10124567" y="873506"/>
                    <a:pt x="9863201" y="1124458"/>
                    <a:pt x="9542526" y="1124458"/>
                  </a:cubicBezTo>
                  <a:lnTo>
                    <a:pt x="9542526" y="1102233"/>
                  </a:lnTo>
                  <a:lnTo>
                    <a:pt x="9542526" y="1124458"/>
                  </a:lnTo>
                  <a:lnTo>
                    <a:pt x="582041" y="1124458"/>
                  </a:lnTo>
                  <a:lnTo>
                    <a:pt x="582041" y="1102233"/>
                  </a:lnTo>
                  <a:lnTo>
                    <a:pt x="582041" y="1124458"/>
                  </a:lnTo>
                  <a:cubicBezTo>
                    <a:pt x="261366" y="1124458"/>
                    <a:pt x="0" y="873506"/>
                    <a:pt x="0" y="562229"/>
                  </a:cubicBezTo>
                  <a:lnTo>
                    <a:pt x="22225" y="562229"/>
                  </a:lnTo>
                  <a:lnTo>
                    <a:pt x="0" y="562229"/>
                  </a:lnTo>
                  <a:moveTo>
                    <a:pt x="44450" y="562229"/>
                  </a:moveTo>
                  <a:lnTo>
                    <a:pt x="22225" y="562229"/>
                  </a:lnTo>
                  <a:lnTo>
                    <a:pt x="44450" y="562229"/>
                  </a:lnTo>
                  <a:cubicBezTo>
                    <a:pt x="44450" y="847471"/>
                    <a:pt x="284353" y="1080008"/>
                    <a:pt x="582041" y="1080008"/>
                  </a:cubicBezTo>
                  <a:lnTo>
                    <a:pt x="9542526" y="1080008"/>
                  </a:lnTo>
                  <a:cubicBezTo>
                    <a:pt x="9840214" y="1080008"/>
                    <a:pt x="10080117" y="847471"/>
                    <a:pt x="10080117" y="562229"/>
                  </a:cubicBezTo>
                  <a:cubicBezTo>
                    <a:pt x="10080117" y="276987"/>
                    <a:pt x="9840087" y="44450"/>
                    <a:pt x="9542526" y="44450"/>
                  </a:cubicBezTo>
                  <a:lnTo>
                    <a:pt x="582041" y="44450"/>
                  </a:lnTo>
                  <a:lnTo>
                    <a:pt x="582041" y="22225"/>
                  </a:lnTo>
                  <a:lnTo>
                    <a:pt x="582041" y="44450"/>
                  </a:lnTo>
                  <a:cubicBezTo>
                    <a:pt x="284353" y="44450"/>
                    <a:pt x="44450" y="276987"/>
                    <a:pt x="44450" y="56222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34618" y="4631181"/>
            <a:ext cx="67500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如何區分可靠的資訊來源和不可靠的資訊來源。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公共媒體和專家意見的可信度。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資訊來源評價標準。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618" y="3713247"/>
            <a:ext cx="6750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辨識可信任來源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84334" y="4631181"/>
            <a:ext cx="67500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數據的可靠性以及如何檢查它。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如何解釋和利用統計資料。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避免數據誤用和誤解的要點。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4334" y="3713247"/>
            <a:ext cx="6750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驗證數據和統計數據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資訊評估與批判性思維</a:t>
            </a: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17" id="17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21305" y="6593811"/>
            <a:ext cx="6204778" cy="646737"/>
            <a:chOff x="0" y="0"/>
            <a:chExt cx="8273038" cy="8623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73034" cy="862330"/>
            </a:xfrm>
            <a:custGeom>
              <a:avLst/>
              <a:gdLst/>
              <a:ahLst/>
              <a:cxnLst/>
              <a:rect r="r" b="b" t="t" l="l"/>
              <a:pathLst>
                <a:path h="862330" w="8273034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7841869" y="0"/>
                  </a:lnTo>
                  <a:cubicBezTo>
                    <a:pt x="8079994" y="0"/>
                    <a:pt x="8273034" y="193040"/>
                    <a:pt x="8273034" y="431165"/>
                  </a:cubicBezTo>
                  <a:cubicBezTo>
                    <a:pt x="8273034" y="669290"/>
                    <a:pt x="8079994" y="862330"/>
                    <a:pt x="7841869" y="862330"/>
                  </a:cubicBezTo>
                  <a:lnTo>
                    <a:pt x="431165" y="862330"/>
                  </a:lnTo>
                  <a:cubicBezTo>
                    <a:pt x="193040" y="862330"/>
                    <a:pt x="0" y="669290"/>
                    <a:pt x="0" y="43116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14676" y="6567888"/>
            <a:ext cx="1963968" cy="886054"/>
            <a:chOff x="0" y="0"/>
            <a:chExt cx="2618624" cy="11814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18613" cy="1181372"/>
            </a:xfrm>
            <a:custGeom>
              <a:avLst/>
              <a:gdLst/>
              <a:ahLst/>
              <a:cxnLst/>
              <a:rect r="r" b="b" t="t" l="l"/>
              <a:pathLst>
                <a:path h="1181372" w="2618613">
                  <a:moveTo>
                    <a:pt x="0" y="590686"/>
                  </a:moveTo>
                  <a:cubicBezTo>
                    <a:pt x="0" y="264496"/>
                    <a:pt x="208534" y="0"/>
                    <a:pt x="465709" y="0"/>
                  </a:cubicBezTo>
                  <a:lnTo>
                    <a:pt x="2152904" y="0"/>
                  </a:lnTo>
                  <a:cubicBezTo>
                    <a:pt x="2410079" y="0"/>
                    <a:pt x="2618613" y="264496"/>
                    <a:pt x="2618613" y="590686"/>
                  </a:cubicBezTo>
                  <a:cubicBezTo>
                    <a:pt x="2618613" y="916876"/>
                    <a:pt x="2410079" y="1181372"/>
                    <a:pt x="2152904" y="1181372"/>
                  </a:cubicBezTo>
                  <a:lnTo>
                    <a:pt x="465709" y="1181372"/>
                  </a:lnTo>
                  <a:cubicBezTo>
                    <a:pt x="208534" y="1181372"/>
                    <a:pt x="0" y="916876"/>
                    <a:pt x="0" y="59068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E77A9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2618624" cy="1171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第 01 部分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760584" y="6736204"/>
            <a:ext cx="475857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語言和框架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0329" y="7600547"/>
            <a:ext cx="655886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語言選擇及其對報告的影響。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框架理論及其應用。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如何解讀語言背後的意圖。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14676" y="2256256"/>
            <a:ext cx="7158838" cy="3936600"/>
            <a:chOff x="0" y="0"/>
            <a:chExt cx="9545118" cy="524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45066" cy="5248783"/>
            </a:xfrm>
            <a:custGeom>
              <a:avLst/>
              <a:gdLst/>
              <a:ahLst/>
              <a:cxnLst/>
              <a:rect r="r" b="b" t="t" l="l"/>
              <a:pathLst>
                <a:path h="5248783" w="9545066">
                  <a:moveTo>
                    <a:pt x="0" y="209931"/>
                  </a:moveTo>
                  <a:cubicBezTo>
                    <a:pt x="0" y="93980"/>
                    <a:pt x="93980" y="0"/>
                    <a:pt x="209931" y="0"/>
                  </a:cubicBezTo>
                  <a:lnTo>
                    <a:pt x="9335135" y="0"/>
                  </a:lnTo>
                  <a:cubicBezTo>
                    <a:pt x="9451086" y="0"/>
                    <a:pt x="9545066" y="93980"/>
                    <a:pt x="9545066" y="209931"/>
                  </a:cubicBezTo>
                  <a:lnTo>
                    <a:pt x="9545066" y="5038852"/>
                  </a:lnTo>
                  <a:cubicBezTo>
                    <a:pt x="9545066" y="5154803"/>
                    <a:pt x="9451086" y="5248783"/>
                    <a:pt x="9335135" y="5248783"/>
                  </a:cubicBezTo>
                  <a:lnTo>
                    <a:pt x="209931" y="5248783"/>
                  </a:lnTo>
                  <a:cubicBezTo>
                    <a:pt x="93980" y="5248783"/>
                    <a:pt x="0" y="5154803"/>
                    <a:pt x="0" y="5038852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06292" y="2086419"/>
            <a:ext cx="7158838" cy="3936600"/>
            <a:chOff x="0" y="0"/>
            <a:chExt cx="9545118" cy="524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45066" cy="5248783"/>
            </a:xfrm>
            <a:custGeom>
              <a:avLst/>
              <a:gdLst/>
              <a:ahLst/>
              <a:cxnLst/>
              <a:rect r="r" b="b" t="t" l="l"/>
              <a:pathLst>
                <a:path h="5248783" w="9545066">
                  <a:moveTo>
                    <a:pt x="0" y="209931"/>
                  </a:moveTo>
                  <a:cubicBezTo>
                    <a:pt x="0" y="93980"/>
                    <a:pt x="93980" y="0"/>
                    <a:pt x="209931" y="0"/>
                  </a:cubicBezTo>
                  <a:lnTo>
                    <a:pt x="9335135" y="0"/>
                  </a:lnTo>
                  <a:cubicBezTo>
                    <a:pt x="9451086" y="0"/>
                    <a:pt x="9545066" y="93980"/>
                    <a:pt x="9545066" y="209931"/>
                  </a:cubicBezTo>
                  <a:lnTo>
                    <a:pt x="9545066" y="5038852"/>
                  </a:lnTo>
                  <a:cubicBezTo>
                    <a:pt x="9545066" y="5154803"/>
                    <a:pt x="9451086" y="5248783"/>
                    <a:pt x="9335135" y="5248783"/>
                  </a:cubicBezTo>
                  <a:lnTo>
                    <a:pt x="209931" y="5248783"/>
                  </a:lnTo>
                  <a:cubicBezTo>
                    <a:pt x="93980" y="5248783"/>
                    <a:pt x="0" y="5154803"/>
                    <a:pt x="0" y="5038852"/>
                  </a:cubicBezTo>
                  <a:close/>
                </a:path>
              </a:pathLst>
            </a:custGeom>
            <a:blipFill>
              <a:blip r:embed="rId2"/>
              <a:stretch>
                <a:fillRect l="0" t="-958" r="0" b="-95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857881" y="6593811"/>
            <a:ext cx="6204777" cy="646737"/>
            <a:chOff x="0" y="0"/>
            <a:chExt cx="8273036" cy="8623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73034" cy="862330"/>
            </a:xfrm>
            <a:custGeom>
              <a:avLst/>
              <a:gdLst/>
              <a:ahLst/>
              <a:cxnLst/>
              <a:rect r="r" b="b" t="t" l="l"/>
              <a:pathLst>
                <a:path h="862330" w="8273034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7841869" y="0"/>
                  </a:lnTo>
                  <a:cubicBezTo>
                    <a:pt x="8079994" y="0"/>
                    <a:pt x="8273034" y="193040"/>
                    <a:pt x="8273034" y="431165"/>
                  </a:cubicBezTo>
                  <a:cubicBezTo>
                    <a:pt x="8273034" y="669290"/>
                    <a:pt x="8079994" y="862330"/>
                    <a:pt x="7841869" y="862330"/>
                  </a:cubicBezTo>
                  <a:lnTo>
                    <a:pt x="431165" y="862330"/>
                  </a:lnTo>
                  <a:cubicBezTo>
                    <a:pt x="193040" y="862330"/>
                    <a:pt x="0" y="669290"/>
                    <a:pt x="0" y="43116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51252" y="6567888"/>
            <a:ext cx="1963968" cy="886054"/>
            <a:chOff x="0" y="0"/>
            <a:chExt cx="2618624" cy="11814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18613" cy="1181372"/>
            </a:xfrm>
            <a:custGeom>
              <a:avLst/>
              <a:gdLst/>
              <a:ahLst/>
              <a:cxnLst/>
              <a:rect r="r" b="b" t="t" l="l"/>
              <a:pathLst>
                <a:path h="1181372" w="2618613">
                  <a:moveTo>
                    <a:pt x="0" y="590686"/>
                  </a:moveTo>
                  <a:cubicBezTo>
                    <a:pt x="0" y="264496"/>
                    <a:pt x="208534" y="0"/>
                    <a:pt x="465709" y="0"/>
                  </a:cubicBezTo>
                  <a:lnTo>
                    <a:pt x="2152904" y="0"/>
                  </a:lnTo>
                  <a:cubicBezTo>
                    <a:pt x="2410079" y="0"/>
                    <a:pt x="2618613" y="264496"/>
                    <a:pt x="2618613" y="590686"/>
                  </a:cubicBezTo>
                  <a:cubicBezTo>
                    <a:pt x="2618613" y="916876"/>
                    <a:pt x="2410079" y="1181372"/>
                    <a:pt x="2152904" y="1181372"/>
                  </a:cubicBezTo>
                  <a:lnTo>
                    <a:pt x="465709" y="1181372"/>
                  </a:lnTo>
                  <a:cubicBezTo>
                    <a:pt x="208534" y="1181372"/>
                    <a:pt x="0" y="916876"/>
                    <a:pt x="0" y="59068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E77A9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618624" cy="1171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第02部分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097158" y="6736204"/>
            <a:ext cx="476590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發現並消除偏見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6903" y="7600547"/>
            <a:ext cx="655886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媒體偏見及其影響。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如何發現偏見和例子。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消除偏見的方法。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03819" y="2256256"/>
            <a:ext cx="7158838" cy="3936600"/>
            <a:chOff x="0" y="0"/>
            <a:chExt cx="9545118" cy="524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45066" cy="5248783"/>
            </a:xfrm>
            <a:custGeom>
              <a:avLst/>
              <a:gdLst/>
              <a:ahLst/>
              <a:cxnLst/>
              <a:rect r="r" b="b" t="t" l="l"/>
              <a:pathLst>
                <a:path h="5248783" w="9545066">
                  <a:moveTo>
                    <a:pt x="0" y="209931"/>
                  </a:moveTo>
                  <a:cubicBezTo>
                    <a:pt x="0" y="93980"/>
                    <a:pt x="93980" y="0"/>
                    <a:pt x="209931" y="0"/>
                  </a:cubicBezTo>
                  <a:lnTo>
                    <a:pt x="9335135" y="0"/>
                  </a:lnTo>
                  <a:cubicBezTo>
                    <a:pt x="9451086" y="0"/>
                    <a:pt x="9545066" y="93980"/>
                    <a:pt x="9545066" y="209931"/>
                  </a:cubicBezTo>
                  <a:lnTo>
                    <a:pt x="9545066" y="5038852"/>
                  </a:lnTo>
                  <a:cubicBezTo>
                    <a:pt x="9545066" y="5154803"/>
                    <a:pt x="9451086" y="5248783"/>
                    <a:pt x="9335135" y="5248783"/>
                  </a:cubicBezTo>
                  <a:lnTo>
                    <a:pt x="209931" y="5248783"/>
                  </a:lnTo>
                  <a:cubicBezTo>
                    <a:pt x="93980" y="5248783"/>
                    <a:pt x="0" y="5154803"/>
                    <a:pt x="0" y="5038852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95436" y="2086419"/>
            <a:ext cx="7158838" cy="3936600"/>
            <a:chOff x="0" y="0"/>
            <a:chExt cx="9545118" cy="524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45066" cy="5248783"/>
            </a:xfrm>
            <a:custGeom>
              <a:avLst/>
              <a:gdLst/>
              <a:ahLst/>
              <a:cxnLst/>
              <a:rect r="r" b="b" t="t" l="l"/>
              <a:pathLst>
                <a:path h="5248783" w="9545066">
                  <a:moveTo>
                    <a:pt x="0" y="209931"/>
                  </a:moveTo>
                  <a:cubicBezTo>
                    <a:pt x="0" y="93980"/>
                    <a:pt x="93980" y="0"/>
                    <a:pt x="209931" y="0"/>
                  </a:cubicBezTo>
                  <a:lnTo>
                    <a:pt x="9335135" y="0"/>
                  </a:lnTo>
                  <a:cubicBezTo>
                    <a:pt x="9451086" y="0"/>
                    <a:pt x="9545066" y="93980"/>
                    <a:pt x="9545066" y="209931"/>
                  </a:cubicBezTo>
                  <a:lnTo>
                    <a:pt x="9545066" y="5038852"/>
                  </a:lnTo>
                  <a:cubicBezTo>
                    <a:pt x="9545066" y="5154803"/>
                    <a:pt x="9451086" y="5248783"/>
                    <a:pt x="9335135" y="5248783"/>
                  </a:cubicBezTo>
                  <a:lnTo>
                    <a:pt x="209931" y="5248783"/>
                  </a:lnTo>
                  <a:cubicBezTo>
                    <a:pt x="93980" y="5248783"/>
                    <a:pt x="0" y="5154803"/>
                    <a:pt x="0" y="5038852"/>
                  </a:cubicBezTo>
                  <a:close/>
                </a:path>
              </a:pathLst>
            </a:custGeom>
            <a:blipFill>
              <a:blip r:embed="rId3"/>
              <a:stretch>
                <a:fillRect l="0" t="-896" r="0" b="-89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敘述背景和偏見</a:t>
            </a:r>
          </a:p>
        </p:txBody>
      </p:sp>
      <p:grpSp>
        <p:nvGrpSpPr>
          <p:cNvPr name="Group 27" id="27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29" id="29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4254" y="1618754"/>
            <a:ext cx="8215779" cy="7520794"/>
          </a:xfrm>
          <a:custGeom>
            <a:avLst/>
            <a:gdLst/>
            <a:ahLst/>
            <a:cxnLst/>
            <a:rect r="r" b="b" t="t" l="l"/>
            <a:pathLst>
              <a:path h="7520794" w="8215779">
                <a:moveTo>
                  <a:pt x="0" y="0"/>
                </a:moveTo>
                <a:lnTo>
                  <a:pt x="8215778" y="0"/>
                </a:lnTo>
                <a:lnTo>
                  <a:pt x="8215778" y="7520794"/>
                </a:lnTo>
                <a:lnTo>
                  <a:pt x="0" y="752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63" t="0" r="-1076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42585" y="1507449"/>
            <a:ext cx="2909970" cy="435207"/>
          </a:xfrm>
          <a:custGeom>
            <a:avLst/>
            <a:gdLst/>
            <a:ahLst/>
            <a:cxnLst/>
            <a:rect r="r" b="b" t="t" l="l"/>
            <a:pathLst>
              <a:path h="435207" w="2909970">
                <a:moveTo>
                  <a:pt x="0" y="0"/>
                </a:moveTo>
                <a:lnTo>
                  <a:pt x="2909970" y="0"/>
                </a:lnTo>
                <a:lnTo>
                  <a:pt x="2909970" y="435207"/>
                </a:lnTo>
                <a:lnTo>
                  <a:pt x="0" y="4352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47765" y="3858231"/>
            <a:ext cx="839061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提高媒體素養的舉措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39634" y="8552674"/>
            <a:ext cx="1114467" cy="261264"/>
          </a:xfrm>
          <a:custGeom>
            <a:avLst/>
            <a:gdLst/>
            <a:ahLst/>
            <a:cxnLst/>
            <a:rect r="r" b="b" t="t" l="l"/>
            <a:pathLst>
              <a:path h="261264" w="1114467">
                <a:moveTo>
                  <a:pt x="0" y="0"/>
                </a:moveTo>
                <a:lnTo>
                  <a:pt x="1114467" y="0"/>
                </a:lnTo>
                <a:lnTo>
                  <a:pt x="1114467" y="261264"/>
                </a:lnTo>
                <a:lnTo>
                  <a:pt x="0" y="261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8575" y="-9525"/>
            <a:ext cx="6195528" cy="2762250"/>
          </a:xfrm>
          <a:custGeom>
            <a:avLst/>
            <a:gdLst/>
            <a:ahLst/>
            <a:cxnLst/>
            <a:rect r="r" b="b" t="t" l="l"/>
            <a:pathLst>
              <a:path h="2762250" w="6195528">
                <a:moveTo>
                  <a:pt x="0" y="0"/>
                </a:moveTo>
                <a:lnTo>
                  <a:pt x="6195528" y="0"/>
                </a:lnTo>
                <a:lnTo>
                  <a:pt x="6195528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07585" y="-9525"/>
            <a:ext cx="3689941" cy="2762250"/>
          </a:xfrm>
          <a:custGeom>
            <a:avLst/>
            <a:gdLst/>
            <a:ahLst/>
            <a:cxnLst/>
            <a:rect r="r" b="b" t="t" l="l"/>
            <a:pathLst>
              <a:path h="2762250" w="3689941">
                <a:moveTo>
                  <a:pt x="0" y="0"/>
                </a:moveTo>
                <a:lnTo>
                  <a:pt x="3689941" y="0"/>
                </a:lnTo>
                <a:lnTo>
                  <a:pt x="3689941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12041" y="1754241"/>
            <a:ext cx="2575701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40"/>
              </a:lnSpc>
              <a:spcBef>
                <a:spcPct val="0"/>
              </a:spcBef>
            </a:pPr>
            <a:r>
              <a:rPr lang="en-US" sz="13200" strike="noStrike" u="none">
                <a:solidFill>
                  <a:srgbClr val="EC8686"/>
                </a:solidFill>
                <a:latin typeface="思源宋体"/>
                <a:ea typeface="思源宋体"/>
                <a:cs typeface="思源宋体"/>
                <a:sym typeface="思源宋体"/>
              </a:rPr>
              <a:t>03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110684" y="3138272"/>
            <a:ext cx="1106784" cy="388836"/>
          </a:xfrm>
          <a:custGeom>
            <a:avLst/>
            <a:gdLst/>
            <a:ahLst/>
            <a:cxnLst/>
            <a:rect r="r" b="b" t="t" l="l"/>
            <a:pathLst>
              <a:path h="388836" w="1106784">
                <a:moveTo>
                  <a:pt x="0" y="0"/>
                </a:moveTo>
                <a:lnTo>
                  <a:pt x="1106785" y="0"/>
                </a:lnTo>
                <a:lnTo>
                  <a:pt x="1106785" y="388836"/>
                </a:lnTo>
                <a:lnTo>
                  <a:pt x="0" y="3888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" y="2101850"/>
            <a:ext cx="16287750" cy="3708400"/>
            <a:chOff x="0" y="0"/>
            <a:chExt cx="21717000" cy="49445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17000" cy="4944491"/>
            </a:xfrm>
            <a:custGeom>
              <a:avLst/>
              <a:gdLst/>
              <a:ahLst/>
              <a:cxnLst/>
              <a:rect r="r" b="b" t="t" l="l"/>
              <a:pathLst>
                <a:path h="4944491" w="21717000">
                  <a:moveTo>
                    <a:pt x="824103" y="0"/>
                  </a:moveTo>
                  <a:lnTo>
                    <a:pt x="21717000" y="0"/>
                  </a:lnTo>
                  <a:lnTo>
                    <a:pt x="21717000" y="4120388"/>
                  </a:lnTo>
                  <a:cubicBezTo>
                    <a:pt x="21717000" y="4575556"/>
                    <a:pt x="21348064" y="4944491"/>
                    <a:pt x="20892897" y="4944491"/>
                  </a:cubicBezTo>
                  <a:lnTo>
                    <a:pt x="0" y="4944491"/>
                  </a:lnTo>
                  <a:lnTo>
                    <a:pt x="0" y="824103"/>
                  </a:lnTo>
                  <a:cubicBezTo>
                    <a:pt x="0" y="368935"/>
                    <a:pt x="368935" y="0"/>
                    <a:pt x="82410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43859" b="-3869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6078" y="6798945"/>
            <a:ext cx="7285461" cy="2372487"/>
            <a:chOff x="0" y="0"/>
            <a:chExt cx="9713948" cy="31633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9688576" cy="3137916"/>
            </a:xfrm>
            <a:custGeom>
              <a:avLst/>
              <a:gdLst/>
              <a:ahLst/>
              <a:cxnLst/>
              <a:rect r="r" b="b" t="t" l="l"/>
              <a:pathLst>
                <a:path h="3137916" w="9688576">
                  <a:moveTo>
                    <a:pt x="525907" y="0"/>
                  </a:moveTo>
                  <a:lnTo>
                    <a:pt x="9688576" y="0"/>
                  </a:lnTo>
                  <a:lnTo>
                    <a:pt x="9688576" y="2614930"/>
                  </a:lnTo>
                  <a:cubicBezTo>
                    <a:pt x="9688576" y="2903728"/>
                    <a:pt x="9453118" y="3137916"/>
                    <a:pt x="9162669" y="3137916"/>
                  </a:cubicBezTo>
                  <a:lnTo>
                    <a:pt x="0" y="3137916"/>
                  </a:lnTo>
                  <a:lnTo>
                    <a:pt x="0" y="522986"/>
                  </a:lnTo>
                  <a:cubicBezTo>
                    <a:pt x="0" y="234188"/>
                    <a:pt x="235458" y="0"/>
                    <a:pt x="525907" y="0"/>
                  </a:cubicBezTo>
                  <a:close/>
                </a:path>
              </a:pathLst>
            </a:custGeom>
            <a:solidFill>
              <a:srgbClr val="F9E0E7">
                <a:alpha val="1490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13976" cy="3163316"/>
            </a:xfrm>
            <a:custGeom>
              <a:avLst/>
              <a:gdLst/>
              <a:ahLst/>
              <a:cxnLst/>
              <a:rect r="r" b="b" t="t" l="l"/>
              <a:pathLst>
                <a:path h="3163316" w="9713976">
                  <a:moveTo>
                    <a:pt x="538607" y="0"/>
                  </a:moveTo>
                  <a:lnTo>
                    <a:pt x="9701276" y="0"/>
                  </a:lnTo>
                  <a:cubicBezTo>
                    <a:pt x="9708261" y="0"/>
                    <a:pt x="9713976" y="5715"/>
                    <a:pt x="9713976" y="12700"/>
                  </a:cubicBezTo>
                  <a:lnTo>
                    <a:pt x="9713976" y="2627630"/>
                  </a:lnTo>
                  <a:lnTo>
                    <a:pt x="9701276" y="2627630"/>
                  </a:lnTo>
                  <a:lnTo>
                    <a:pt x="9713976" y="2627630"/>
                  </a:lnTo>
                  <a:cubicBezTo>
                    <a:pt x="9713976" y="2923540"/>
                    <a:pt x="9472803" y="3163316"/>
                    <a:pt x="9175369" y="3163316"/>
                  </a:cubicBezTo>
                  <a:lnTo>
                    <a:pt x="9175369" y="3150616"/>
                  </a:lnTo>
                  <a:lnTo>
                    <a:pt x="9175369" y="3163316"/>
                  </a:lnTo>
                  <a:lnTo>
                    <a:pt x="12700" y="3163316"/>
                  </a:lnTo>
                  <a:cubicBezTo>
                    <a:pt x="5715" y="3163316"/>
                    <a:pt x="0" y="3157601"/>
                    <a:pt x="0" y="3150616"/>
                  </a:cubicBezTo>
                  <a:lnTo>
                    <a:pt x="0" y="535686"/>
                  </a:lnTo>
                  <a:lnTo>
                    <a:pt x="12700" y="535686"/>
                  </a:lnTo>
                  <a:lnTo>
                    <a:pt x="0" y="535686"/>
                  </a:lnTo>
                  <a:cubicBezTo>
                    <a:pt x="0" y="239776"/>
                    <a:pt x="241173" y="0"/>
                    <a:pt x="538607" y="0"/>
                  </a:cubicBezTo>
                  <a:cubicBezTo>
                    <a:pt x="542544" y="0"/>
                    <a:pt x="546227" y="1778"/>
                    <a:pt x="548640" y="4826"/>
                  </a:cubicBezTo>
                  <a:lnTo>
                    <a:pt x="538607" y="12700"/>
                  </a:lnTo>
                  <a:lnTo>
                    <a:pt x="538607" y="0"/>
                  </a:lnTo>
                  <a:moveTo>
                    <a:pt x="538607" y="25400"/>
                  </a:moveTo>
                  <a:cubicBezTo>
                    <a:pt x="534670" y="25400"/>
                    <a:pt x="530987" y="23622"/>
                    <a:pt x="528574" y="20574"/>
                  </a:cubicBezTo>
                  <a:lnTo>
                    <a:pt x="538607" y="12700"/>
                  </a:lnTo>
                  <a:lnTo>
                    <a:pt x="538607" y="25400"/>
                  </a:lnTo>
                  <a:cubicBezTo>
                    <a:pt x="255143" y="25400"/>
                    <a:pt x="25400" y="253873"/>
                    <a:pt x="25400" y="535686"/>
                  </a:cubicBezTo>
                  <a:lnTo>
                    <a:pt x="25400" y="3150616"/>
                  </a:lnTo>
                  <a:lnTo>
                    <a:pt x="12700" y="3150616"/>
                  </a:lnTo>
                  <a:lnTo>
                    <a:pt x="12700" y="3137916"/>
                  </a:lnTo>
                  <a:lnTo>
                    <a:pt x="9175369" y="3137916"/>
                  </a:lnTo>
                  <a:cubicBezTo>
                    <a:pt x="9458833" y="3137916"/>
                    <a:pt x="9688575" y="2909443"/>
                    <a:pt x="9688575" y="2627630"/>
                  </a:cubicBezTo>
                  <a:lnTo>
                    <a:pt x="9688575" y="12700"/>
                  </a:lnTo>
                  <a:lnTo>
                    <a:pt x="9701275" y="12700"/>
                  </a:lnTo>
                  <a:lnTo>
                    <a:pt x="9701275" y="25400"/>
                  </a:lnTo>
                  <a:lnTo>
                    <a:pt x="538607" y="25400"/>
                  </a:ln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0600" y="7606272"/>
            <a:ext cx="810000" cy="1122883"/>
            <a:chOff x="0" y="0"/>
            <a:chExt cx="1080000" cy="14971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008" cy="1497186"/>
            </a:xfrm>
            <a:custGeom>
              <a:avLst/>
              <a:gdLst/>
              <a:ahLst/>
              <a:cxnLst/>
              <a:rect r="r" b="b" t="t" l="l"/>
              <a:pathLst>
                <a:path h="1497186" w="1080008">
                  <a:moveTo>
                    <a:pt x="0" y="748594"/>
                  </a:moveTo>
                  <a:cubicBezTo>
                    <a:pt x="0" y="335213"/>
                    <a:pt x="241808" y="0"/>
                    <a:pt x="540004" y="0"/>
                  </a:cubicBezTo>
                  <a:cubicBezTo>
                    <a:pt x="838200" y="0"/>
                    <a:pt x="1080008" y="335213"/>
                    <a:pt x="1080008" y="748594"/>
                  </a:cubicBezTo>
                  <a:cubicBezTo>
                    <a:pt x="1080008" y="1161976"/>
                    <a:pt x="838200" y="1497186"/>
                    <a:pt x="540004" y="1497186"/>
                  </a:cubicBezTo>
                  <a:cubicBezTo>
                    <a:pt x="241808" y="1497186"/>
                    <a:pt x="0" y="1161976"/>
                    <a:pt x="0" y="74859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EA1B7">
                    <a:alpha val="100000"/>
                  </a:srgbClr>
                </a:gs>
                <a:gs pos="50000">
                  <a:srgbClr val="E3638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80000" cy="1497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FFFFFF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02414" y="6818566"/>
            <a:ext cx="7285461" cy="2372487"/>
            <a:chOff x="0" y="0"/>
            <a:chExt cx="9713948" cy="31633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9688576" cy="3137916"/>
            </a:xfrm>
            <a:custGeom>
              <a:avLst/>
              <a:gdLst/>
              <a:ahLst/>
              <a:cxnLst/>
              <a:rect r="r" b="b" t="t" l="l"/>
              <a:pathLst>
                <a:path h="3137916" w="9688576">
                  <a:moveTo>
                    <a:pt x="525907" y="0"/>
                  </a:moveTo>
                  <a:lnTo>
                    <a:pt x="9688576" y="0"/>
                  </a:lnTo>
                  <a:lnTo>
                    <a:pt x="9688576" y="2614930"/>
                  </a:lnTo>
                  <a:cubicBezTo>
                    <a:pt x="9688576" y="2903728"/>
                    <a:pt x="9453118" y="3137916"/>
                    <a:pt x="9162669" y="3137916"/>
                  </a:cubicBezTo>
                  <a:lnTo>
                    <a:pt x="0" y="3137916"/>
                  </a:lnTo>
                  <a:lnTo>
                    <a:pt x="0" y="522986"/>
                  </a:lnTo>
                  <a:cubicBezTo>
                    <a:pt x="0" y="234188"/>
                    <a:pt x="235458" y="0"/>
                    <a:pt x="525907" y="0"/>
                  </a:cubicBezTo>
                  <a:close/>
                </a:path>
              </a:pathLst>
            </a:custGeom>
            <a:solidFill>
              <a:srgbClr val="FBE7E7">
                <a:alpha val="14902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13976" cy="3163316"/>
            </a:xfrm>
            <a:custGeom>
              <a:avLst/>
              <a:gdLst/>
              <a:ahLst/>
              <a:cxnLst/>
              <a:rect r="r" b="b" t="t" l="l"/>
              <a:pathLst>
                <a:path h="3163316" w="9713976">
                  <a:moveTo>
                    <a:pt x="538607" y="0"/>
                  </a:moveTo>
                  <a:lnTo>
                    <a:pt x="9701276" y="0"/>
                  </a:lnTo>
                  <a:cubicBezTo>
                    <a:pt x="9708261" y="0"/>
                    <a:pt x="9713976" y="5715"/>
                    <a:pt x="9713976" y="12700"/>
                  </a:cubicBezTo>
                  <a:lnTo>
                    <a:pt x="9713976" y="2627630"/>
                  </a:lnTo>
                  <a:lnTo>
                    <a:pt x="9701276" y="2627630"/>
                  </a:lnTo>
                  <a:lnTo>
                    <a:pt x="9713976" y="2627630"/>
                  </a:lnTo>
                  <a:cubicBezTo>
                    <a:pt x="9713976" y="2923540"/>
                    <a:pt x="9472803" y="3163316"/>
                    <a:pt x="9175369" y="3163316"/>
                  </a:cubicBezTo>
                  <a:lnTo>
                    <a:pt x="9175369" y="3150616"/>
                  </a:lnTo>
                  <a:lnTo>
                    <a:pt x="9175369" y="3163316"/>
                  </a:lnTo>
                  <a:lnTo>
                    <a:pt x="12700" y="3163316"/>
                  </a:lnTo>
                  <a:cubicBezTo>
                    <a:pt x="5715" y="3163316"/>
                    <a:pt x="0" y="3157601"/>
                    <a:pt x="0" y="3150616"/>
                  </a:cubicBezTo>
                  <a:lnTo>
                    <a:pt x="0" y="535686"/>
                  </a:lnTo>
                  <a:lnTo>
                    <a:pt x="12700" y="535686"/>
                  </a:lnTo>
                  <a:lnTo>
                    <a:pt x="0" y="535686"/>
                  </a:lnTo>
                  <a:cubicBezTo>
                    <a:pt x="0" y="239776"/>
                    <a:pt x="241173" y="0"/>
                    <a:pt x="538607" y="0"/>
                  </a:cubicBezTo>
                  <a:cubicBezTo>
                    <a:pt x="542544" y="0"/>
                    <a:pt x="546227" y="1778"/>
                    <a:pt x="548640" y="4826"/>
                  </a:cubicBezTo>
                  <a:lnTo>
                    <a:pt x="538607" y="12700"/>
                  </a:lnTo>
                  <a:lnTo>
                    <a:pt x="538607" y="0"/>
                  </a:lnTo>
                  <a:moveTo>
                    <a:pt x="538607" y="25400"/>
                  </a:moveTo>
                  <a:cubicBezTo>
                    <a:pt x="534670" y="25400"/>
                    <a:pt x="530987" y="23622"/>
                    <a:pt x="528574" y="20574"/>
                  </a:cubicBezTo>
                  <a:lnTo>
                    <a:pt x="538607" y="12700"/>
                  </a:lnTo>
                  <a:lnTo>
                    <a:pt x="538607" y="25400"/>
                  </a:lnTo>
                  <a:cubicBezTo>
                    <a:pt x="255143" y="25400"/>
                    <a:pt x="25400" y="253873"/>
                    <a:pt x="25400" y="535686"/>
                  </a:cubicBezTo>
                  <a:lnTo>
                    <a:pt x="25400" y="3150616"/>
                  </a:lnTo>
                  <a:lnTo>
                    <a:pt x="12700" y="3150616"/>
                  </a:lnTo>
                  <a:lnTo>
                    <a:pt x="12700" y="3137916"/>
                  </a:lnTo>
                  <a:lnTo>
                    <a:pt x="9175369" y="3137916"/>
                  </a:lnTo>
                  <a:cubicBezTo>
                    <a:pt x="9458833" y="3137916"/>
                    <a:pt x="9688575" y="2909443"/>
                    <a:pt x="9688575" y="2627630"/>
                  </a:cubicBezTo>
                  <a:lnTo>
                    <a:pt x="9688575" y="12700"/>
                  </a:lnTo>
                  <a:lnTo>
                    <a:pt x="9701275" y="12700"/>
                  </a:lnTo>
                  <a:lnTo>
                    <a:pt x="9701275" y="25400"/>
                  </a:lnTo>
                  <a:lnTo>
                    <a:pt x="538607" y="25400"/>
                  </a:lnTo>
                  <a:close/>
                </a:path>
              </a:pathLst>
            </a:custGeom>
            <a:solidFill>
              <a:srgbClr val="EC868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6936" y="7625893"/>
            <a:ext cx="810000" cy="1122883"/>
            <a:chOff x="0" y="0"/>
            <a:chExt cx="1080000" cy="14971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0008" cy="1497186"/>
            </a:xfrm>
            <a:custGeom>
              <a:avLst/>
              <a:gdLst/>
              <a:ahLst/>
              <a:cxnLst/>
              <a:rect r="r" b="b" t="t" l="l"/>
              <a:pathLst>
                <a:path h="1497186" w="1080008">
                  <a:moveTo>
                    <a:pt x="0" y="748594"/>
                  </a:moveTo>
                  <a:cubicBezTo>
                    <a:pt x="0" y="335213"/>
                    <a:pt x="241808" y="0"/>
                    <a:pt x="540004" y="0"/>
                  </a:cubicBezTo>
                  <a:cubicBezTo>
                    <a:pt x="838200" y="0"/>
                    <a:pt x="1080008" y="335213"/>
                    <a:pt x="1080008" y="748594"/>
                  </a:cubicBezTo>
                  <a:cubicBezTo>
                    <a:pt x="1080008" y="1161976"/>
                    <a:pt x="838200" y="1497186"/>
                    <a:pt x="540004" y="1497186"/>
                  </a:cubicBezTo>
                  <a:cubicBezTo>
                    <a:pt x="241808" y="1497186"/>
                    <a:pt x="0" y="1161976"/>
                    <a:pt x="0" y="74859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B6B6">
                    <a:alpha val="100000"/>
                  </a:srgbClr>
                </a:gs>
                <a:gs pos="50000">
                  <a:srgbClr val="EC868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80000" cy="1497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FFFFFF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02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33788" y="7329928"/>
            <a:ext cx="62038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媒介素養課程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17228" y="7882740"/>
            <a:ext cx="622686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94"/>
              </a:lnSpc>
              <a:spcBef>
                <a:spcPct val="0"/>
              </a:spcBef>
            </a:pPr>
            <a:r>
              <a:rPr lang="en-US" sz="1495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在學校引進媒介素養教育。</a:t>
            </a:r>
          </a:p>
          <a:p>
            <a:pPr algn="just" marL="0" indent="0" lvl="0">
              <a:lnSpc>
                <a:spcPts val="1794"/>
              </a:lnSpc>
              <a:spcBef>
                <a:spcPct val="0"/>
              </a:spcBef>
            </a:pPr>
            <a:r>
              <a:rPr lang="en-US" sz="1495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課程的要點和挑戰。</a:t>
            </a:r>
          </a:p>
          <a:p>
            <a:pPr algn="just" marL="0" indent="0" lvl="0">
              <a:lnSpc>
                <a:spcPts val="1794"/>
              </a:lnSpc>
              <a:spcBef>
                <a:spcPct val="0"/>
              </a:spcBef>
            </a:pPr>
            <a:r>
              <a:rPr lang="en-US" sz="1495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成功案例和有效的教學方法。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50124" y="7329928"/>
            <a:ext cx="61848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教師培訓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33564" y="7882740"/>
            <a:ext cx="622686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94"/>
              </a:lnSpc>
              <a:spcBef>
                <a:spcPct val="0"/>
              </a:spcBef>
            </a:pPr>
            <a:r>
              <a:rPr lang="en-US" sz="1495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教師所需的媒介素養技能。</a:t>
            </a:r>
          </a:p>
          <a:p>
            <a:pPr algn="just" marL="0" indent="0" lvl="0">
              <a:lnSpc>
                <a:spcPts val="1794"/>
              </a:lnSpc>
              <a:spcBef>
                <a:spcPct val="0"/>
              </a:spcBef>
            </a:pPr>
            <a:r>
              <a:rPr lang="en-US" sz="1495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教師培訓計畫的現狀和挑戰。</a:t>
            </a:r>
          </a:p>
          <a:p>
            <a:pPr algn="just" marL="0" indent="0" lvl="0">
              <a:lnSpc>
                <a:spcPts val="1794"/>
              </a:lnSpc>
              <a:spcBef>
                <a:spcPct val="0"/>
              </a:spcBef>
            </a:pPr>
            <a:r>
              <a:rPr lang="en-US" sz="1495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衡量和提高培訓效果。</a:t>
            </a:r>
          </a:p>
        </p:txBody>
      </p:sp>
      <p:sp>
        <p:nvSpPr>
          <p:cNvPr name="AutoShape 22" id="22"/>
          <p:cNvSpPr/>
          <p:nvPr/>
        </p:nvSpPr>
        <p:spPr>
          <a:xfrm rot="-8311">
            <a:off x="1303243" y="6399181"/>
            <a:ext cx="15994181" cy="0"/>
          </a:xfrm>
          <a:prstGeom prst="line">
            <a:avLst/>
          </a:prstGeom>
          <a:ln cap="rnd" w="9525">
            <a:solidFill>
              <a:srgbClr val="7784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312791" y="6332792"/>
            <a:ext cx="152400" cy="152400"/>
            <a:chOff x="0" y="0"/>
            <a:chExt cx="203200" cy="203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cubicBezTo>
                    <a:pt x="203200" y="157734"/>
                    <a:pt x="157734" y="203200"/>
                    <a:pt x="101600" y="203200"/>
                  </a:cubicBez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35736" y="6332792"/>
            <a:ext cx="152400" cy="152400"/>
            <a:chOff x="0" y="0"/>
            <a:chExt cx="203200" cy="203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cubicBezTo>
                    <a:pt x="203200" y="157734"/>
                    <a:pt x="157734" y="203200"/>
                    <a:pt x="101600" y="203200"/>
                  </a:cubicBez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EC868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教育機構的作用</a:t>
            </a:r>
          </a:p>
        </p:txBody>
      </p:sp>
      <p:grpSp>
        <p:nvGrpSpPr>
          <p:cNvPr name="Group 28" id="28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30" id="30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2984" y="2983166"/>
            <a:ext cx="207037" cy="1816774"/>
            <a:chOff x="0" y="0"/>
            <a:chExt cx="276050" cy="2422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098" cy="2422398"/>
            </a:xfrm>
            <a:custGeom>
              <a:avLst/>
              <a:gdLst/>
              <a:ahLst/>
              <a:cxnLst/>
              <a:rect r="r" b="b" t="t" l="l"/>
              <a:pathLst>
                <a:path h="2422398" w="276098">
                  <a:moveTo>
                    <a:pt x="0" y="0"/>
                  </a:moveTo>
                  <a:lnTo>
                    <a:pt x="276098" y="0"/>
                  </a:lnTo>
                  <a:lnTo>
                    <a:pt x="276098" y="2422398"/>
                  </a:lnTo>
                  <a:lnTo>
                    <a:pt x="0" y="2422398"/>
                  </a:lnTo>
                </a:path>
              </a:pathLst>
            </a:custGeom>
            <a:gradFill rotWithShape="true">
              <a:gsLst>
                <a:gs pos="0">
                  <a:srgbClr val="EA8AA5">
                    <a:alpha val="100000"/>
                  </a:srgbClr>
                </a:gs>
                <a:gs pos="100000">
                  <a:srgbClr val="E36387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0022" y="2983166"/>
            <a:ext cx="8924124" cy="1816774"/>
            <a:chOff x="0" y="0"/>
            <a:chExt cx="11898832" cy="2422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98884" cy="2422398"/>
            </a:xfrm>
            <a:custGeom>
              <a:avLst/>
              <a:gdLst/>
              <a:ahLst/>
              <a:cxnLst/>
              <a:rect r="r" b="b" t="t" l="l"/>
              <a:pathLst>
                <a:path h="2422398" w="11898884">
                  <a:moveTo>
                    <a:pt x="0" y="0"/>
                  </a:moveTo>
                  <a:lnTo>
                    <a:pt x="11898884" y="0"/>
                  </a:lnTo>
                  <a:lnTo>
                    <a:pt x="11898884" y="2422398"/>
                  </a:lnTo>
                  <a:lnTo>
                    <a:pt x="0" y="2422398"/>
                  </a:ln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75118" y="3241227"/>
            <a:ext cx="858328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EA8CA6"/>
                </a:solidFill>
                <a:latin typeface="思源宋体"/>
                <a:ea typeface="思源宋体"/>
                <a:cs typeface="思源宋体"/>
                <a:sym typeface="思源宋体"/>
              </a:rPr>
              <a:t>公共活動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6558" y="3671451"/>
            <a:ext cx="839522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公共媒體進行媒體素養意識活動。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活動的規劃和實施。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社會影響及其評價。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2984" y="5739699"/>
            <a:ext cx="207037" cy="1816774"/>
            <a:chOff x="0" y="0"/>
            <a:chExt cx="276050" cy="24223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6098" cy="2422398"/>
            </a:xfrm>
            <a:custGeom>
              <a:avLst/>
              <a:gdLst/>
              <a:ahLst/>
              <a:cxnLst/>
              <a:rect r="r" b="b" t="t" l="l"/>
              <a:pathLst>
                <a:path h="2422398" w="276098">
                  <a:moveTo>
                    <a:pt x="0" y="0"/>
                  </a:moveTo>
                  <a:lnTo>
                    <a:pt x="276098" y="0"/>
                  </a:lnTo>
                  <a:lnTo>
                    <a:pt x="276098" y="2422398"/>
                  </a:lnTo>
                  <a:lnTo>
                    <a:pt x="0" y="2422398"/>
                  </a:lnTo>
                </a:path>
              </a:pathLst>
            </a:custGeom>
            <a:gradFill rotWithShape="true">
              <a:gsLst>
                <a:gs pos="0">
                  <a:srgbClr val="EA8AA5">
                    <a:alpha val="100000"/>
                  </a:srgbClr>
                </a:gs>
                <a:gs pos="100000">
                  <a:srgbClr val="E36387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0022" y="5739699"/>
            <a:ext cx="8924124" cy="1816774"/>
            <a:chOff x="0" y="0"/>
            <a:chExt cx="11898832" cy="24223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98884" cy="2422398"/>
            </a:xfrm>
            <a:custGeom>
              <a:avLst/>
              <a:gdLst/>
              <a:ahLst/>
              <a:cxnLst/>
              <a:rect r="r" b="b" t="t" l="l"/>
              <a:pathLst>
                <a:path h="2422398" w="11898884">
                  <a:moveTo>
                    <a:pt x="0" y="0"/>
                  </a:moveTo>
                  <a:lnTo>
                    <a:pt x="11898884" y="0"/>
                  </a:lnTo>
                  <a:lnTo>
                    <a:pt x="11898884" y="2422398"/>
                  </a:lnTo>
                  <a:lnTo>
                    <a:pt x="0" y="2422398"/>
                  </a:ln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75118" y="5997760"/>
            <a:ext cx="858328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EA8CA6"/>
                </a:solidFill>
                <a:latin typeface="思源宋体"/>
                <a:ea typeface="思源宋体"/>
                <a:cs typeface="思源宋体"/>
                <a:sym typeface="思源宋体"/>
              </a:rPr>
              <a:t>社區參與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6558" y="6427984"/>
            <a:ext cx="839522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努力提高當地社區的媒體素養。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舉辦社區活動和研討會及其成效。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04040"/>
                </a:solidFill>
                <a:latin typeface="思源宋体"/>
                <a:ea typeface="思源宋体"/>
                <a:cs typeface="思源宋体"/>
                <a:sym typeface="思源宋体"/>
              </a:rPr>
              <a:t>基於社區的舉措範例。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765722" y="2148278"/>
            <a:ext cx="6451620" cy="6296173"/>
          </a:xfrm>
          <a:custGeom>
            <a:avLst/>
            <a:gdLst/>
            <a:ahLst/>
            <a:cxnLst/>
            <a:rect r="r" b="b" t="t" l="l"/>
            <a:pathLst>
              <a:path h="6296173" w="6451620">
                <a:moveTo>
                  <a:pt x="0" y="0"/>
                </a:moveTo>
                <a:lnTo>
                  <a:pt x="6451620" y="0"/>
                </a:lnTo>
                <a:lnTo>
                  <a:pt x="6451620" y="6296173"/>
                </a:lnTo>
                <a:lnTo>
                  <a:pt x="0" y="629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120" t="-4855" r="-41423" b="-801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全社會的宣傳活動</a:t>
            </a:r>
          </a:p>
        </p:txBody>
      </p:sp>
      <p:grpSp>
        <p:nvGrpSpPr>
          <p:cNvPr name="Group 18" id="18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20" id="20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26406" y="3233775"/>
            <a:ext cx="11389894" cy="2122613"/>
            <a:chOff x="0" y="0"/>
            <a:chExt cx="15186526" cy="2830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186406" cy="2830195"/>
            </a:xfrm>
            <a:custGeom>
              <a:avLst/>
              <a:gdLst/>
              <a:ahLst/>
              <a:cxnLst/>
              <a:rect r="r" b="b" t="t" l="l"/>
              <a:pathLst>
                <a:path h="2830195" w="15186406">
                  <a:moveTo>
                    <a:pt x="0" y="282956"/>
                  </a:moveTo>
                  <a:cubicBezTo>
                    <a:pt x="0" y="126746"/>
                    <a:pt x="126746" y="0"/>
                    <a:pt x="282956" y="0"/>
                  </a:cubicBezTo>
                  <a:lnTo>
                    <a:pt x="14903450" y="0"/>
                  </a:lnTo>
                  <a:cubicBezTo>
                    <a:pt x="15059788" y="0"/>
                    <a:pt x="15186406" y="126746"/>
                    <a:pt x="15186406" y="282956"/>
                  </a:cubicBezTo>
                  <a:lnTo>
                    <a:pt x="15186406" y="2547112"/>
                  </a:lnTo>
                  <a:cubicBezTo>
                    <a:pt x="15186406" y="2703449"/>
                    <a:pt x="15059661" y="2830068"/>
                    <a:pt x="14903450" y="2830068"/>
                  </a:cubicBezTo>
                  <a:lnTo>
                    <a:pt x="282956" y="2830068"/>
                  </a:lnTo>
                  <a:cubicBezTo>
                    <a:pt x="126746" y="2830195"/>
                    <a:pt x="0" y="2703449"/>
                    <a:pt x="0" y="2547112"/>
                  </a:cubicBezTo>
                  <a:close/>
                </a:path>
              </a:pathLst>
            </a:custGeom>
            <a:solidFill>
              <a:srgbClr val="BFBFBF">
                <a:alpha val="1960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50406" y="3890080"/>
            <a:ext cx="810000" cy="1241298"/>
            <a:chOff x="0" y="0"/>
            <a:chExt cx="1080000" cy="1655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0008" cy="1655072"/>
            </a:xfrm>
            <a:custGeom>
              <a:avLst/>
              <a:gdLst/>
              <a:ahLst/>
              <a:cxnLst/>
              <a:rect r="r" b="b" t="t" l="l"/>
              <a:pathLst>
                <a:path h="1655072" w="1080008">
                  <a:moveTo>
                    <a:pt x="0" y="827538"/>
                  </a:moveTo>
                  <a:cubicBezTo>
                    <a:pt x="0" y="370563"/>
                    <a:pt x="241808" y="0"/>
                    <a:pt x="540004" y="0"/>
                  </a:cubicBezTo>
                  <a:cubicBezTo>
                    <a:pt x="838200" y="0"/>
                    <a:pt x="1080008" y="370563"/>
                    <a:pt x="1080008" y="827538"/>
                  </a:cubicBezTo>
                  <a:cubicBezTo>
                    <a:pt x="1080008" y="1284514"/>
                    <a:pt x="838200" y="1655072"/>
                    <a:pt x="540004" y="1655072"/>
                  </a:cubicBezTo>
                  <a:cubicBezTo>
                    <a:pt x="241808" y="1655072"/>
                    <a:pt x="0" y="1284514"/>
                    <a:pt x="0" y="827538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80000" cy="1664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26406" y="5887386"/>
            <a:ext cx="11389894" cy="2179763"/>
            <a:chOff x="0" y="0"/>
            <a:chExt cx="15186526" cy="2906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86406" cy="2906395"/>
            </a:xfrm>
            <a:custGeom>
              <a:avLst/>
              <a:gdLst/>
              <a:ahLst/>
              <a:cxnLst/>
              <a:rect r="r" b="b" t="t" l="l"/>
              <a:pathLst>
                <a:path h="2906395" w="15186406">
                  <a:moveTo>
                    <a:pt x="0" y="290576"/>
                  </a:moveTo>
                  <a:cubicBezTo>
                    <a:pt x="0" y="130175"/>
                    <a:pt x="130175" y="0"/>
                    <a:pt x="290576" y="0"/>
                  </a:cubicBezTo>
                  <a:lnTo>
                    <a:pt x="14895830" y="0"/>
                  </a:lnTo>
                  <a:cubicBezTo>
                    <a:pt x="15056358" y="0"/>
                    <a:pt x="15186406" y="130175"/>
                    <a:pt x="15186406" y="290576"/>
                  </a:cubicBezTo>
                  <a:lnTo>
                    <a:pt x="15186406" y="2615692"/>
                  </a:lnTo>
                  <a:cubicBezTo>
                    <a:pt x="15186406" y="2776220"/>
                    <a:pt x="15056231" y="2906268"/>
                    <a:pt x="14895830" y="2906268"/>
                  </a:cubicBezTo>
                  <a:lnTo>
                    <a:pt x="290576" y="2906268"/>
                  </a:lnTo>
                  <a:cubicBezTo>
                    <a:pt x="130175" y="2906395"/>
                    <a:pt x="0" y="2776220"/>
                    <a:pt x="0" y="2615692"/>
                  </a:cubicBezTo>
                  <a:close/>
                </a:path>
              </a:pathLst>
            </a:custGeom>
            <a:solidFill>
              <a:srgbClr val="BFBFBF">
                <a:alpha val="19608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50406" y="6572266"/>
            <a:ext cx="810000" cy="1241298"/>
            <a:chOff x="0" y="0"/>
            <a:chExt cx="1080000" cy="1655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0008" cy="1655072"/>
            </a:xfrm>
            <a:custGeom>
              <a:avLst/>
              <a:gdLst/>
              <a:ahLst/>
              <a:cxnLst/>
              <a:rect r="r" b="b" t="t" l="l"/>
              <a:pathLst>
                <a:path h="1655072" w="1080008">
                  <a:moveTo>
                    <a:pt x="0" y="827538"/>
                  </a:moveTo>
                  <a:cubicBezTo>
                    <a:pt x="0" y="370563"/>
                    <a:pt x="241808" y="0"/>
                    <a:pt x="540004" y="0"/>
                  </a:cubicBezTo>
                  <a:cubicBezTo>
                    <a:pt x="838200" y="0"/>
                    <a:pt x="1080008" y="370563"/>
                    <a:pt x="1080008" y="827538"/>
                  </a:cubicBezTo>
                  <a:cubicBezTo>
                    <a:pt x="1080008" y="1284514"/>
                    <a:pt x="838200" y="1655072"/>
                    <a:pt x="540004" y="1655072"/>
                  </a:cubicBezTo>
                  <a:cubicBezTo>
                    <a:pt x="241808" y="1655072"/>
                    <a:pt x="0" y="1284514"/>
                    <a:pt x="0" y="827538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80000" cy="1664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02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063141" y="3762178"/>
            <a:ext cx="972930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假新聞檢測工具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63141" y="6458082"/>
            <a:ext cx="972930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社群媒體使用限制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63141" y="4132977"/>
            <a:ext cx="97345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5"/>
              </a:lnSpc>
              <a:spcBef>
                <a:spcPct val="0"/>
              </a:spcBef>
            </a:pPr>
            <a:r>
              <a:rPr lang="en-US" sz="1446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假新聞檢測演算法及其有效性概述。</a:t>
            </a:r>
          </a:p>
          <a:p>
            <a:pPr algn="l" marL="0" indent="0" lvl="0">
              <a:lnSpc>
                <a:spcPts val="1735"/>
              </a:lnSpc>
              <a:spcBef>
                <a:spcPct val="0"/>
              </a:spcBef>
            </a:pPr>
            <a:r>
              <a:rPr lang="en-US" sz="1446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商用工具及其評估。</a:t>
            </a:r>
          </a:p>
          <a:p>
            <a:pPr algn="l" marL="0" indent="0" lvl="0">
              <a:lnSpc>
                <a:spcPts val="1735"/>
              </a:lnSpc>
              <a:spcBef>
                <a:spcPct val="0"/>
              </a:spcBef>
            </a:pPr>
            <a:r>
              <a:rPr lang="en-US" sz="1446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工具使用的實際例子及其結果。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63141" y="6828880"/>
            <a:ext cx="97345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sz="1391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社群媒體使用法規及其影響。</a:t>
            </a:r>
          </a:p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sz="1391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使用者教育和社群媒體素養。</a:t>
            </a:r>
          </a:p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sz="1391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企業舉措及其影響。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0" y="1752362"/>
            <a:ext cx="3924540" cy="7810978"/>
            <a:chOff x="0" y="0"/>
            <a:chExt cx="5232720" cy="104146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32781" cy="10414635"/>
            </a:xfrm>
            <a:custGeom>
              <a:avLst/>
              <a:gdLst/>
              <a:ahLst/>
              <a:cxnLst/>
              <a:rect r="r" b="b" t="t" l="l"/>
              <a:pathLst>
                <a:path h="10414635" w="5232781">
                  <a:moveTo>
                    <a:pt x="0" y="0"/>
                  </a:moveTo>
                  <a:cubicBezTo>
                    <a:pt x="2890012" y="0"/>
                    <a:pt x="5232781" y="2331339"/>
                    <a:pt x="5232781" y="5207381"/>
                  </a:cubicBezTo>
                  <a:cubicBezTo>
                    <a:pt x="5232781" y="8083423"/>
                    <a:pt x="2890012" y="10414635"/>
                    <a:pt x="0" y="10414635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技術和工具</a:t>
            </a:r>
          </a:p>
        </p:txBody>
      </p:sp>
      <p:grpSp>
        <p:nvGrpSpPr>
          <p:cNvPr name="Group 21" id="21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23" id="23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3693956" y="3795816"/>
            <a:ext cx="3028635" cy="2962064"/>
            <a:chOff x="0" y="0"/>
            <a:chExt cx="4038180" cy="3949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8092" cy="3949446"/>
            </a:xfrm>
            <a:custGeom>
              <a:avLst/>
              <a:gdLst/>
              <a:ahLst/>
              <a:cxnLst/>
              <a:rect r="r" b="b" t="t" l="l"/>
              <a:pathLst>
                <a:path h="3949446" w="4038092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3884549" y="0"/>
                  </a:lnTo>
                  <a:cubicBezTo>
                    <a:pt x="3969385" y="0"/>
                    <a:pt x="4038092" y="68707"/>
                    <a:pt x="4038092" y="153543"/>
                  </a:cubicBezTo>
                  <a:lnTo>
                    <a:pt x="4038092" y="3795776"/>
                  </a:lnTo>
                  <a:cubicBezTo>
                    <a:pt x="4038092" y="3880612"/>
                    <a:pt x="3969385" y="3949319"/>
                    <a:pt x="3884549" y="3949319"/>
                  </a:cubicBezTo>
                  <a:lnTo>
                    <a:pt x="153543" y="3949319"/>
                  </a:lnTo>
                  <a:cubicBezTo>
                    <a:pt x="68707" y="3949446"/>
                    <a:pt x="0" y="3880612"/>
                    <a:pt x="0" y="3795776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0600" y="2939026"/>
            <a:ext cx="8189494" cy="2275012"/>
            <a:chOff x="0" y="0"/>
            <a:chExt cx="10919326" cy="3033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19206" cy="3033395"/>
            </a:xfrm>
            <a:custGeom>
              <a:avLst/>
              <a:gdLst/>
              <a:ahLst/>
              <a:cxnLst/>
              <a:rect r="r" b="b" t="t" l="l"/>
              <a:pathLst>
                <a:path h="3033395" w="10919206">
                  <a:moveTo>
                    <a:pt x="0" y="303276"/>
                  </a:moveTo>
                  <a:cubicBezTo>
                    <a:pt x="0" y="135763"/>
                    <a:pt x="135763" y="0"/>
                    <a:pt x="303276" y="0"/>
                  </a:cubicBezTo>
                  <a:lnTo>
                    <a:pt x="10615930" y="0"/>
                  </a:lnTo>
                  <a:cubicBezTo>
                    <a:pt x="10783443" y="0"/>
                    <a:pt x="10919206" y="135763"/>
                    <a:pt x="10919206" y="303276"/>
                  </a:cubicBezTo>
                  <a:lnTo>
                    <a:pt x="10919206" y="2729992"/>
                  </a:lnTo>
                  <a:cubicBezTo>
                    <a:pt x="10919206" y="2897505"/>
                    <a:pt x="10783443" y="3033268"/>
                    <a:pt x="10615930" y="3033268"/>
                  </a:cubicBezTo>
                  <a:lnTo>
                    <a:pt x="303276" y="3033268"/>
                  </a:lnTo>
                  <a:cubicBezTo>
                    <a:pt x="135763" y="3033395"/>
                    <a:pt x="0" y="2897505"/>
                    <a:pt x="0" y="2729992"/>
                  </a:cubicBezTo>
                  <a:close/>
                </a:path>
              </a:pathLst>
            </a:custGeom>
            <a:solidFill>
              <a:srgbClr val="BFBFBF">
                <a:alpha val="1960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4600" y="3633432"/>
            <a:ext cx="810000" cy="1241298"/>
            <a:chOff x="0" y="0"/>
            <a:chExt cx="1080000" cy="1655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0008" cy="1655072"/>
            </a:xfrm>
            <a:custGeom>
              <a:avLst/>
              <a:gdLst/>
              <a:ahLst/>
              <a:cxnLst/>
              <a:rect r="r" b="b" t="t" l="l"/>
              <a:pathLst>
                <a:path h="1655072" w="1080008">
                  <a:moveTo>
                    <a:pt x="0" y="827538"/>
                  </a:moveTo>
                  <a:cubicBezTo>
                    <a:pt x="0" y="370563"/>
                    <a:pt x="241808" y="0"/>
                    <a:pt x="540004" y="0"/>
                  </a:cubicBezTo>
                  <a:cubicBezTo>
                    <a:pt x="838200" y="0"/>
                    <a:pt x="1080008" y="370563"/>
                    <a:pt x="1080008" y="827538"/>
                  </a:cubicBezTo>
                  <a:cubicBezTo>
                    <a:pt x="1080008" y="1284514"/>
                    <a:pt x="838200" y="1655072"/>
                    <a:pt x="540004" y="1655072"/>
                  </a:cubicBezTo>
                  <a:cubicBezTo>
                    <a:pt x="241808" y="1655072"/>
                    <a:pt x="0" y="1284514"/>
                    <a:pt x="0" y="82753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80000" cy="1664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0600" y="5592637"/>
            <a:ext cx="8191500" cy="2332163"/>
            <a:chOff x="0" y="0"/>
            <a:chExt cx="10922000" cy="31095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22000" cy="3109595"/>
            </a:xfrm>
            <a:custGeom>
              <a:avLst/>
              <a:gdLst/>
              <a:ahLst/>
              <a:cxnLst/>
              <a:rect r="r" b="b" t="t" l="l"/>
              <a:pathLst>
                <a:path h="3109595" w="109220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10611104" y="0"/>
                  </a:lnTo>
                  <a:cubicBezTo>
                    <a:pt x="10782808" y="0"/>
                    <a:pt x="10922000" y="139192"/>
                    <a:pt x="10922000" y="310896"/>
                  </a:cubicBezTo>
                  <a:lnTo>
                    <a:pt x="10922000" y="2798572"/>
                  </a:lnTo>
                  <a:cubicBezTo>
                    <a:pt x="10922000" y="2970276"/>
                    <a:pt x="10782808" y="3109468"/>
                    <a:pt x="10611104" y="3109468"/>
                  </a:cubicBezTo>
                  <a:lnTo>
                    <a:pt x="310896" y="3109468"/>
                  </a:lnTo>
                  <a:cubicBezTo>
                    <a:pt x="139192" y="3109595"/>
                    <a:pt x="0" y="2970276"/>
                    <a:pt x="0" y="2798572"/>
                  </a:cubicBezTo>
                  <a:close/>
                </a:path>
              </a:pathLst>
            </a:custGeom>
            <a:solidFill>
              <a:srgbClr val="BFBFBF">
                <a:alpha val="19608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4600" y="6287043"/>
            <a:ext cx="810000" cy="1241298"/>
            <a:chOff x="0" y="0"/>
            <a:chExt cx="1080000" cy="1655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0008" cy="1655072"/>
            </a:xfrm>
            <a:custGeom>
              <a:avLst/>
              <a:gdLst/>
              <a:ahLst/>
              <a:cxnLst/>
              <a:rect r="r" b="b" t="t" l="l"/>
              <a:pathLst>
                <a:path h="1655072" w="1080008">
                  <a:moveTo>
                    <a:pt x="0" y="827538"/>
                  </a:moveTo>
                  <a:cubicBezTo>
                    <a:pt x="0" y="370563"/>
                    <a:pt x="241808" y="0"/>
                    <a:pt x="540004" y="0"/>
                  </a:cubicBezTo>
                  <a:cubicBezTo>
                    <a:pt x="838200" y="0"/>
                    <a:pt x="1080008" y="370563"/>
                    <a:pt x="1080008" y="827538"/>
                  </a:cubicBezTo>
                  <a:cubicBezTo>
                    <a:pt x="1080008" y="1284514"/>
                    <a:pt x="838200" y="1655072"/>
                    <a:pt x="540004" y="1655072"/>
                  </a:cubicBezTo>
                  <a:cubicBezTo>
                    <a:pt x="241808" y="1655072"/>
                    <a:pt x="0" y="1284514"/>
                    <a:pt x="0" y="8275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80000" cy="1664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02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327334" y="3486150"/>
            <a:ext cx="64737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全球媒介素養教育現狀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27334" y="6191250"/>
            <a:ext cx="64737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跨國合作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27336" y="3952528"/>
            <a:ext cx="647376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sz="1533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國際媒體素養教育措施與實例。</a:t>
            </a:r>
          </a:p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sz="1533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分享和應用全球最佳實踐。</a:t>
            </a:r>
          </a:p>
          <a:p>
            <a:pPr algn="l" marL="0" indent="0" lvl="0">
              <a:lnSpc>
                <a:spcPts val="1839"/>
              </a:lnSpc>
              <a:spcBef>
                <a:spcPct val="0"/>
              </a:spcBef>
            </a:pPr>
            <a:r>
              <a:rPr lang="en-US" sz="1533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國際組織的角色及其影響。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27336" y="6648432"/>
            <a:ext cx="647376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2"/>
              </a:lnSpc>
              <a:spcBef>
                <a:spcPct val="0"/>
              </a:spcBef>
            </a:pPr>
            <a:r>
              <a:rPr lang="en-US" sz="1527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透過各國合作打擊假新聞。</a:t>
            </a:r>
          </a:p>
          <a:p>
            <a:pPr algn="l" marL="0" indent="0" lvl="0">
              <a:lnSpc>
                <a:spcPts val="1832"/>
              </a:lnSpc>
              <a:spcBef>
                <a:spcPct val="0"/>
              </a:spcBef>
            </a:pPr>
            <a:r>
              <a:rPr lang="en-US" sz="1527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透過國際合作努力提高媒體素養。</a:t>
            </a:r>
          </a:p>
          <a:p>
            <a:pPr algn="l" marL="0" indent="0" lvl="0">
              <a:lnSpc>
                <a:spcPts val="1832"/>
              </a:lnSpc>
              <a:spcBef>
                <a:spcPct val="0"/>
              </a:spcBef>
            </a:pPr>
            <a:r>
              <a:rPr lang="en-US" sz="1527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未來的前景和挑戰。</a:t>
            </a:r>
          </a:p>
        </p:txBody>
      </p:sp>
      <p:grpSp>
        <p:nvGrpSpPr>
          <p:cNvPr name="Group 20" id="20"/>
          <p:cNvGrpSpPr/>
          <p:nvPr/>
        </p:nvGrpSpPr>
        <p:grpSpPr>
          <a:xfrm rot="2700000">
            <a:off x="10448100" y="3733384"/>
            <a:ext cx="3028635" cy="3028635"/>
            <a:chOff x="0" y="0"/>
            <a:chExt cx="4038180" cy="40381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38219" cy="4038219"/>
            </a:xfrm>
            <a:custGeom>
              <a:avLst/>
              <a:gdLst/>
              <a:ahLst/>
              <a:cxnLst/>
              <a:rect r="r" b="b" t="t" l="l"/>
              <a:pathLst>
                <a:path h="4038219" w="4038219">
                  <a:moveTo>
                    <a:pt x="0" y="157099"/>
                  </a:moveTo>
                  <a:cubicBezTo>
                    <a:pt x="0" y="70358"/>
                    <a:pt x="70358" y="0"/>
                    <a:pt x="157099" y="0"/>
                  </a:cubicBezTo>
                  <a:lnTo>
                    <a:pt x="3881120" y="0"/>
                  </a:lnTo>
                  <a:cubicBezTo>
                    <a:pt x="3967861" y="0"/>
                    <a:pt x="4038219" y="70358"/>
                    <a:pt x="4038219" y="157099"/>
                  </a:cubicBezTo>
                  <a:lnTo>
                    <a:pt x="4038219" y="3881120"/>
                  </a:lnTo>
                  <a:cubicBezTo>
                    <a:pt x="4038219" y="3967861"/>
                    <a:pt x="3967861" y="4038219"/>
                    <a:pt x="3881120" y="4038219"/>
                  </a:cubicBezTo>
                  <a:lnTo>
                    <a:pt x="157099" y="4038219"/>
                  </a:lnTo>
                  <a:cubicBezTo>
                    <a:pt x="70358" y="4038219"/>
                    <a:pt x="0" y="3967861"/>
                    <a:pt x="0" y="3881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1217660" y="4525070"/>
            <a:ext cx="1492521" cy="1472544"/>
          </a:xfrm>
          <a:custGeom>
            <a:avLst/>
            <a:gdLst/>
            <a:ahLst/>
            <a:cxnLst/>
            <a:rect r="r" b="b" t="t" l="l"/>
            <a:pathLst>
              <a:path h="1472544" w="1492521">
                <a:moveTo>
                  <a:pt x="0" y="0"/>
                </a:moveTo>
                <a:lnTo>
                  <a:pt x="1492521" y="0"/>
                </a:lnTo>
                <a:lnTo>
                  <a:pt x="1492521" y="1472544"/>
                </a:lnTo>
                <a:lnTo>
                  <a:pt x="0" y="1472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國際努力</a:t>
            </a:r>
          </a:p>
        </p:txBody>
      </p:sp>
      <p:grpSp>
        <p:nvGrpSpPr>
          <p:cNvPr name="Group 24" id="24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26" id="26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807219" y="2606156"/>
            <a:ext cx="6360626" cy="5684288"/>
          </a:xfrm>
          <a:custGeom>
            <a:avLst/>
            <a:gdLst/>
            <a:ahLst/>
            <a:cxnLst/>
            <a:rect r="r" b="b" t="t" l="l"/>
            <a:pathLst>
              <a:path h="5684288" w="6360626">
                <a:moveTo>
                  <a:pt x="0" y="0"/>
                </a:moveTo>
                <a:lnTo>
                  <a:pt x="6360626" y="0"/>
                </a:lnTo>
                <a:lnTo>
                  <a:pt x="6360626" y="5684288"/>
                </a:lnTo>
                <a:lnTo>
                  <a:pt x="0" y="5684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25909" y="2802300"/>
            <a:ext cx="5923245" cy="5292000"/>
          </a:xfrm>
          <a:custGeom>
            <a:avLst/>
            <a:gdLst/>
            <a:ahLst/>
            <a:cxnLst/>
            <a:rect r="r" b="b" t="t" l="l"/>
            <a:pathLst>
              <a:path h="5292000" w="5923245">
                <a:moveTo>
                  <a:pt x="0" y="0"/>
                </a:moveTo>
                <a:lnTo>
                  <a:pt x="5923245" y="0"/>
                </a:lnTo>
                <a:lnTo>
                  <a:pt x="5923245" y="5292000"/>
                </a:lnTo>
                <a:lnTo>
                  <a:pt x="0" y="529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08249" y="2613300"/>
            <a:ext cx="6346338" cy="5670000"/>
          </a:xfrm>
          <a:custGeom>
            <a:avLst/>
            <a:gdLst/>
            <a:ahLst/>
            <a:cxnLst/>
            <a:rect r="r" b="b" t="t" l="l"/>
            <a:pathLst>
              <a:path h="5670000" w="6346338">
                <a:moveTo>
                  <a:pt x="0" y="0"/>
                </a:moveTo>
                <a:lnTo>
                  <a:pt x="6346338" y="0"/>
                </a:lnTo>
                <a:lnTo>
                  <a:pt x="6346338" y="5670000"/>
                </a:lnTo>
                <a:lnTo>
                  <a:pt x="0" y="5670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1566" y="3018300"/>
            <a:ext cx="5439702" cy="4860000"/>
          </a:xfrm>
          <a:custGeom>
            <a:avLst/>
            <a:gdLst/>
            <a:ahLst/>
            <a:cxnLst/>
            <a:rect r="r" b="b" t="t" l="l"/>
            <a:pathLst>
              <a:path h="4860000" w="5439702">
                <a:moveTo>
                  <a:pt x="0" y="0"/>
                </a:moveTo>
                <a:lnTo>
                  <a:pt x="5439702" y="0"/>
                </a:lnTo>
                <a:lnTo>
                  <a:pt x="5439702" y="4860000"/>
                </a:lnTo>
                <a:lnTo>
                  <a:pt x="0" y="4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945" t="-3111" r="-40455" b="-1141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0800000">
            <a:off x="594072" y="2397316"/>
            <a:ext cx="1825113" cy="1630610"/>
            <a:chOff x="0" y="0"/>
            <a:chExt cx="2433484" cy="21741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1176" y="0"/>
              <a:ext cx="2455799" cy="2174113"/>
            </a:xfrm>
            <a:custGeom>
              <a:avLst/>
              <a:gdLst/>
              <a:ahLst/>
              <a:cxnLst/>
              <a:rect r="r" b="b" t="t" l="l"/>
              <a:pathLst>
                <a:path h="2174113" w="2455799">
                  <a:moveTo>
                    <a:pt x="1711833" y="0"/>
                  </a:moveTo>
                  <a:lnTo>
                    <a:pt x="743966" y="0"/>
                  </a:lnTo>
                  <a:cubicBezTo>
                    <a:pt x="655066" y="0"/>
                    <a:pt x="572897" y="47371"/>
                    <a:pt x="528447" y="124460"/>
                  </a:cubicBezTo>
                  <a:lnTo>
                    <a:pt x="44450" y="962660"/>
                  </a:lnTo>
                  <a:cubicBezTo>
                    <a:pt x="0" y="1039622"/>
                    <a:pt x="0" y="1134491"/>
                    <a:pt x="44450" y="1211453"/>
                  </a:cubicBezTo>
                  <a:lnTo>
                    <a:pt x="528447" y="2049653"/>
                  </a:lnTo>
                  <a:cubicBezTo>
                    <a:pt x="572897" y="2126615"/>
                    <a:pt x="655066" y="2174113"/>
                    <a:pt x="743966" y="2174113"/>
                  </a:cubicBezTo>
                  <a:lnTo>
                    <a:pt x="1711833" y="2174113"/>
                  </a:lnTo>
                  <a:cubicBezTo>
                    <a:pt x="1800733" y="2174113"/>
                    <a:pt x="1882902" y="2126742"/>
                    <a:pt x="1927352" y="2049653"/>
                  </a:cubicBezTo>
                  <a:lnTo>
                    <a:pt x="2411349" y="1211453"/>
                  </a:lnTo>
                  <a:cubicBezTo>
                    <a:pt x="2455799" y="1134491"/>
                    <a:pt x="2455799" y="1039622"/>
                    <a:pt x="2411349" y="962660"/>
                  </a:cubicBezTo>
                  <a:lnTo>
                    <a:pt x="1927352" y="124460"/>
                  </a:lnTo>
                  <a:cubicBezTo>
                    <a:pt x="1882902" y="47498"/>
                    <a:pt x="1800733" y="0"/>
                    <a:pt x="1711833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860901" y="6285978"/>
            <a:ext cx="3433480" cy="3067572"/>
          </a:xfrm>
          <a:custGeom>
            <a:avLst/>
            <a:gdLst/>
            <a:ahLst/>
            <a:cxnLst/>
            <a:rect r="r" b="b" t="t" l="l"/>
            <a:pathLst>
              <a:path h="3067572" w="3433480">
                <a:moveTo>
                  <a:pt x="0" y="0"/>
                </a:moveTo>
                <a:lnTo>
                  <a:pt x="3433481" y="0"/>
                </a:lnTo>
                <a:lnTo>
                  <a:pt x="3433481" y="3067572"/>
                </a:lnTo>
                <a:lnTo>
                  <a:pt x="0" y="30675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0822" y="619359"/>
            <a:ext cx="1600676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262626"/>
                </a:solidFill>
                <a:latin typeface="思源宋体"/>
                <a:ea typeface="思源宋体"/>
                <a:cs typeface="思源宋体"/>
                <a:sym typeface="思源宋体"/>
              </a:rPr>
              <a:t>沒有主題</a:t>
            </a: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7391232" y="-5006172"/>
            <a:ext cx="148590" cy="12949854"/>
            <a:chOff x="0" y="0"/>
            <a:chExt cx="198120" cy="172664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120" cy="17266413"/>
            </a:xfrm>
            <a:custGeom>
              <a:avLst/>
              <a:gdLst/>
              <a:ahLst/>
              <a:cxnLst/>
              <a:rect r="r" b="b" t="t" l="l"/>
              <a:pathLst>
                <a:path h="17266413" w="19812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cubicBezTo>
                    <a:pt x="153797" y="0"/>
                    <a:pt x="198120" y="44323"/>
                    <a:pt x="198120" y="99060"/>
                  </a:cubicBezTo>
                  <a:lnTo>
                    <a:pt x="198120" y="17167352"/>
                  </a:lnTo>
                  <a:cubicBezTo>
                    <a:pt x="198120" y="17222090"/>
                    <a:pt x="153797" y="17266413"/>
                    <a:pt x="99060" y="17266413"/>
                  </a:cubicBezTo>
                  <a:cubicBezTo>
                    <a:pt x="44323" y="17266413"/>
                    <a:pt x="0" y="17222090"/>
                    <a:pt x="0" y="1716735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36387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08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-2218600">
            <a:off x="117202" y="696960"/>
            <a:ext cx="980072" cy="654033"/>
            <a:chOff x="0" y="0"/>
            <a:chExt cx="1306762" cy="8720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-14097"/>
              <a:ext cx="1389507" cy="942848"/>
            </a:xfrm>
            <a:custGeom>
              <a:avLst/>
              <a:gdLst/>
              <a:ahLst/>
              <a:cxnLst/>
              <a:rect r="r" b="b" t="t" l="l"/>
              <a:pathLst>
                <a:path h="942848" w="1389507">
                  <a:moveTo>
                    <a:pt x="581787" y="22606"/>
                  </a:moveTo>
                  <a:cubicBezTo>
                    <a:pt x="549529" y="36068"/>
                    <a:pt x="521335" y="68326"/>
                    <a:pt x="513969" y="136906"/>
                  </a:cubicBezTo>
                  <a:lnTo>
                    <a:pt x="513207" y="290195"/>
                  </a:lnTo>
                  <a:lnTo>
                    <a:pt x="162179" y="290195"/>
                  </a:lnTo>
                  <a:cubicBezTo>
                    <a:pt x="72644" y="290068"/>
                    <a:pt x="0" y="362712"/>
                    <a:pt x="0" y="452247"/>
                  </a:cubicBezTo>
                  <a:cubicBezTo>
                    <a:pt x="0" y="541782"/>
                    <a:pt x="72644" y="614299"/>
                    <a:pt x="162179" y="614299"/>
                  </a:cubicBezTo>
                  <a:lnTo>
                    <a:pt x="511683" y="614299"/>
                  </a:lnTo>
                  <a:lnTo>
                    <a:pt x="510921" y="760095"/>
                  </a:lnTo>
                  <a:cubicBezTo>
                    <a:pt x="510921" y="760095"/>
                    <a:pt x="528701" y="942848"/>
                    <a:pt x="696341" y="868045"/>
                  </a:cubicBezTo>
                  <a:lnTo>
                    <a:pt x="1240282" y="556260"/>
                  </a:lnTo>
                  <a:cubicBezTo>
                    <a:pt x="1240282" y="556260"/>
                    <a:pt x="1389507" y="449199"/>
                    <a:pt x="1240663" y="341630"/>
                  </a:cubicBezTo>
                  <a:lnTo>
                    <a:pt x="701167" y="29464"/>
                  </a:lnTo>
                  <a:cubicBezTo>
                    <a:pt x="701167" y="29464"/>
                    <a:pt x="635762" y="0"/>
                    <a:pt x="581787" y="22479"/>
                  </a:cubicBezTo>
                  <a:close/>
                </a:path>
              </a:pathLst>
            </a:custGeom>
            <a:solidFill>
              <a:srgbClr val="E36387"/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762" y="2441744"/>
            <a:ext cx="7740340" cy="6966969"/>
          </a:xfrm>
          <a:custGeom>
            <a:avLst/>
            <a:gdLst/>
            <a:ahLst/>
            <a:cxnLst/>
            <a:rect r="r" b="b" t="t" l="l"/>
            <a:pathLst>
              <a:path h="6966969" w="7740340">
                <a:moveTo>
                  <a:pt x="0" y="0"/>
                </a:moveTo>
                <a:lnTo>
                  <a:pt x="7740340" y="0"/>
                </a:lnTo>
                <a:lnTo>
                  <a:pt x="7740340" y="6966968"/>
                </a:lnTo>
                <a:lnTo>
                  <a:pt x="0" y="6966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7" t="0" r="-97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19852" y="1294996"/>
            <a:ext cx="2909970" cy="435207"/>
          </a:xfrm>
          <a:custGeom>
            <a:avLst/>
            <a:gdLst/>
            <a:ahLst/>
            <a:cxnLst/>
            <a:rect r="r" b="b" t="t" l="l"/>
            <a:pathLst>
              <a:path h="435207" w="2909970">
                <a:moveTo>
                  <a:pt x="0" y="0"/>
                </a:moveTo>
                <a:lnTo>
                  <a:pt x="2909970" y="0"/>
                </a:lnTo>
                <a:lnTo>
                  <a:pt x="2909970" y="435208"/>
                </a:lnTo>
                <a:lnTo>
                  <a:pt x="0" y="4352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8080300"/>
            <a:ext cx="6152587" cy="542925"/>
            <a:chOff x="0" y="0"/>
            <a:chExt cx="8203450" cy="723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438" cy="723900"/>
            </a:xfrm>
            <a:custGeom>
              <a:avLst/>
              <a:gdLst/>
              <a:ahLst/>
              <a:cxnLst/>
              <a:rect r="r" b="b" t="t" l="l"/>
              <a:pathLst>
                <a:path h="723900" w="8203438">
                  <a:moveTo>
                    <a:pt x="0" y="361950"/>
                  </a:moveTo>
                  <a:cubicBezTo>
                    <a:pt x="0" y="162052"/>
                    <a:pt x="162052" y="0"/>
                    <a:pt x="361950" y="0"/>
                  </a:cubicBezTo>
                  <a:lnTo>
                    <a:pt x="7841488" y="0"/>
                  </a:lnTo>
                  <a:cubicBezTo>
                    <a:pt x="8041386" y="0"/>
                    <a:pt x="8203438" y="162052"/>
                    <a:pt x="8203438" y="361950"/>
                  </a:cubicBezTo>
                  <a:cubicBezTo>
                    <a:pt x="8203438" y="561848"/>
                    <a:pt x="8041386" y="723900"/>
                    <a:pt x="7841488" y="723900"/>
                  </a:cubicBezTo>
                  <a:lnTo>
                    <a:pt x="361950" y="723900"/>
                  </a:lnTo>
                  <a:cubicBezTo>
                    <a:pt x="162052" y="723900"/>
                    <a:pt x="0" y="561848"/>
                    <a:pt x="0" y="361950"/>
                  </a:cubicBezTo>
                  <a:close/>
                </a:path>
              </a:pathLst>
            </a:custGeom>
            <a:solidFill>
              <a:srgbClr val="EC868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48592" y="8109054"/>
            <a:ext cx="594340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FFFFFF"/>
                </a:solidFill>
                <a:latin typeface="思源宋体"/>
                <a:ea typeface="思源宋体"/>
                <a:cs typeface="思源宋体"/>
                <a:sym typeface="思源宋体"/>
              </a:rPr>
              <a:t>這是您的演示開始的地方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9688284"/>
            <a:ext cx="18288000" cy="620486"/>
            <a:chOff x="0" y="0"/>
            <a:chExt cx="24384000" cy="8273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827278"/>
            </a:xfrm>
            <a:custGeom>
              <a:avLst/>
              <a:gdLst/>
              <a:ahLst/>
              <a:cxnLst/>
              <a:rect r="r" b="b" t="t" l="l"/>
              <a:pathLst>
                <a:path h="8272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27278"/>
                  </a:lnTo>
                  <a:lnTo>
                    <a:pt x="0" y="827278"/>
                  </a:lnTo>
                  <a:close/>
                </a:path>
              </a:pathLst>
            </a:custGeom>
            <a:solidFill>
              <a:srgbClr val="50BAD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235440" y="4551889"/>
            <a:ext cx="839061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54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感謝您的關注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36256" y="1631446"/>
            <a:ext cx="1114467" cy="261264"/>
          </a:xfrm>
          <a:custGeom>
            <a:avLst/>
            <a:gdLst/>
            <a:ahLst/>
            <a:cxnLst/>
            <a:rect r="r" b="b" t="t" l="l"/>
            <a:pathLst>
              <a:path h="261264" w="1114467">
                <a:moveTo>
                  <a:pt x="0" y="0"/>
                </a:moveTo>
                <a:lnTo>
                  <a:pt x="1114468" y="0"/>
                </a:lnTo>
                <a:lnTo>
                  <a:pt x="1114468" y="261265"/>
                </a:lnTo>
                <a:lnTo>
                  <a:pt x="0" y="2612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01180" y="8900434"/>
            <a:ext cx="230612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00000"/>
                </a:solidFill>
                <a:latin typeface="思源宋体"/>
                <a:ea typeface="思源宋体"/>
                <a:cs typeface="思源宋体"/>
                <a:sym typeface="思源宋体"/>
              </a:rPr>
              <a:t>20XX-XX-XX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97036" y="8906880"/>
            <a:ext cx="449669" cy="449669"/>
          </a:xfrm>
          <a:custGeom>
            <a:avLst/>
            <a:gdLst/>
            <a:ahLst/>
            <a:cxnLst/>
            <a:rect r="r" b="b" t="t" l="l"/>
            <a:pathLst>
              <a:path h="449669" w="449669">
                <a:moveTo>
                  <a:pt x="0" y="0"/>
                </a:moveTo>
                <a:lnTo>
                  <a:pt x="449668" y="0"/>
                </a:lnTo>
                <a:lnTo>
                  <a:pt x="449668" y="449668"/>
                </a:lnTo>
                <a:lnTo>
                  <a:pt x="0" y="4496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8575" y="-9525"/>
            <a:ext cx="6195528" cy="2762250"/>
          </a:xfrm>
          <a:custGeom>
            <a:avLst/>
            <a:gdLst/>
            <a:ahLst/>
            <a:cxnLst/>
            <a:rect r="r" b="b" t="t" l="l"/>
            <a:pathLst>
              <a:path h="2762250" w="6195528">
                <a:moveTo>
                  <a:pt x="0" y="0"/>
                </a:moveTo>
                <a:lnTo>
                  <a:pt x="6195528" y="0"/>
                </a:lnTo>
                <a:lnTo>
                  <a:pt x="6195528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07585" y="-9525"/>
            <a:ext cx="3689941" cy="2762250"/>
          </a:xfrm>
          <a:custGeom>
            <a:avLst/>
            <a:gdLst/>
            <a:ahLst/>
            <a:cxnLst/>
            <a:rect r="r" b="b" t="t" l="l"/>
            <a:pathLst>
              <a:path h="2762250" w="3689941">
                <a:moveTo>
                  <a:pt x="0" y="0"/>
                </a:moveTo>
                <a:lnTo>
                  <a:pt x="3689941" y="0"/>
                </a:lnTo>
                <a:lnTo>
                  <a:pt x="3689941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DAGYf_VAM1k</dc:identifier>
  <dcterms:modified xsi:type="dcterms:W3CDTF">2011-08-01T06:04:30Z</dcterms:modified>
  <cp:revision>1</cp:revision>
  <dc:title>AI技術の進展とメディア識読の重要性.pptx (繁體中文)</dc:title>
</cp:coreProperties>
</file>